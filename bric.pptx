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64" r:id="rId3"/>
    <p:sldId id="265" r:id="rId4"/>
    <p:sldId id="263" r:id="rId5"/>
    <p:sldId id="266" r:id="rId6"/>
    <p:sldId id="267" r:id="rId7"/>
    <p:sldId id="258" r:id="rId8"/>
    <p:sldId id="271" r:id="rId9"/>
    <p:sldId id="273" r:id="rId10"/>
    <p:sldId id="275" r:id="rId11"/>
    <p:sldId id="276" r:id="rId12"/>
    <p:sldId id="277" r:id="rId13"/>
    <p:sldId id="294" r:id="rId14"/>
    <p:sldId id="278" r:id="rId15"/>
    <p:sldId id="268" r:id="rId16"/>
    <p:sldId id="279" r:id="rId17"/>
    <p:sldId id="280" r:id="rId18"/>
    <p:sldId id="281" r:id="rId19"/>
    <p:sldId id="282" r:id="rId20"/>
    <p:sldId id="283" r:id="rId21"/>
    <p:sldId id="269" r:id="rId22"/>
    <p:sldId id="284" r:id="rId23"/>
    <p:sldId id="285" r:id="rId24"/>
    <p:sldId id="286" r:id="rId25"/>
    <p:sldId id="287" r:id="rId26"/>
    <p:sldId id="270" r:id="rId27"/>
    <p:sldId id="288" r:id="rId28"/>
    <p:sldId id="289" r:id="rId29"/>
    <p:sldId id="290" r:id="rId30"/>
    <p:sldId id="291" r:id="rId31"/>
    <p:sldId id="292" r:id="rId32"/>
    <p:sldId id="293" r:id="rId33"/>
    <p:sldId id="259" r:id="rId34"/>
    <p:sldId id="295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C811A"/>
    <a:srgbClr val="22363A"/>
    <a:srgbClr val="213539"/>
    <a:srgbClr val="E8801D"/>
    <a:srgbClr val="FAFAFA"/>
    <a:srgbClr val="D6C6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30"/>
    <p:restoredTop sz="85479"/>
  </p:normalViewPr>
  <p:slideViewPr>
    <p:cSldViewPr snapToGrid="0">
      <p:cViewPr varScale="1">
        <p:scale>
          <a:sx n="108" d="100"/>
          <a:sy n="108" d="100"/>
        </p:scale>
        <p:origin x="9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AC5AA8-2672-344E-A2BA-4C361B118A12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BED10C-0228-8847-80A0-721194C97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30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US" altLang="zh-CN" dirty="0"/>
              <a:t>hanks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having</a:t>
            </a:r>
            <a:r>
              <a:rPr lang="zh-CN" altLang="en-US" dirty="0"/>
              <a:t> </a:t>
            </a:r>
            <a:r>
              <a:rPr lang="en-US" altLang="zh-CN" dirty="0"/>
              <a:t>me</a:t>
            </a:r>
            <a:r>
              <a:rPr lang="zh-CN" altLang="en-US" dirty="0"/>
              <a:t> </a:t>
            </a:r>
            <a:r>
              <a:rPr lang="en-US" altLang="zh-CN" dirty="0"/>
              <a:t>here,</a:t>
            </a:r>
            <a:r>
              <a:rPr lang="zh-CN" altLang="en-US" dirty="0"/>
              <a:t> </a:t>
            </a:r>
            <a:r>
              <a:rPr lang="en-US" altLang="zh-CN" dirty="0"/>
              <a:t>reporting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joint</a:t>
            </a:r>
            <a:r>
              <a:rPr lang="zh-CN" altLang="en-US" dirty="0"/>
              <a:t> </a:t>
            </a:r>
            <a:r>
              <a:rPr lang="en-US" altLang="zh-CN" dirty="0"/>
              <a:t>work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 err="1"/>
              <a:t>Jianying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Radboud</a:t>
            </a:r>
            <a:r>
              <a:rPr lang="zh-CN" altLang="en-US" dirty="0"/>
              <a:t> </a:t>
            </a:r>
            <a:r>
              <a:rPr lang="en-US" altLang="zh-CN" dirty="0"/>
              <a:t>university,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 err="1"/>
              <a:t>nethelands</a:t>
            </a:r>
            <a:r>
              <a:rPr lang="en-US" altLang="zh-CN" dirty="0"/>
              <a:t>;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 err="1"/>
              <a:t>songfa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Hongkong</a:t>
            </a:r>
            <a:r>
              <a:rPr lang="zh-CN" altLang="en-US" dirty="0"/>
              <a:t> </a:t>
            </a:r>
            <a:r>
              <a:rPr lang="en-US" altLang="zh-CN" dirty="0"/>
              <a:t>university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science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technology.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see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title,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research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about</a:t>
            </a:r>
            <a:r>
              <a:rPr lang="zh-CN" altLang="en-US" dirty="0"/>
              <a:t> </a:t>
            </a:r>
            <a:r>
              <a:rPr lang="en-US" altLang="zh-CN" dirty="0"/>
              <a:t>individual</a:t>
            </a:r>
            <a:r>
              <a:rPr lang="zh-CN" altLang="en-US" dirty="0"/>
              <a:t> </a:t>
            </a:r>
            <a:r>
              <a:rPr lang="en-US" altLang="zh-CN" dirty="0"/>
              <a:t>decision</a:t>
            </a:r>
            <a:r>
              <a:rPr lang="zh-CN" altLang="en-US" dirty="0"/>
              <a:t> </a:t>
            </a:r>
            <a:r>
              <a:rPr lang="en-US" altLang="zh-CN" dirty="0"/>
              <a:t>making</a:t>
            </a:r>
            <a:r>
              <a:rPr lang="zh-CN" altLang="en-US" dirty="0"/>
              <a:t> </a:t>
            </a:r>
            <a:r>
              <a:rPr lang="en-US" altLang="zh-CN" dirty="0"/>
              <a:t>under</a:t>
            </a:r>
            <a:r>
              <a:rPr lang="zh-CN" altLang="en-US" dirty="0"/>
              <a:t> </a:t>
            </a:r>
            <a:r>
              <a:rPr lang="en-US" altLang="zh-CN" dirty="0"/>
              <a:t>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26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study</a:t>
            </a:r>
            <a:r>
              <a:rPr lang="zh-CN" altLang="en-US" dirty="0"/>
              <a:t> </a:t>
            </a:r>
            <a:r>
              <a:rPr lang="en-US" altLang="zh-CN" dirty="0"/>
              <a:t>risky</a:t>
            </a:r>
            <a:r>
              <a:rPr lang="zh-CN" altLang="en-US" dirty="0"/>
              <a:t> </a:t>
            </a:r>
            <a:r>
              <a:rPr lang="en-US" altLang="zh-CN" dirty="0"/>
              <a:t>taking</a:t>
            </a:r>
            <a:r>
              <a:rPr lang="zh-CN" altLang="en-US" dirty="0"/>
              <a:t> </a:t>
            </a:r>
            <a:r>
              <a:rPr lang="en-US" altLang="zh-CN" dirty="0"/>
              <a:t>behavior,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common</a:t>
            </a:r>
            <a:r>
              <a:rPr lang="zh-CN" altLang="en-US" dirty="0"/>
              <a:t> </a:t>
            </a:r>
            <a:r>
              <a:rPr lang="en-US" altLang="zh-CN" dirty="0"/>
              <a:t>setup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binary</a:t>
            </a:r>
            <a:r>
              <a:rPr lang="zh-CN" altLang="en-US" dirty="0"/>
              <a:t> </a:t>
            </a:r>
            <a:r>
              <a:rPr lang="en-US" altLang="zh-CN" dirty="0"/>
              <a:t>choice</a:t>
            </a:r>
            <a:r>
              <a:rPr lang="zh-CN" altLang="en-US" dirty="0"/>
              <a:t> </a:t>
            </a:r>
            <a:r>
              <a:rPr lang="en-US" altLang="zh-CN" dirty="0"/>
              <a:t>between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lottery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sure</a:t>
            </a:r>
            <a:r>
              <a:rPr lang="zh-CN" altLang="en-US" dirty="0"/>
              <a:t> </a:t>
            </a:r>
            <a:r>
              <a:rPr lang="en-US" altLang="zh-CN" dirty="0"/>
              <a:t>amount.</a:t>
            </a:r>
            <a:r>
              <a:rPr lang="zh-CN" altLang="en-US" dirty="0"/>
              <a:t> </a:t>
            </a:r>
            <a:r>
              <a:rPr lang="en-US" altLang="zh-CN" dirty="0"/>
              <a:t>Say</a:t>
            </a:r>
            <a:r>
              <a:rPr lang="zh-CN" altLang="en-US" dirty="0"/>
              <a:t> </a:t>
            </a:r>
            <a:r>
              <a:rPr lang="en-US" altLang="zh-CN" dirty="0"/>
              <a:t>here,</a:t>
            </a:r>
            <a:r>
              <a:rPr lang="zh-CN" altLang="en-US" dirty="0"/>
              <a:t> </a:t>
            </a:r>
            <a:r>
              <a:rPr lang="en-US" altLang="zh-CN" dirty="0"/>
              <a:t>Subject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feel</a:t>
            </a:r>
            <a:r>
              <a:rPr lang="zh-CN" altLang="en-US" dirty="0"/>
              <a:t> </a:t>
            </a:r>
            <a:r>
              <a:rPr lang="en-US" altLang="zh-CN" dirty="0"/>
              <a:t>indifferent</a:t>
            </a:r>
            <a:r>
              <a:rPr lang="zh-CN" altLang="en-US" dirty="0"/>
              <a:t> </a:t>
            </a:r>
            <a:r>
              <a:rPr lang="en-US" altLang="zh-CN" dirty="0"/>
              <a:t>between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sure</a:t>
            </a:r>
            <a:r>
              <a:rPr lang="zh-CN" altLang="en-US" dirty="0"/>
              <a:t> </a:t>
            </a:r>
            <a:r>
              <a:rPr lang="en-US" altLang="zh-CN" dirty="0"/>
              <a:t>amount</a:t>
            </a:r>
            <a:r>
              <a:rPr lang="zh-CN" altLang="en-US" dirty="0"/>
              <a:t> </a:t>
            </a:r>
            <a:r>
              <a:rPr lang="en-US" altLang="zh-CN" dirty="0"/>
              <a:t>c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two-outcome</a:t>
            </a:r>
            <a:r>
              <a:rPr lang="zh-CN" altLang="en-US" dirty="0"/>
              <a:t> </a:t>
            </a:r>
            <a:r>
              <a:rPr lang="en-US" altLang="zh-CN" dirty="0"/>
              <a:t>lottery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wins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chance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p;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sense,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say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sure</a:t>
            </a:r>
            <a:r>
              <a:rPr lang="zh-CN" altLang="en-US" dirty="0"/>
              <a:t> </a:t>
            </a:r>
            <a:r>
              <a:rPr lang="en-US" altLang="zh-CN" dirty="0"/>
              <a:t>amount</a:t>
            </a:r>
            <a:r>
              <a:rPr lang="zh-CN" altLang="en-US" dirty="0"/>
              <a:t> </a:t>
            </a:r>
            <a:r>
              <a:rPr lang="en-US" altLang="zh-CN" dirty="0"/>
              <a:t>c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certainty</a:t>
            </a:r>
            <a:r>
              <a:rPr lang="zh-CN" altLang="en-US" dirty="0"/>
              <a:t> </a:t>
            </a:r>
            <a:r>
              <a:rPr lang="en-US" altLang="zh-CN" dirty="0"/>
              <a:t>equivalent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lottery;</a:t>
            </a:r>
          </a:p>
          <a:p>
            <a:endParaRPr lang="en-US" dirty="0"/>
          </a:p>
          <a:p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certainty</a:t>
            </a:r>
            <a:r>
              <a:rPr lang="zh-CN" altLang="en-US" dirty="0"/>
              <a:t> </a:t>
            </a:r>
            <a:r>
              <a:rPr lang="en-US" altLang="zh-CN" dirty="0"/>
              <a:t>equivalent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larger</a:t>
            </a:r>
            <a:r>
              <a:rPr lang="zh-CN" altLang="en-US" dirty="0"/>
              <a:t> </a:t>
            </a:r>
            <a:r>
              <a:rPr lang="en-US" altLang="zh-CN" dirty="0"/>
              <a:t>than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expected</a:t>
            </a:r>
            <a:r>
              <a:rPr lang="zh-CN" altLang="en-US" dirty="0"/>
              <a:t> </a:t>
            </a:r>
            <a:r>
              <a:rPr lang="en-US" altLang="zh-CN" dirty="0"/>
              <a:t>value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lottery,</a:t>
            </a:r>
            <a:r>
              <a:rPr lang="zh-CN" altLang="en-US" dirty="0"/>
              <a:t> </a:t>
            </a:r>
            <a:r>
              <a:rPr lang="en-US" altLang="zh-CN" dirty="0"/>
              <a:t>then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say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person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risk</a:t>
            </a:r>
            <a:r>
              <a:rPr lang="zh-CN" altLang="en-US" dirty="0"/>
              <a:t> </a:t>
            </a:r>
            <a:r>
              <a:rPr lang="en-US" altLang="zh-CN" dirty="0"/>
              <a:t>seeking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lottery;</a:t>
            </a:r>
          </a:p>
          <a:p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certainty</a:t>
            </a:r>
            <a:r>
              <a:rPr lang="zh-CN" altLang="en-US" dirty="0"/>
              <a:t> </a:t>
            </a:r>
            <a:r>
              <a:rPr lang="en-US" altLang="zh-CN" dirty="0"/>
              <a:t>equivalent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smaller</a:t>
            </a:r>
            <a:r>
              <a:rPr lang="zh-CN" altLang="en-US" dirty="0"/>
              <a:t> </a:t>
            </a:r>
            <a:r>
              <a:rPr lang="en-US" altLang="zh-CN" dirty="0"/>
              <a:t>than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expected</a:t>
            </a:r>
            <a:r>
              <a:rPr lang="zh-CN" altLang="en-US" dirty="0"/>
              <a:t> </a:t>
            </a:r>
            <a:r>
              <a:rPr lang="en-US" altLang="zh-CN" dirty="0"/>
              <a:t>value,</a:t>
            </a:r>
            <a:r>
              <a:rPr lang="zh-CN" altLang="en-US" dirty="0"/>
              <a:t> </a:t>
            </a:r>
            <a:r>
              <a:rPr lang="en-US" altLang="zh-CN" dirty="0"/>
              <a:t>then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say</a:t>
            </a:r>
            <a:r>
              <a:rPr lang="zh-CN" altLang="en-US" dirty="0"/>
              <a:t> </a:t>
            </a:r>
            <a:r>
              <a:rPr lang="en-US" altLang="zh-CN" dirty="0"/>
              <a:t>she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risk</a:t>
            </a:r>
            <a:r>
              <a:rPr lang="zh-CN" altLang="en-US" dirty="0"/>
              <a:t> </a:t>
            </a:r>
            <a:r>
              <a:rPr lang="en-US" altLang="zh-CN" dirty="0"/>
              <a:t>averse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lottery;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889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Throughout</a:t>
            </a:r>
            <a:r>
              <a:rPr lang="zh-CN" altLang="en-US" dirty="0"/>
              <a:t> </a:t>
            </a:r>
            <a:r>
              <a:rPr lang="en-US" altLang="zh-CN" dirty="0"/>
              <a:t>those</a:t>
            </a:r>
            <a:r>
              <a:rPr lang="zh-CN" altLang="en-US" dirty="0"/>
              <a:t> </a:t>
            </a:r>
            <a:r>
              <a:rPr lang="en-US" altLang="zh-CN" dirty="0"/>
              <a:t>studies</a:t>
            </a:r>
            <a:r>
              <a:rPr lang="zh-CN" altLang="en-US" dirty="0"/>
              <a:t> </a:t>
            </a:r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elicit</a:t>
            </a:r>
            <a:r>
              <a:rPr lang="zh-CN" altLang="en-US" dirty="0"/>
              <a:t> </a:t>
            </a:r>
            <a:r>
              <a:rPr lang="en-US" altLang="zh-CN" dirty="0"/>
              <a:t>certainty</a:t>
            </a:r>
            <a:r>
              <a:rPr lang="zh-CN" altLang="en-US" dirty="0"/>
              <a:t> </a:t>
            </a:r>
            <a:r>
              <a:rPr lang="en-US" altLang="zh-CN" dirty="0"/>
              <a:t>equivalent,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common</a:t>
            </a:r>
            <a:r>
              <a:rPr lang="zh-CN" altLang="en-US" dirty="0"/>
              <a:t> </a:t>
            </a:r>
            <a:r>
              <a:rPr lang="en-US" altLang="zh-CN" dirty="0"/>
              <a:t>finding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subjects‘</a:t>
            </a:r>
            <a:r>
              <a:rPr lang="zh-CN" altLang="en-US" dirty="0"/>
              <a:t> </a:t>
            </a:r>
            <a:r>
              <a:rPr lang="en-US" altLang="zh-CN" dirty="0"/>
              <a:t>choice</a:t>
            </a:r>
            <a:r>
              <a:rPr lang="zh-CN" altLang="en-US" dirty="0"/>
              <a:t> </a:t>
            </a:r>
            <a:r>
              <a:rPr lang="en-US" altLang="zh-CN" dirty="0"/>
              <a:t>follow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fourfold</a:t>
            </a:r>
            <a:r>
              <a:rPr lang="zh-CN" altLang="en-US" dirty="0"/>
              <a:t> </a:t>
            </a:r>
            <a:r>
              <a:rPr lang="en-US" altLang="zh-CN" dirty="0"/>
              <a:t>pattern.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Specifically,</a:t>
            </a:r>
            <a:r>
              <a:rPr lang="zh-CN" altLang="en-US" dirty="0"/>
              <a:t> </a:t>
            </a:r>
            <a:r>
              <a:rPr lang="en-US" altLang="zh-CN" dirty="0"/>
              <a:t>subjects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risk</a:t>
            </a:r>
            <a:r>
              <a:rPr lang="zh-CN" altLang="en-US" dirty="0"/>
              <a:t> </a:t>
            </a:r>
            <a:r>
              <a:rPr lang="en-US" altLang="zh-CN" dirty="0"/>
              <a:t>seeking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small</a:t>
            </a:r>
            <a:r>
              <a:rPr lang="zh-CN" altLang="en-US" dirty="0"/>
              <a:t> </a:t>
            </a:r>
            <a:r>
              <a:rPr lang="en-US" altLang="zh-CN" dirty="0"/>
              <a:t>probability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gains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risk</a:t>
            </a:r>
            <a:r>
              <a:rPr lang="zh-CN" altLang="en-US" dirty="0"/>
              <a:t> </a:t>
            </a:r>
            <a:r>
              <a:rPr lang="en-US" altLang="zh-CN" dirty="0"/>
              <a:t>averse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gains</a:t>
            </a:r>
            <a:r>
              <a:rPr lang="zh-CN" altLang="en-US" dirty="0"/>
              <a:t> </a:t>
            </a:r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winning</a:t>
            </a:r>
            <a:r>
              <a:rPr lang="zh-CN" altLang="en-US" dirty="0"/>
              <a:t> </a:t>
            </a:r>
            <a:r>
              <a:rPr lang="en-US" altLang="zh-CN" dirty="0"/>
              <a:t>probability</a:t>
            </a:r>
            <a:r>
              <a:rPr lang="zh-CN" altLang="en-US" dirty="0"/>
              <a:t> </a:t>
            </a:r>
            <a:r>
              <a:rPr lang="en-US" altLang="zh-CN" dirty="0"/>
              <a:t>becomes</a:t>
            </a:r>
            <a:r>
              <a:rPr lang="zh-CN" altLang="en-US" dirty="0"/>
              <a:t> </a:t>
            </a:r>
            <a:r>
              <a:rPr lang="en-US" altLang="zh-CN" dirty="0"/>
              <a:t>larger.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losses,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pattern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reversed:</a:t>
            </a:r>
            <a:r>
              <a:rPr lang="zh-CN" altLang="en-US" dirty="0"/>
              <a:t> </a:t>
            </a:r>
            <a:r>
              <a:rPr lang="en-US" altLang="zh-CN" dirty="0"/>
              <a:t>subjects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risk</a:t>
            </a:r>
            <a:r>
              <a:rPr lang="zh-CN" altLang="en-US" dirty="0"/>
              <a:t> </a:t>
            </a:r>
            <a:r>
              <a:rPr lang="en-US" altLang="zh-CN" dirty="0"/>
              <a:t>averse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small</a:t>
            </a:r>
            <a:r>
              <a:rPr lang="zh-CN" altLang="en-US" dirty="0"/>
              <a:t> </a:t>
            </a:r>
            <a:r>
              <a:rPr lang="en-US" altLang="zh-CN" dirty="0"/>
              <a:t>probability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losses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they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risk</a:t>
            </a:r>
            <a:r>
              <a:rPr lang="zh-CN" altLang="en-US" dirty="0"/>
              <a:t> </a:t>
            </a:r>
            <a:r>
              <a:rPr lang="en-US" altLang="zh-CN" dirty="0"/>
              <a:t>seeking</a:t>
            </a:r>
            <a:r>
              <a:rPr lang="zh-CN" altLang="en-US" dirty="0"/>
              <a:t> </a:t>
            </a:r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losing</a:t>
            </a:r>
            <a:r>
              <a:rPr lang="zh-CN" altLang="en-US" dirty="0"/>
              <a:t> </a:t>
            </a:r>
            <a:r>
              <a:rPr lang="en-US" altLang="zh-CN" dirty="0"/>
              <a:t>probability</a:t>
            </a:r>
            <a:r>
              <a:rPr lang="zh-CN" altLang="en-US" dirty="0"/>
              <a:t> </a:t>
            </a:r>
            <a:r>
              <a:rPr lang="en-US" altLang="zh-CN" dirty="0"/>
              <a:t>become</a:t>
            </a:r>
            <a:r>
              <a:rPr lang="zh-CN" altLang="en-US" dirty="0"/>
              <a:t> </a:t>
            </a:r>
            <a:r>
              <a:rPr lang="en-US" altLang="zh-CN" dirty="0"/>
              <a:t>larger.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671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fourfold</a:t>
            </a:r>
            <a:r>
              <a:rPr lang="zh-CN" altLang="en-US" dirty="0"/>
              <a:t> </a:t>
            </a:r>
            <a:r>
              <a:rPr lang="en-US" altLang="zh-CN" dirty="0"/>
              <a:t>pattern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most</a:t>
            </a:r>
            <a:r>
              <a:rPr lang="zh-CN" altLang="en-US" dirty="0"/>
              <a:t> </a:t>
            </a:r>
            <a:r>
              <a:rPr lang="en-US" altLang="zh-CN" dirty="0"/>
              <a:t>important</a:t>
            </a:r>
            <a:r>
              <a:rPr lang="zh-CN" altLang="en-US" dirty="0"/>
              <a:t> </a:t>
            </a:r>
            <a:r>
              <a:rPr lang="en-US" altLang="zh-CN" dirty="0"/>
              <a:t>empirical</a:t>
            </a:r>
            <a:r>
              <a:rPr lang="zh-CN" altLang="en-US" dirty="0"/>
              <a:t> </a:t>
            </a:r>
            <a:r>
              <a:rPr lang="en-US" altLang="zh-CN" dirty="0"/>
              <a:t>regularity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behavioral</a:t>
            </a:r>
            <a:r>
              <a:rPr lang="zh-CN" altLang="en-US" dirty="0"/>
              <a:t> </a:t>
            </a:r>
            <a:r>
              <a:rPr lang="en-US" altLang="zh-CN" dirty="0"/>
              <a:t>economics,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motivates</a:t>
            </a:r>
            <a:r>
              <a:rPr lang="zh-CN" altLang="en-US" dirty="0"/>
              <a:t> </a:t>
            </a:r>
            <a:r>
              <a:rPr lang="en-US" altLang="zh-CN" dirty="0"/>
              <a:t>many</a:t>
            </a:r>
            <a:r>
              <a:rPr lang="zh-CN" altLang="en-US" dirty="0"/>
              <a:t> </a:t>
            </a:r>
            <a:r>
              <a:rPr lang="en-US" altLang="zh-CN" dirty="0"/>
              <a:t>classic</a:t>
            </a:r>
            <a:r>
              <a:rPr lang="zh-CN" altLang="en-US" dirty="0"/>
              <a:t> </a:t>
            </a:r>
            <a:r>
              <a:rPr lang="en-US" altLang="zh-CN" dirty="0"/>
              <a:t>models,</a:t>
            </a:r>
            <a:r>
              <a:rPr lang="zh-CN" altLang="en-US" dirty="0"/>
              <a:t> </a:t>
            </a:r>
            <a:r>
              <a:rPr lang="en-US" altLang="zh-CN" dirty="0"/>
              <a:t>including</a:t>
            </a:r>
            <a:r>
              <a:rPr lang="zh-CN" altLang="en-US" dirty="0"/>
              <a:t> </a:t>
            </a:r>
            <a:r>
              <a:rPr lang="en-US" altLang="zh-CN" dirty="0"/>
              <a:t>prospect</a:t>
            </a:r>
            <a:r>
              <a:rPr lang="zh-CN" altLang="en-US" dirty="0"/>
              <a:t> </a:t>
            </a:r>
            <a:r>
              <a:rPr lang="en-US" altLang="zh-CN" dirty="0"/>
              <a:t>theory;</a:t>
            </a:r>
          </a:p>
          <a:p>
            <a:endParaRPr lang="en-US" dirty="0"/>
          </a:p>
          <a:p>
            <a:r>
              <a:rPr lang="en-US" altLang="zh-CN" dirty="0"/>
              <a:t>Actually,</a:t>
            </a:r>
            <a:r>
              <a:rPr lang="zh-CN" altLang="en-US" dirty="0"/>
              <a:t> </a:t>
            </a:r>
            <a:r>
              <a:rPr lang="en-US" altLang="zh-CN" dirty="0"/>
              <a:t>some</a:t>
            </a:r>
            <a:r>
              <a:rPr lang="zh-CN" altLang="en-US" dirty="0"/>
              <a:t> </a:t>
            </a:r>
            <a:r>
              <a:rPr lang="en-US" altLang="zh-CN" dirty="0"/>
              <a:t>scholars</a:t>
            </a:r>
            <a:r>
              <a:rPr lang="zh-CN" altLang="en-US" dirty="0"/>
              <a:t> </a:t>
            </a:r>
            <a:r>
              <a:rPr lang="en-US" altLang="zh-CN" dirty="0"/>
              <a:t>even</a:t>
            </a:r>
            <a:r>
              <a:rPr lang="zh-CN" altLang="en-US" dirty="0"/>
              <a:t> </a:t>
            </a:r>
            <a:r>
              <a:rPr lang="en-US" altLang="zh-CN" dirty="0"/>
              <a:t>regard</a:t>
            </a:r>
            <a:r>
              <a:rPr lang="zh-CN" altLang="en-US" dirty="0"/>
              <a:t> </a:t>
            </a:r>
            <a:r>
              <a:rPr lang="en-US" altLang="zh-CN" dirty="0"/>
              <a:t>the fourfold pattern as</a:t>
            </a:r>
            <a:r>
              <a:rPr lang="zh-CN" altLang="en-US" dirty="0"/>
              <a:t> </a:t>
            </a:r>
            <a:r>
              <a:rPr lang="en-US" altLang="zh-CN" dirty="0"/>
              <a:t>“</a:t>
            </a:r>
            <a:r>
              <a:rPr lang="en-US" dirty="0"/>
              <a:t>critical empirical regularities that any good descriptive model should accommodate</a:t>
            </a:r>
            <a:r>
              <a:rPr lang="en-US" altLang="zh-CN" dirty="0"/>
              <a:t>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053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paper, we want to test those models proposed to account for the fourfold pattern, based on a salient observation that most of them respect stochastic dominance.</a:t>
            </a:r>
          </a:p>
          <a:p>
            <a:endParaRPr lang="en-US" dirty="0"/>
          </a:p>
          <a:p>
            <a:r>
              <a:rPr lang="en-US" dirty="0"/>
              <a:t>To do so, we use the evaluation of those degenerate lottery as the test tool. For short, we call this test as the </a:t>
            </a:r>
            <a:r>
              <a:rPr lang="en-US" dirty="0" err="1"/>
              <a:t>adel</a:t>
            </a:r>
            <a:r>
              <a:rPr lang="en-US" dirty="0"/>
              <a:t> test.</a:t>
            </a:r>
          </a:p>
          <a:p>
            <a:endParaRPr lang="en-US" dirty="0"/>
          </a:p>
          <a:p>
            <a:r>
              <a:rPr lang="en-US" dirty="0"/>
              <a:t>Specifically, for a degenerate lottery, which pays you x with a chance of p; otherwise, it still pays you x; for this case, its valuation should be x. for the almost degenerate lottery, which vary the outcome x with a small amount of epsilon, the lottery’s valuation should also converge to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20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this study, we then mainly ask two questions: the first one is whether decision makers can pass this simple test; the second one is, if they do not, then whether and how such dominance violation relates to the fourfold pattern?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4175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lets start with our first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5868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capture the fourfold pattern, we have five lotteries in the gain domain: a chance of p to win 25 dollars, and otherwise win 0; The probability increases from 10 percent to 90 percents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represented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proportion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boxes</a:t>
            </a:r>
            <a:r>
              <a:rPr lang="zh-CN" altLang="en-US" dirty="0"/>
              <a:t> </a:t>
            </a:r>
            <a:r>
              <a:rPr lang="en-US" altLang="zh-CN" dirty="0"/>
              <a:t>containing</a:t>
            </a:r>
            <a:r>
              <a:rPr lang="zh-CN" altLang="en-US" dirty="0"/>
              <a:t> </a:t>
            </a:r>
            <a:r>
              <a:rPr lang="en-US" altLang="zh-CN" dirty="0"/>
              <a:t>different</a:t>
            </a:r>
            <a:r>
              <a:rPr lang="zh-CN" altLang="en-US" dirty="0"/>
              <a:t> </a:t>
            </a:r>
            <a:r>
              <a:rPr lang="en-US" altLang="zh-CN" dirty="0"/>
              <a:t>amounts;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determine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outcome,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random</a:t>
            </a:r>
            <a:r>
              <a:rPr lang="zh-CN" altLang="en-US" dirty="0"/>
              <a:t> </a:t>
            </a:r>
            <a:r>
              <a:rPr lang="en-US" altLang="zh-CN" dirty="0"/>
              <a:t>box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open.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To elicit certainty equivalents, our experiments use the multiple price lists, which is the most common way in this literature. </a:t>
            </a:r>
            <a:r>
              <a:rPr lang="en-US" altLang="zh-CN" dirty="0"/>
              <a:t>So,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certainty</a:t>
            </a:r>
            <a:r>
              <a:rPr lang="zh-CN" altLang="en-US" dirty="0"/>
              <a:t> </a:t>
            </a:r>
            <a:r>
              <a:rPr lang="en-US" altLang="zh-CN" dirty="0"/>
              <a:t>equivalent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determined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position</a:t>
            </a:r>
            <a:r>
              <a:rPr lang="zh-CN" altLang="en-US" dirty="0"/>
              <a:t> </a:t>
            </a:r>
            <a:r>
              <a:rPr lang="en-US" altLang="zh-CN" dirty="0"/>
              <a:t>where</a:t>
            </a:r>
            <a:r>
              <a:rPr lang="zh-CN" altLang="en-US" dirty="0"/>
              <a:t> </a:t>
            </a:r>
            <a:r>
              <a:rPr lang="en-US" altLang="zh-CN" dirty="0"/>
              <a:t>subjects</a:t>
            </a:r>
            <a:r>
              <a:rPr lang="zh-CN" altLang="en-US" dirty="0"/>
              <a:t> </a:t>
            </a:r>
            <a:r>
              <a:rPr lang="en-US" altLang="zh-CN" dirty="0"/>
              <a:t>switch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sure</a:t>
            </a:r>
            <a:r>
              <a:rPr lang="zh-CN" altLang="en-US" dirty="0"/>
              <a:t> </a:t>
            </a:r>
            <a:r>
              <a:rPr lang="en-US" altLang="zh-CN" dirty="0"/>
              <a:t>amount</a:t>
            </a:r>
            <a:r>
              <a:rPr lang="zh-CN" altLang="en-US" dirty="0"/>
              <a:t> </a:t>
            </a:r>
            <a:r>
              <a:rPr lang="en-US" altLang="zh-CN" dirty="0"/>
              <a:t>option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lottery</a:t>
            </a:r>
            <a:r>
              <a:rPr lang="zh-CN" altLang="en-US" dirty="0"/>
              <a:t> </a:t>
            </a:r>
            <a:r>
              <a:rPr lang="en-US" altLang="zh-CN" dirty="0"/>
              <a:t>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418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addition,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four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lotteries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degenerate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almost</a:t>
            </a:r>
            <a:r>
              <a:rPr lang="zh-CN" altLang="en-US" dirty="0"/>
              <a:t> </a:t>
            </a:r>
            <a:r>
              <a:rPr lang="en-US" altLang="zh-CN" dirty="0"/>
              <a:t>degenerate,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these</a:t>
            </a:r>
            <a:r>
              <a:rPr lang="zh-CN" altLang="en-US" dirty="0"/>
              <a:t> </a:t>
            </a:r>
            <a:r>
              <a:rPr lang="en-US" altLang="zh-CN" dirty="0"/>
              <a:t>lotteries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objectively</a:t>
            </a:r>
            <a:r>
              <a:rPr lang="zh-CN" altLang="en-US" dirty="0"/>
              <a:t> </a:t>
            </a:r>
            <a:r>
              <a:rPr lang="en-US" altLang="zh-CN" dirty="0"/>
              <a:t>correct</a:t>
            </a:r>
            <a:r>
              <a:rPr lang="zh-CN" altLang="en-US" dirty="0"/>
              <a:t> </a:t>
            </a:r>
            <a:r>
              <a:rPr lang="en-US" altLang="zh-CN" dirty="0"/>
              <a:t>switching</a:t>
            </a:r>
            <a:r>
              <a:rPr lang="zh-CN" altLang="en-US" dirty="0"/>
              <a:t> </a:t>
            </a:r>
            <a:r>
              <a:rPr lang="en-US" altLang="zh-CN" dirty="0"/>
              <a:t>position.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Take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degenerate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2.3</a:t>
            </a:r>
            <a:r>
              <a:rPr lang="zh-CN" altLang="en-US" dirty="0"/>
              <a:t> </a:t>
            </a:r>
            <a:r>
              <a:rPr lang="en-US" altLang="zh-CN" dirty="0"/>
              <a:t>dollars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example.</a:t>
            </a:r>
            <a:r>
              <a:rPr lang="zh-CN" altLang="en-US" dirty="0"/>
              <a:t> </a:t>
            </a:r>
            <a:r>
              <a:rPr lang="en-US" altLang="zh-CN" dirty="0"/>
              <a:t>According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stochastic</a:t>
            </a:r>
            <a:r>
              <a:rPr lang="zh-CN" altLang="en-US" dirty="0"/>
              <a:t> </a:t>
            </a:r>
            <a:r>
              <a:rPr lang="en-US" altLang="zh-CN" dirty="0"/>
              <a:t>dominance,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subjects</a:t>
            </a:r>
            <a:r>
              <a:rPr lang="zh-CN" altLang="en-US" dirty="0"/>
              <a:t> </a:t>
            </a:r>
            <a:r>
              <a:rPr lang="en-US" altLang="zh-CN" dirty="0"/>
              <a:t>should</a:t>
            </a:r>
            <a:r>
              <a:rPr lang="zh-CN" altLang="en-US" dirty="0"/>
              <a:t> </a:t>
            </a:r>
            <a:r>
              <a:rPr lang="en-US" altLang="zh-CN" dirty="0"/>
              <a:t>switch</a:t>
            </a:r>
            <a:r>
              <a:rPr lang="zh-CN" altLang="en-US" dirty="0"/>
              <a:t> </a:t>
            </a:r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sure</a:t>
            </a:r>
            <a:r>
              <a:rPr lang="zh-CN" altLang="en-US" dirty="0"/>
              <a:t> </a:t>
            </a:r>
            <a:r>
              <a:rPr lang="en-US" altLang="zh-CN" dirty="0"/>
              <a:t>amount</a:t>
            </a:r>
            <a:r>
              <a:rPr lang="zh-CN" altLang="en-US" dirty="0"/>
              <a:t> </a:t>
            </a:r>
            <a:r>
              <a:rPr lang="en-US" altLang="zh-CN" dirty="0"/>
              <a:t>option</a:t>
            </a:r>
            <a:r>
              <a:rPr lang="zh-CN" altLang="en-US" dirty="0"/>
              <a:t> </a:t>
            </a:r>
            <a:r>
              <a:rPr lang="en-US" altLang="zh-CN" dirty="0"/>
              <a:t>decreases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US" altLang="zh-CN" dirty="0"/>
              <a:t>dollars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dollars.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dirty="0"/>
          </a:p>
          <a:p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also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counterpart</a:t>
            </a:r>
            <a:r>
              <a:rPr lang="zh-CN" altLang="en-US" dirty="0"/>
              <a:t> </a:t>
            </a:r>
            <a:r>
              <a:rPr lang="en-US" altLang="zh-CN" dirty="0"/>
              <a:t>set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lotteries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loss</a:t>
            </a:r>
            <a:r>
              <a:rPr lang="zh-CN" altLang="en-US" dirty="0"/>
              <a:t> </a:t>
            </a:r>
            <a:r>
              <a:rPr lang="en-US" altLang="zh-CN" dirty="0"/>
              <a:t>domains.</a:t>
            </a:r>
            <a:r>
              <a:rPr lang="zh-CN" altLang="en-US" dirty="0"/>
              <a:t> </a:t>
            </a:r>
            <a:r>
              <a:rPr lang="en-US" altLang="zh-CN" dirty="0"/>
              <a:t>here,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lotteries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shown</a:t>
            </a:r>
            <a:r>
              <a:rPr lang="zh-CN" altLang="en-US" dirty="0"/>
              <a:t> </a:t>
            </a:r>
            <a:r>
              <a:rPr lang="en-US" altLang="zh-CN" dirty="0"/>
              <a:t>above,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outcomes</a:t>
            </a:r>
            <a:r>
              <a:rPr lang="zh-CN" altLang="en-US" dirty="0"/>
              <a:t> </a:t>
            </a:r>
            <a:r>
              <a:rPr lang="en-US" altLang="zh-CN" dirty="0"/>
              <a:t>become</a:t>
            </a:r>
            <a:r>
              <a:rPr lang="zh-CN" altLang="en-US" dirty="0"/>
              <a:t> </a:t>
            </a:r>
            <a:r>
              <a:rPr lang="en-US" altLang="zh-CN" dirty="0"/>
              <a:t>negative.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0927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implement,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tried</a:t>
            </a:r>
            <a:r>
              <a:rPr lang="zh-CN" altLang="en-US" dirty="0"/>
              <a:t>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best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make</a:t>
            </a:r>
            <a:r>
              <a:rPr lang="zh-CN" altLang="en-US" dirty="0"/>
              <a:t> </a:t>
            </a:r>
            <a:r>
              <a:rPr lang="en-US" altLang="zh-CN" dirty="0"/>
              <a:t>sure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subjects</a:t>
            </a:r>
            <a:r>
              <a:rPr lang="zh-CN" altLang="en-US" dirty="0"/>
              <a:t> </a:t>
            </a:r>
            <a:r>
              <a:rPr lang="en-US" altLang="zh-CN" dirty="0"/>
              <a:t>understand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decision</a:t>
            </a:r>
            <a:r>
              <a:rPr lang="zh-CN" altLang="en-US" dirty="0"/>
              <a:t> </a:t>
            </a:r>
            <a:r>
              <a:rPr lang="en-US" altLang="zh-CN" dirty="0"/>
              <a:t>task.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provide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instructions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daily</a:t>
            </a:r>
            <a:r>
              <a:rPr lang="zh-CN" altLang="en-US" dirty="0"/>
              <a:t> </a:t>
            </a:r>
            <a:r>
              <a:rPr lang="en-US" altLang="zh-CN" dirty="0"/>
              <a:t>language,</a:t>
            </a:r>
            <a:r>
              <a:rPr lang="zh-CN" altLang="en-US" dirty="0"/>
              <a:t> </a:t>
            </a:r>
            <a:r>
              <a:rPr lang="en-US" altLang="zh-CN" dirty="0"/>
              <a:t>some</a:t>
            </a:r>
            <a:r>
              <a:rPr lang="zh-CN" altLang="en-US" dirty="0"/>
              <a:t> </a:t>
            </a:r>
            <a:r>
              <a:rPr lang="en-US" altLang="zh-CN" dirty="0"/>
              <a:t>training</a:t>
            </a:r>
            <a:r>
              <a:rPr lang="zh-CN" altLang="en-US" dirty="0"/>
              <a:t> </a:t>
            </a:r>
            <a:r>
              <a:rPr lang="en-US" altLang="zh-CN" dirty="0"/>
              <a:t>questions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explanations,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six</a:t>
            </a:r>
            <a:r>
              <a:rPr lang="zh-CN" altLang="en-US" dirty="0"/>
              <a:t> </a:t>
            </a:r>
            <a:r>
              <a:rPr lang="en-US" altLang="zh-CN" dirty="0"/>
              <a:t>comprehension</a:t>
            </a:r>
            <a:r>
              <a:rPr lang="zh-CN" altLang="en-US" dirty="0"/>
              <a:t> </a:t>
            </a:r>
            <a:r>
              <a:rPr lang="en-US" altLang="zh-CN" dirty="0"/>
              <a:t>questions.</a:t>
            </a:r>
          </a:p>
          <a:p>
            <a:endParaRPr lang="en-US" altLang="zh-CN" dirty="0"/>
          </a:p>
          <a:p>
            <a:r>
              <a:rPr lang="en-US" altLang="zh-CN" dirty="0"/>
              <a:t>Subjects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proceed</a:t>
            </a:r>
            <a:r>
              <a:rPr lang="zh-CN" altLang="en-US" dirty="0"/>
              <a:t> </a:t>
            </a:r>
            <a:r>
              <a:rPr lang="en-US" altLang="zh-CN" dirty="0"/>
              <a:t>until</a:t>
            </a:r>
            <a:r>
              <a:rPr lang="zh-CN" altLang="en-US" dirty="0"/>
              <a:t> </a:t>
            </a:r>
            <a:r>
              <a:rPr lang="en-US" altLang="zh-CN" dirty="0"/>
              <a:t>they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them</a:t>
            </a:r>
            <a:r>
              <a:rPr lang="zh-CN" altLang="en-US" dirty="0"/>
              <a:t> </a:t>
            </a:r>
            <a:r>
              <a:rPr lang="en-US" altLang="zh-CN" dirty="0"/>
              <a:t>correctly.</a:t>
            </a:r>
            <a:r>
              <a:rPr lang="zh-CN" altLang="en-US" dirty="0"/>
              <a:t> </a:t>
            </a:r>
            <a:r>
              <a:rPr lang="en-US" altLang="zh-CN" dirty="0"/>
              <a:t>Besides,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encourage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attentions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efforts,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reward</a:t>
            </a:r>
            <a:r>
              <a:rPr lang="zh-CN" altLang="en-US" dirty="0"/>
              <a:t> </a:t>
            </a:r>
            <a:r>
              <a:rPr lang="en-US" altLang="zh-CN" dirty="0"/>
              <a:t>subject</a:t>
            </a:r>
            <a:r>
              <a:rPr lang="zh-CN" altLang="en-US" dirty="0"/>
              <a:t> </a:t>
            </a:r>
            <a:r>
              <a:rPr lang="en-US" altLang="zh-CN" dirty="0"/>
              <a:t>per</a:t>
            </a:r>
            <a:r>
              <a:rPr lang="zh-CN" altLang="en-US" dirty="0"/>
              <a:t> </a:t>
            </a:r>
            <a:r>
              <a:rPr lang="en-US" altLang="zh-CN" dirty="0"/>
              <a:t>comprehension</a:t>
            </a:r>
            <a:r>
              <a:rPr lang="zh-CN" altLang="en-US" dirty="0"/>
              <a:t> </a:t>
            </a:r>
            <a:r>
              <a:rPr lang="en-US" altLang="zh-CN" dirty="0"/>
              <a:t>question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they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correctly</a:t>
            </a:r>
            <a:r>
              <a:rPr lang="zh-CN" altLang="en-US" dirty="0"/>
              <a:t> </a:t>
            </a:r>
            <a:r>
              <a:rPr lang="en-US" altLang="zh-CN" dirty="0"/>
              <a:t>upon</a:t>
            </a:r>
            <a:r>
              <a:rPr lang="zh-CN" altLang="en-US" dirty="0"/>
              <a:t> </a:t>
            </a:r>
            <a:r>
              <a:rPr lang="en-US" altLang="zh-CN" dirty="0"/>
              <a:t>their</a:t>
            </a:r>
            <a:r>
              <a:rPr lang="zh-CN" altLang="en-US" dirty="0"/>
              <a:t> </a:t>
            </a:r>
            <a:r>
              <a:rPr lang="en-US" altLang="zh-CN" dirty="0"/>
              <a:t>first</a:t>
            </a:r>
            <a:r>
              <a:rPr lang="zh-CN" altLang="en-US" dirty="0"/>
              <a:t> </a:t>
            </a:r>
            <a:r>
              <a:rPr lang="en-US" altLang="zh-CN" dirty="0"/>
              <a:t>try.</a:t>
            </a:r>
          </a:p>
          <a:p>
            <a:endParaRPr lang="en-US" altLang="zh-CN" dirty="0"/>
          </a:p>
          <a:p>
            <a:r>
              <a:rPr lang="en-US" altLang="zh-CN" dirty="0"/>
              <a:t>Within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price</a:t>
            </a:r>
            <a:r>
              <a:rPr lang="zh-CN" altLang="en-US" dirty="0"/>
              <a:t> </a:t>
            </a:r>
            <a:r>
              <a:rPr lang="en-US" altLang="zh-CN" dirty="0"/>
              <a:t>list</a:t>
            </a:r>
            <a:r>
              <a:rPr lang="zh-CN" altLang="en-US" dirty="0"/>
              <a:t> </a:t>
            </a:r>
            <a:r>
              <a:rPr lang="en-US" altLang="zh-CN" dirty="0"/>
              <a:t>task,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put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risky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lotteries</a:t>
            </a:r>
            <a:r>
              <a:rPr lang="zh-CN" altLang="en-US" dirty="0"/>
              <a:t> </a:t>
            </a:r>
            <a:r>
              <a:rPr lang="en-US" altLang="zh-CN" dirty="0"/>
              <a:t>together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random</a:t>
            </a:r>
            <a:r>
              <a:rPr lang="zh-CN" altLang="en-US" dirty="0"/>
              <a:t> </a:t>
            </a:r>
            <a:r>
              <a:rPr lang="en-US" altLang="zh-CN" dirty="0"/>
              <a:t>order.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hand,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randomize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order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positive</a:t>
            </a:r>
            <a:r>
              <a:rPr lang="zh-CN" altLang="en-US" dirty="0"/>
              <a:t> </a:t>
            </a:r>
            <a:r>
              <a:rPr lang="en-US" altLang="zh-CN" dirty="0"/>
              <a:t>part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negative</a:t>
            </a:r>
            <a:r>
              <a:rPr lang="zh-CN" altLang="en-US" dirty="0"/>
              <a:t> </a:t>
            </a:r>
            <a:r>
              <a:rPr lang="en-US" altLang="zh-CN" dirty="0"/>
              <a:t>part.</a:t>
            </a:r>
          </a:p>
          <a:p>
            <a:endParaRPr lang="en-US" altLang="zh-CN" dirty="0"/>
          </a:p>
          <a:p>
            <a:r>
              <a:rPr lang="en-US" altLang="zh-CN" dirty="0"/>
              <a:t>At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end,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end-survey</a:t>
            </a:r>
            <a:r>
              <a:rPr lang="zh-CN" altLang="en-US" dirty="0"/>
              <a:t> </a:t>
            </a:r>
            <a:r>
              <a:rPr lang="en-US" altLang="zh-CN" dirty="0"/>
              <a:t>questionnaire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basic</a:t>
            </a:r>
            <a:r>
              <a:rPr lang="zh-CN" altLang="en-US" dirty="0"/>
              <a:t> </a:t>
            </a:r>
            <a:r>
              <a:rPr lang="en-US" altLang="zh-CN" dirty="0"/>
              <a:t>characteristics.</a:t>
            </a:r>
          </a:p>
          <a:p>
            <a:endParaRPr lang="en-US" altLang="zh-CN" dirty="0"/>
          </a:p>
          <a:p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experiment,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recruited</a:t>
            </a:r>
            <a:r>
              <a:rPr lang="zh-CN" altLang="en-US" dirty="0"/>
              <a:t> </a:t>
            </a:r>
            <a:r>
              <a:rPr lang="en-US" altLang="zh-CN" dirty="0"/>
              <a:t>150</a:t>
            </a:r>
            <a:r>
              <a:rPr lang="zh-CN" altLang="en-US" dirty="0"/>
              <a:t> </a:t>
            </a:r>
            <a:r>
              <a:rPr lang="en-US" altLang="zh-CN" dirty="0"/>
              <a:t>Prolific</a:t>
            </a:r>
            <a:r>
              <a:rPr lang="zh-CN" altLang="en-US" dirty="0"/>
              <a:t> </a:t>
            </a:r>
            <a:r>
              <a:rPr lang="en-US" altLang="zh-CN" dirty="0"/>
              <a:t>subjects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representative</a:t>
            </a:r>
            <a:r>
              <a:rPr lang="zh-CN" altLang="en-US" dirty="0"/>
              <a:t> </a:t>
            </a:r>
            <a:r>
              <a:rPr lang="en-US" altLang="zh-CN" dirty="0"/>
              <a:t>USA</a:t>
            </a:r>
            <a:r>
              <a:rPr lang="zh-CN" altLang="en-US" dirty="0"/>
              <a:t> </a:t>
            </a:r>
            <a:r>
              <a:rPr lang="en-US" altLang="zh-CN" dirty="0"/>
              <a:t>population.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932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First,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fourfold</a:t>
            </a:r>
            <a:r>
              <a:rPr lang="zh-CN" altLang="en-US" dirty="0"/>
              <a:t> </a:t>
            </a:r>
            <a:r>
              <a:rPr lang="en-US" altLang="zh-CN" dirty="0"/>
              <a:t>pattern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previous</a:t>
            </a:r>
            <a:r>
              <a:rPr lang="zh-CN" altLang="en-US" dirty="0"/>
              <a:t> </a:t>
            </a:r>
            <a:r>
              <a:rPr lang="en-US" altLang="zh-CN" dirty="0"/>
              <a:t>studies</a:t>
            </a:r>
            <a:r>
              <a:rPr lang="zh-CN" altLang="en-US" dirty="0"/>
              <a:t> </a:t>
            </a:r>
            <a:r>
              <a:rPr lang="en-US" altLang="zh-CN" dirty="0"/>
              <a:t>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032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</a:t>
            </a:r>
            <a:r>
              <a:rPr lang="en-US" altLang="zh-CN" dirty="0"/>
              <a:t>n,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first</a:t>
            </a:r>
            <a:r>
              <a:rPr lang="zh-CN" altLang="en-US" dirty="0"/>
              <a:t> </a:t>
            </a:r>
            <a:r>
              <a:rPr lang="en-US" altLang="zh-CN" dirty="0"/>
              <a:t>look</a:t>
            </a:r>
            <a:r>
              <a:rPr lang="zh-CN" altLang="en-US" dirty="0"/>
              <a:t> </a:t>
            </a:r>
            <a:r>
              <a:rPr lang="en-US" altLang="zh-CN" dirty="0"/>
              <a:t>at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performance.</a:t>
            </a:r>
            <a:r>
              <a:rPr lang="zh-CN" altLang="en-US" dirty="0"/>
              <a:t> </a:t>
            </a:r>
            <a:r>
              <a:rPr lang="en-US" altLang="zh-CN" dirty="0"/>
              <a:t>Surprisingly,</a:t>
            </a:r>
            <a:r>
              <a:rPr lang="zh-CN" altLang="en-US" dirty="0"/>
              <a:t> </a:t>
            </a:r>
            <a:r>
              <a:rPr lang="en-US" altLang="zh-CN" dirty="0"/>
              <a:t>129</a:t>
            </a:r>
            <a:r>
              <a:rPr lang="zh-CN" altLang="en-US" dirty="0"/>
              <a:t> </a:t>
            </a:r>
            <a:r>
              <a:rPr lang="en-US" altLang="zh-CN" dirty="0"/>
              <a:t>subjects</a:t>
            </a:r>
            <a:r>
              <a:rPr lang="zh-CN" altLang="en-US" dirty="0"/>
              <a:t> </a:t>
            </a:r>
            <a:r>
              <a:rPr lang="en-US" altLang="zh-CN" dirty="0"/>
              <a:t>failed</a:t>
            </a:r>
            <a:r>
              <a:rPr lang="zh-CN" altLang="en-US" dirty="0"/>
              <a:t> </a:t>
            </a:r>
            <a:r>
              <a:rPr lang="en-US" altLang="zh-CN" dirty="0"/>
              <a:t>at</a:t>
            </a:r>
            <a:r>
              <a:rPr lang="zh-CN" altLang="en-US" dirty="0"/>
              <a:t> </a:t>
            </a:r>
            <a:r>
              <a:rPr lang="en-US" altLang="zh-CN" dirty="0"/>
              <a:t>least</a:t>
            </a:r>
            <a:r>
              <a:rPr lang="zh-CN" altLang="en-US" dirty="0"/>
              <a:t> </a:t>
            </a:r>
            <a:r>
              <a:rPr lang="en-US" altLang="zh-CN" dirty="0"/>
              <a:t>once</a:t>
            </a:r>
            <a:r>
              <a:rPr lang="zh-CN" altLang="en-US" dirty="0"/>
              <a:t> </a:t>
            </a:r>
            <a:r>
              <a:rPr lang="en-US" altLang="zh-CN" dirty="0"/>
              <a:t>out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eight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lists.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failure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trivial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110</a:t>
            </a:r>
            <a:r>
              <a:rPr lang="zh-CN" altLang="en-US" dirty="0"/>
              <a:t> </a:t>
            </a:r>
            <a:r>
              <a:rPr lang="en-US" altLang="zh-CN" dirty="0"/>
              <a:t>failed</a:t>
            </a:r>
            <a:r>
              <a:rPr lang="zh-CN" altLang="en-US" dirty="0"/>
              <a:t> </a:t>
            </a:r>
            <a:r>
              <a:rPr lang="en-US" altLang="zh-CN" dirty="0"/>
              <a:t>at</a:t>
            </a:r>
            <a:r>
              <a:rPr lang="zh-CN" altLang="en-US" dirty="0"/>
              <a:t> </a:t>
            </a:r>
            <a:r>
              <a:rPr lang="en-US" altLang="zh-CN" dirty="0"/>
              <a:t>least</a:t>
            </a:r>
            <a:r>
              <a:rPr lang="zh-CN" altLang="en-US" dirty="0"/>
              <a:t> </a:t>
            </a:r>
            <a:r>
              <a:rPr lang="en-US" altLang="zh-CN" dirty="0"/>
              <a:t>three</a:t>
            </a:r>
            <a:r>
              <a:rPr lang="zh-CN" altLang="en-US" dirty="0"/>
              <a:t> </a:t>
            </a:r>
            <a:r>
              <a:rPr lang="en-US" altLang="zh-CN" dirty="0"/>
              <a:t>times.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Next,</a:t>
            </a:r>
            <a:r>
              <a:rPr lang="zh-CN" altLang="en-US" dirty="0"/>
              <a:t> </a:t>
            </a:r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 err="1"/>
              <a:t>devide</a:t>
            </a:r>
            <a:r>
              <a:rPr lang="zh-CN" altLang="en-US" dirty="0"/>
              <a:t> </a:t>
            </a:r>
            <a:r>
              <a:rPr lang="en-US" altLang="zh-CN" dirty="0"/>
              <a:t>subjects</a:t>
            </a:r>
            <a:r>
              <a:rPr lang="zh-CN" altLang="en-US" dirty="0"/>
              <a:t> </a:t>
            </a:r>
            <a:r>
              <a:rPr lang="en-US" altLang="zh-CN" dirty="0"/>
              <a:t>into</a:t>
            </a:r>
            <a:r>
              <a:rPr lang="zh-CN" altLang="en-US" dirty="0"/>
              <a:t> </a:t>
            </a:r>
            <a:r>
              <a:rPr lang="en-US" altLang="zh-CN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groups</a:t>
            </a:r>
            <a:r>
              <a:rPr lang="zh-CN" altLang="en-US" dirty="0"/>
              <a:t> </a:t>
            </a:r>
            <a:r>
              <a:rPr lang="en-US" altLang="zh-CN" dirty="0"/>
              <a:t>based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their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performance,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find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people</a:t>
            </a:r>
            <a:r>
              <a:rPr lang="zh-CN" altLang="en-US" dirty="0"/>
              <a:t> </a:t>
            </a:r>
            <a:r>
              <a:rPr lang="en-US" altLang="zh-CN" dirty="0"/>
              <a:t>who</a:t>
            </a:r>
            <a:r>
              <a:rPr lang="zh-CN" altLang="en-US" dirty="0"/>
              <a:t> </a:t>
            </a:r>
            <a:r>
              <a:rPr lang="en-US" altLang="zh-CN" dirty="0"/>
              <a:t>failed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classic</a:t>
            </a:r>
            <a:r>
              <a:rPr lang="zh-CN" altLang="en-US" dirty="0"/>
              <a:t> </a:t>
            </a:r>
            <a:r>
              <a:rPr lang="en-US" altLang="zh-CN" dirty="0"/>
              <a:t>fourfold</a:t>
            </a:r>
            <a:r>
              <a:rPr lang="zh-CN" altLang="en-US" dirty="0"/>
              <a:t> </a:t>
            </a:r>
            <a:r>
              <a:rPr lang="en-US" altLang="zh-CN" dirty="0"/>
              <a:t>pattern.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8243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A471D-9368-F2CB-DC23-C478BBCA0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761C85-F6F3-BF42-D79D-F7F76D018B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176677-F299-A8F3-7060-8A2A0F083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Instead,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those</a:t>
            </a:r>
            <a:r>
              <a:rPr lang="zh-CN" altLang="en-US" dirty="0"/>
              <a:t> </a:t>
            </a:r>
            <a:r>
              <a:rPr lang="en-US" altLang="zh-CN" dirty="0"/>
              <a:t>people</a:t>
            </a:r>
            <a:r>
              <a:rPr lang="zh-CN" altLang="en-US" dirty="0"/>
              <a:t> </a:t>
            </a:r>
            <a:r>
              <a:rPr lang="en-US" altLang="zh-CN" dirty="0"/>
              <a:t>who</a:t>
            </a:r>
            <a:r>
              <a:rPr lang="zh-CN" altLang="en-US" dirty="0"/>
              <a:t> </a:t>
            </a:r>
            <a:r>
              <a:rPr lang="en-US" altLang="zh-CN" dirty="0"/>
              <a:t>passed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test,</a:t>
            </a:r>
            <a:r>
              <a:rPr lang="zh-CN" altLang="en-US" dirty="0"/>
              <a:t> </a:t>
            </a:r>
            <a:r>
              <a:rPr lang="en-US" altLang="zh-CN" dirty="0"/>
              <a:t>they</a:t>
            </a:r>
            <a:r>
              <a:rPr lang="zh-CN" altLang="en-US" dirty="0"/>
              <a:t> </a:t>
            </a:r>
            <a:r>
              <a:rPr lang="en-US" altLang="zh-CN" dirty="0"/>
              <a:t>tend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much</a:t>
            </a:r>
            <a:r>
              <a:rPr lang="zh-CN" altLang="en-US" dirty="0"/>
              <a:t> </a:t>
            </a:r>
            <a:r>
              <a:rPr lang="en-US" altLang="zh-CN" dirty="0"/>
              <a:t>weaker</a:t>
            </a:r>
            <a:r>
              <a:rPr lang="zh-CN" altLang="en-US" dirty="0"/>
              <a:t> </a:t>
            </a:r>
            <a:r>
              <a:rPr lang="en-US" altLang="zh-CN" dirty="0"/>
              <a:t>fourfold</a:t>
            </a:r>
            <a:r>
              <a:rPr lang="zh-CN" altLang="en-US" dirty="0"/>
              <a:t> </a:t>
            </a:r>
            <a:r>
              <a:rPr lang="en-US" altLang="zh-CN" dirty="0"/>
              <a:t>pattern.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358B8-0D5F-06B8-C111-8CD5E9021B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982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D5A6F-30AE-A4A7-37DD-D74E426C1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6A5C5B-5CCE-695C-6555-B92257756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964B85-C2E5-DB04-555F-3CBF3D8E9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also</a:t>
            </a:r>
            <a:r>
              <a:rPr lang="zh-CN" altLang="en-US" dirty="0"/>
              <a:t> </a:t>
            </a:r>
            <a:r>
              <a:rPr lang="en-US" altLang="zh-CN" dirty="0"/>
              <a:t>done</a:t>
            </a:r>
            <a:r>
              <a:rPr lang="zh-CN" altLang="en-US" dirty="0"/>
              <a:t> </a:t>
            </a:r>
            <a:r>
              <a:rPr lang="en-US" altLang="zh-CN" dirty="0"/>
              <a:t>some</a:t>
            </a:r>
            <a:r>
              <a:rPr lang="zh-CN" altLang="en-US" dirty="0"/>
              <a:t> </a:t>
            </a:r>
            <a:r>
              <a:rPr lang="en-US" altLang="zh-CN" dirty="0"/>
              <a:t>parametric</a:t>
            </a:r>
            <a:r>
              <a:rPr lang="zh-CN" altLang="en-US" dirty="0"/>
              <a:t> </a:t>
            </a:r>
            <a:r>
              <a:rPr lang="en-US" altLang="zh-CN" dirty="0"/>
              <a:t>analysis.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regress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normalized</a:t>
            </a:r>
            <a:r>
              <a:rPr lang="zh-CN" altLang="en-US" dirty="0"/>
              <a:t> </a:t>
            </a:r>
            <a:r>
              <a:rPr lang="en-US" altLang="zh-CN" dirty="0"/>
              <a:t>certainty</a:t>
            </a:r>
            <a:r>
              <a:rPr lang="zh-CN" altLang="en-US" dirty="0"/>
              <a:t> </a:t>
            </a:r>
            <a:r>
              <a:rPr lang="en-US" altLang="zh-CN" dirty="0"/>
              <a:t>equivalents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probabilities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well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dummy</a:t>
            </a:r>
            <a:r>
              <a:rPr lang="zh-CN" altLang="en-US" dirty="0"/>
              <a:t> </a:t>
            </a:r>
            <a:r>
              <a:rPr lang="en-US" altLang="zh-CN" dirty="0"/>
              <a:t>variable</a:t>
            </a:r>
            <a:r>
              <a:rPr lang="zh-CN" altLang="en-US" dirty="0"/>
              <a:t> </a:t>
            </a:r>
            <a:r>
              <a:rPr lang="en-US" altLang="zh-CN" dirty="0"/>
              <a:t>indicating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subject</a:t>
            </a:r>
            <a:r>
              <a:rPr lang="zh-CN" altLang="en-US" dirty="0"/>
              <a:t> </a:t>
            </a:r>
            <a:r>
              <a:rPr lang="en-US" altLang="zh-CN" dirty="0"/>
              <a:t>failed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test.</a:t>
            </a:r>
            <a:r>
              <a:rPr lang="zh-CN" altLang="en-US" dirty="0"/>
              <a:t> </a:t>
            </a:r>
            <a:r>
              <a:rPr lang="en-US" altLang="zh-CN" dirty="0"/>
              <a:t>So,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column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column</a:t>
            </a:r>
            <a:r>
              <a:rPr lang="zh-CN" altLang="en-US" dirty="0"/>
              <a:t> </a:t>
            </a:r>
            <a:r>
              <a:rPr lang="en-US" altLang="zh-CN" dirty="0"/>
              <a:t>6,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see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people</a:t>
            </a:r>
            <a:r>
              <a:rPr lang="zh-CN" altLang="en-US" dirty="0"/>
              <a:t> </a:t>
            </a:r>
            <a:r>
              <a:rPr lang="en-US" altLang="zh-CN" dirty="0"/>
              <a:t>failed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test,</a:t>
            </a:r>
            <a:r>
              <a:rPr lang="zh-CN" altLang="en-US" dirty="0"/>
              <a:t> </a:t>
            </a:r>
            <a:r>
              <a:rPr lang="en-US" altLang="zh-CN" dirty="0"/>
              <a:t>they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insensitive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likelihood</a:t>
            </a:r>
            <a:r>
              <a:rPr lang="zh-CN" altLang="en-US" dirty="0"/>
              <a:t> </a:t>
            </a:r>
            <a:r>
              <a:rPr lang="en-US" altLang="zh-CN" dirty="0"/>
              <a:t>change.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inline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nonparametric</a:t>
            </a:r>
            <a:r>
              <a:rPr lang="zh-CN" altLang="en-US" dirty="0"/>
              <a:t> </a:t>
            </a:r>
            <a:r>
              <a:rPr lang="en-US" altLang="zh-CN" dirty="0"/>
              <a:t>results.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dirty="0"/>
          </a:p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interesting</a:t>
            </a:r>
            <a:r>
              <a:rPr lang="zh-CN" altLang="en-US" dirty="0"/>
              <a:t> </a:t>
            </a:r>
            <a:r>
              <a:rPr lang="en-US" altLang="zh-CN" dirty="0"/>
              <a:t>part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that,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effect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robust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including</a:t>
            </a:r>
            <a:r>
              <a:rPr lang="zh-CN" altLang="en-US" dirty="0"/>
              <a:t> </a:t>
            </a:r>
            <a:r>
              <a:rPr lang="en-US" altLang="zh-CN" dirty="0"/>
              <a:t>participants</a:t>
            </a:r>
            <a:r>
              <a:rPr lang="zh-CN" altLang="en-US" dirty="0"/>
              <a:t> </a:t>
            </a:r>
            <a:r>
              <a:rPr lang="en-US" altLang="zh-CN" dirty="0"/>
              <a:t>comprehension</a:t>
            </a:r>
            <a:r>
              <a:rPr lang="zh-CN" altLang="en-US" dirty="0"/>
              <a:t> </a:t>
            </a:r>
            <a:r>
              <a:rPr lang="en-US" altLang="zh-CN" dirty="0"/>
              <a:t>check</a:t>
            </a:r>
            <a:r>
              <a:rPr lang="zh-CN" altLang="en-US" dirty="0"/>
              <a:t> </a:t>
            </a:r>
            <a:r>
              <a:rPr lang="en-US" altLang="zh-CN" dirty="0"/>
              <a:t>performance.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63203-91C4-55B0-48EF-B6ED4E99B2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6675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So,</a:t>
            </a:r>
            <a:r>
              <a:rPr lang="zh-CN" altLang="en-US" dirty="0"/>
              <a:t> </a:t>
            </a:r>
            <a:r>
              <a:rPr lang="en-US" altLang="zh-CN" dirty="0"/>
              <a:t>clearly,</a:t>
            </a:r>
            <a:r>
              <a:rPr lang="zh-CN" altLang="en-US" dirty="0"/>
              <a:t> </a:t>
            </a:r>
            <a:r>
              <a:rPr lang="en-US" altLang="zh-CN" dirty="0"/>
              <a:t>many</a:t>
            </a:r>
            <a:r>
              <a:rPr lang="zh-CN" altLang="en-US" dirty="0"/>
              <a:t> </a:t>
            </a:r>
            <a:r>
              <a:rPr lang="en-US" altLang="zh-CN" dirty="0"/>
              <a:t>preference-based</a:t>
            </a:r>
            <a:r>
              <a:rPr lang="zh-CN" altLang="en-US" dirty="0"/>
              <a:t> </a:t>
            </a:r>
            <a:r>
              <a:rPr lang="en-US" altLang="zh-CN" dirty="0"/>
              <a:t>models</a:t>
            </a:r>
            <a:r>
              <a:rPr lang="zh-CN" altLang="en-US" dirty="0"/>
              <a:t> </a:t>
            </a:r>
            <a:r>
              <a:rPr lang="en-US" altLang="zh-CN" dirty="0"/>
              <a:t>could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explain</a:t>
            </a:r>
            <a:r>
              <a:rPr lang="zh-CN" altLang="en-US" dirty="0"/>
              <a:t>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findings.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does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involve</a:t>
            </a:r>
            <a:r>
              <a:rPr lang="zh-CN" altLang="en-US" dirty="0"/>
              <a:t> </a:t>
            </a:r>
            <a:r>
              <a:rPr lang="en-US" altLang="zh-CN" dirty="0"/>
              <a:t>any</a:t>
            </a:r>
            <a:r>
              <a:rPr lang="zh-CN" altLang="en-US" dirty="0"/>
              <a:t> </a:t>
            </a:r>
            <a:r>
              <a:rPr lang="en-US" altLang="zh-CN" dirty="0"/>
              <a:t>lottery-specific</a:t>
            </a:r>
            <a:r>
              <a:rPr lang="zh-CN" altLang="en-US" dirty="0"/>
              <a:t> </a:t>
            </a:r>
            <a:r>
              <a:rPr lang="en-US" altLang="zh-CN" dirty="0"/>
              <a:t>factors,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failure</a:t>
            </a:r>
            <a:r>
              <a:rPr lang="zh-CN" altLang="en-US" dirty="0"/>
              <a:t> </a:t>
            </a:r>
            <a:r>
              <a:rPr lang="en-US" altLang="zh-CN" dirty="0"/>
              <a:t>must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caused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general</a:t>
            </a:r>
            <a:r>
              <a:rPr lang="zh-CN" altLang="en-US" dirty="0"/>
              <a:t> </a:t>
            </a:r>
            <a:r>
              <a:rPr lang="en-US" altLang="zh-CN" dirty="0"/>
              <a:t>ones,</a:t>
            </a:r>
            <a:r>
              <a:rPr lang="zh-CN" altLang="en-US" dirty="0"/>
              <a:t> </a:t>
            </a:r>
            <a:r>
              <a:rPr lang="en-US" altLang="zh-CN" dirty="0"/>
              <a:t>such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complexity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elicitation</a:t>
            </a:r>
            <a:r>
              <a:rPr lang="zh-CN" altLang="en-US" dirty="0"/>
              <a:t> </a:t>
            </a:r>
            <a:r>
              <a:rPr lang="en-US" altLang="zh-CN" dirty="0"/>
              <a:t>mechanism.</a:t>
            </a:r>
          </a:p>
          <a:p>
            <a:endParaRPr lang="en-US" altLang="zh-CN" dirty="0"/>
          </a:p>
          <a:p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recent</a:t>
            </a:r>
            <a:r>
              <a:rPr lang="zh-CN" altLang="en-US" dirty="0"/>
              <a:t> </a:t>
            </a:r>
            <a:r>
              <a:rPr lang="en-US" altLang="zh-CN" dirty="0"/>
              <a:t>years,</a:t>
            </a:r>
            <a:r>
              <a:rPr lang="zh-CN" altLang="en-US" dirty="0"/>
              <a:t> </a:t>
            </a:r>
            <a:r>
              <a:rPr lang="en-US" altLang="zh-CN" dirty="0"/>
              <a:t>there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studies</a:t>
            </a:r>
            <a:r>
              <a:rPr lang="zh-CN" altLang="en-US" dirty="0"/>
              <a:t> </a:t>
            </a:r>
            <a:r>
              <a:rPr lang="en-US" altLang="zh-CN" dirty="0"/>
              <a:t>discussing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impacts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complexity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formation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fourfold</a:t>
            </a:r>
            <a:r>
              <a:rPr lang="zh-CN" altLang="en-US" dirty="0"/>
              <a:t> </a:t>
            </a:r>
            <a:r>
              <a:rPr lang="en-US" altLang="zh-CN" dirty="0"/>
              <a:t>pattern.</a:t>
            </a:r>
            <a:endParaRPr lang="en-US" dirty="0"/>
          </a:p>
          <a:p>
            <a:endParaRPr lang="en-US" dirty="0"/>
          </a:p>
          <a:p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important</a:t>
            </a:r>
            <a:r>
              <a:rPr lang="zh-CN" altLang="en-US" dirty="0"/>
              <a:t> </a:t>
            </a:r>
            <a:r>
              <a:rPr lang="en-US" altLang="zh-CN" dirty="0"/>
              <a:t>paper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AER</a:t>
            </a:r>
            <a:r>
              <a:rPr lang="zh-CN" altLang="en-US" dirty="0"/>
              <a:t> </a:t>
            </a:r>
            <a:r>
              <a:rPr lang="en-US" altLang="zh-CN" dirty="0"/>
              <a:t>paper</a:t>
            </a:r>
            <a:r>
              <a:rPr lang="zh-CN" altLang="en-US" dirty="0"/>
              <a:t> </a:t>
            </a:r>
            <a:r>
              <a:rPr lang="en-US" altLang="zh-CN" dirty="0"/>
              <a:t>decision</a:t>
            </a:r>
            <a:r>
              <a:rPr lang="zh-CN" altLang="en-US" dirty="0"/>
              <a:t> </a:t>
            </a:r>
            <a:r>
              <a:rPr lang="en-US" altLang="zh-CN" dirty="0"/>
              <a:t>making</a:t>
            </a:r>
            <a:r>
              <a:rPr lang="zh-CN" altLang="en-US" dirty="0"/>
              <a:t> </a:t>
            </a:r>
            <a:r>
              <a:rPr lang="en-US" altLang="zh-CN" dirty="0"/>
              <a:t>under</a:t>
            </a:r>
            <a:r>
              <a:rPr lang="zh-CN" altLang="en-US" dirty="0"/>
              <a:t> </a:t>
            </a:r>
            <a:r>
              <a:rPr lang="en-US" altLang="zh-CN" dirty="0"/>
              <a:t>risk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decision</a:t>
            </a:r>
            <a:r>
              <a:rPr lang="zh-CN" altLang="en-US" dirty="0"/>
              <a:t> </a:t>
            </a:r>
            <a:r>
              <a:rPr lang="en-US" altLang="zh-CN" dirty="0"/>
              <a:t>making</a:t>
            </a:r>
            <a:r>
              <a:rPr lang="zh-CN" altLang="en-US" dirty="0"/>
              <a:t> </a:t>
            </a:r>
            <a:r>
              <a:rPr lang="en-US" altLang="zh-CN" dirty="0"/>
              <a:t>under</a:t>
            </a:r>
            <a:r>
              <a:rPr lang="zh-CN" altLang="en-US" dirty="0"/>
              <a:t> </a:t>
            </a:r>
            <a:r>
              <a:rPr lang="en-US" altLang="zh-CN" dirty="0"/>
              <a:t>complexity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 err="1"/>
              <a:t>ryan</a:t>
            </a:r>
            <a:r>
              <a:rPr lang="zh-CN" altLang="en-US" dirty="0"/>
              <a:t> </a:t>
            </a:r>
            <a:r>
              <a:rPr lang="en-US" altLang="zh-CN" dirty="0" err="1"/>
              <a:t>oprea</a:t>
            </a:r>
            <a:r>
              <a:rPr lang="en-US" altLang="zh-CN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8285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basis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first</a:t>
            </a:r>
            <a:r>
              <a:rPr lang="zh-CN" altLang="en-US" dirty="0"/>
              <a:t> </a:t>
            </a:r>
            <a:r>
              <a:rPr lang="en-US" altLang="zh-CN" dirty="0"/>
              <a:t>experiment,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include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deterministic</a:t>
            </a:r>
            <a:r>
              <a:rPr lang="zh-CN" altLang="en-US" dirty="0"/>
              <a:t> </a:t>
            </a:r>
            <a:r>
              <a:rPr lang="en-US" altLang="zh-CN" dirty="0"/>
              <a:t>mirror</a:t>
            </a:r>
            <a:r>
              <a:rPr lang="zh-CN" altLang="en-US" dirty="0"/>
              <a:t> </a:t>
            </a:r>
            <a:r>
              <a:rPr lang="en-US" altLang="zh-CN" dirty="0"/>
              <a:t>task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proposed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Ryan.</a:t>
            </a:r>
          </a:p>
          <a:p>
            <a:endParaRPr lang="en-US" dirty="0"/>
          </a:p>
          <a:p>
            <a:r>
              <a:rPr lang="en-US" altLang="zh-CN" dirty="0"/>
              <a:t>Specifically,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mirror</a:t>
            </a:r>
            <a:r>
              <a:rPr lang="zh-CN" altLang="en-US" dirty="0"/>
              <a:t> </a:t>
            </a:r>
            <a:r>
              <a:rPr lang="en-US" altLang="zh-CN" dirty="0"/>
              <a:t>entirely</a:t>
            </a:r>
            <a:r>
              <a:rPr lang="zh-CN" altLang="en-US" dirty="0"/>
              <a:t> </a:t>
            </a:r>
            <a:r>
              <a:rPr lang="en-US" altLang="zh-CN" dirty="0"/>
              <a:t>replicate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lottery</a:t>
            </a:r>
            <a:r>
              <a:rPr lang="zh-CN" altLang="en-US" dirty="0"/>
              <a:t> </a:t>
            </a:r>
            <a:r>
              <a:rPr lang="en-US" altLang="zh-CN" dirty="0"/>
              <a:t>structure,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now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random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open,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100</a:t>
            </a:r>
            <a:r>
              <a:rPr lang="zh-CN" altLang="en-US" dirty="0"/>
              <a:t> </a:t>
            </a:r>
            <a:r>
              <a:rPr lang="en-US" altLang="zh-CN" dirty="0"/>
              <a:t>boxes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be,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payoff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determined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average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boxes’</a:t>
            </a:r>
            <a:r>
              <a:rPr lang="zh-CN" altLang="en-US" dirty="0"/>
              <a:t> </a:t>
            </a:r>
            <a:r>
              <a:rPr lang="en-US" altLang="zh-CN" dirty="0"/>
              <a:t>amounts.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sense,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mirror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deterministic,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it is</a:t>
            </a:r>
            <a:r>
              <a:rPr lang="zh-CN" altLang="en-US" dirty="0"/>
              <a:t>  </a:t>
            </a:r>
            <a:r>
              <a:rPr lang="en-US" altLang="zh-CN" dirty="0"/>
              <a:t>indeed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complex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lottery.</a:t>
            </a:r>
          </a:p>
          <a:p>
            <a:endParaRPr lang="en-US" dirty="0"/>
          </a:p>
          <a:p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particular,</a:t>
            </a:r>
            <a:r>
              <a:rPr lang="zh-CN" altLang="en-US" dirty="0"/>
              <a:t>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lottery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regarded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special</a:t>
            </a:r>
            <a:r>
              <a:rPr lang="zh-CN" altLang="en-US" dirty="0"/>
              <a:t> </a:t>
            </a:r>
            <a:r>
              <a:rPr lang="en-US" altLang="zh-CN" dirty="0"/>
              <a:t>case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mirror</a:t>
            </a:r>
            <a:r>
              <a:rPr lang="zh-CN" altLang="en-US" dirty="0"/>
              <a:t> </a:t>
            </a:r>
            <a:r>
              <a:rPr lang="en-US" altLang="zh-CN" dirty="0"/>
              <a:t>task,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go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step</a:t>
            </a:r>
            <a:r>
              <a:rPr lang="zh-CN" altLang="en-US" dirty="0"/>
              <a:t> </a:t>
            </a:r>
            <a:r>
              <a:rPr lang="en-US" altLang="zh-CN" dirty="0"/>
              <a:t>further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removing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layer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computation</a:t>
            </a:r>
            <a:r>
              <a:rPr lang="zh-CN" altLang="en-US" dirty="0"/>
              <a:t> </a:t>
            </a:r>
            <a:r>
              <a:rPr lang="en-US" altLang="zh-CN" dirty="0"/>
              <a:t>complexity.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897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So,</a:t>
            </a:r>
            <a:r>
              <a:rPr lang="zh-CN" altLang="en-US" dirty="0"/>
              <a:t> </a:t>
            </a:r>
            <a:r>
              <a:rPr lang="en-US" altLang="zh-CN" dirty="0"/>
              <a:t>first,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replicated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first</a:t>
            </a:r>
            <a:r>
              <a:rPr lang="zh-CN" altLang="en-US" dirty="0"/>
              <a:t> </a:t>
            </a:r>
            <a:r>
              <a:rPr lang="en-US" altLang="zh-CN" dirty="0"/>
              <a:t>experiment’s</a:t>
            </a:r>
            <a:r>
              <a:rPr lang="zh-CN" altLang="en-US" dirty="0"/>
              <a:t> </a:t>
            </a:r>
            <a:r>
              <a:rPr lang="en-US" altLang="zh-CN" dirty="0"/>
              <a:t>findings</a:t>
            </a:r>
            <a:r>
              <a:rPr lang="zh-CN" altLang="en-US" dirty="0"/>
              <a:t> </a:t>
            </a:r>
            <a:r>
              <a:rPr lang="en-US" altLang="zh-CN" dirty="0"/>
              <a:t>that:</a:t>
            </a:r>
          </a:p>
          <a:p>
            <a:endParaRPr lang="en-US" altLang="zh-CN" dirty="0"/>
          </a:p>
          <a:p>
            <a:r>
              <a:rPr lang="en-US" altLang="zh-CN" dirty="0"/>
              <a:t>Those</a:t>
            </a:r>
            <a:r>
              <a:rPr lang="zh-CN" altLang="en-US" dirty="0"/>
              <a:t> </a:t>
            </a:r>
            <a:r>
              <a:rPr lang="en-US" altLang="zh-CN" dirty="0"/>
              <a:t>who</a:t>
            </a:r>
            <a:r>
              <a:rPr lang="zh-CN" altLang="en-US" dirty="0"/>
              <a:t> </a:t>
            </a:r>
            <a:r>
              <a:rPr lang="en-US" altLang="zh-CN" dirty="0"/>
              <a:t>passed</a:t>
            </a:r>
            <a:r>
              <a:rPr lang="zh-CN" altLang="en-US" dirty="0"/>
              <a:t>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simple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much</a:t>
            </a:r>
            <a:r>
              <a:rPr lang="zh-CN" altLang="en-US" dirty="0"/>
              <a:t> </a:t>
            </a:r>
            <a:r>
              <a:rPr lang="en-US" altLang="zh-CN" dirty="0"/>
              <a:t>weaker</a:t>
            </a:r>
            <a:r>
              <a:rPr lang="zh-CN" altLang="en-US" dirty="0"/>
              <a:t> </a:t>
            </a:r>
            <a:r>
              <a:rPr lang="en-US" altLang="zh-CN" dirty="0"/>
              <a:t>fourfold</a:t>
            </a:r>
            <a:r>
              <a:rPr lang="zh-CN" altLang="en-US" dirty="0"/>
              <a:t> </a:t>
            </a:r>
            <a:r>
              <a:rPr lang="en-US" altLang="zh-CN" dirty="0"/>
              <a:t>pattern</a:t>
            </a:r>
            <a:r>
              <a:rPr lang="zh-CN" altLang="en-US" dirty="0"/>
              <a:t> </a:t>
            </a:r>
            <a:r>
              <a:rPr lang="en-US" altLang="zh-CN" dirty="0"/>
              <a:t>compared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those</a:t>
            </a:r>
            <a:r>
              <a:rPr lang="zh-CN" altLang="en-US" dirty="0"/>
              <a:t> </a:t>
            </a:r>
            <a:r>
              <a:rPr lang="en-US" altLang="zh-CN" dirty="0"/>
              <a:t>who</a:t>
            </a:r>
            <a:r>
              <a:rPr lang="zh-CN" altLang="en-US" dirty="0"/>
              <a:t> </a:t>
            </a:r>
            <a:r>
              <a:rPr lang="en-US" altLang="zh-CN" dirty="0"/>
              <a:t>failed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test.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5336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mirror</a:t>
            </a:r>
            <a:r>
              <a:rPr lang="zh-CN" altLang="en-US" dirty="0"/>
              <a:t> </a:t>
            </a:r>
            <a:r>
              <a:rPr lang="en-US" altLang="zh-CN" dirty="0"/>
              <a:t>task,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also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difference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fourfold</a:t>
            </a:r>
            <a:r>
              <a:rPr lang="zh-CN" altLang="en-US" dirty="0"/>
              <a:t> </a:t>
            </a:r>
            <a:r>
              <a:rPr lang="en-US" altLang="zh-CN" dirty="0"/>
              <a:t>pattern.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those</a:t>
            </a:r>
            <a:r>
              <a:rPr lang="zh-CN" altLang="en-US" dirty="0"/>
              <a:t> </a:t>
            </a:r>
            <a:r>
              <a:rPr lang="en-US" altLang="zh-CN" dirty="0"/>
              <a:t>people</a:t>
            </a:r>
            <a:r>
              <a:rPr lang="zh-CN" altLang="en-US" dirty="0"/>
              <a:t> </a:t>
            </a:r>
            <a:r>
              <a:rPr lang="en-US" altLang="zh-CN" dirty="0"/>
              <a:t>who</a:t>
            </a:r>
            <a:r>
              <a:rPr lang="zh-CN" altLang="en-US" dirty="0"/>
              <a:t> </a:t>
            </a:r>
            <a:r>
              <a:rPr lang="en-US" altLang="zh-CN" dirty="0"/>
              <a:t>passed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simple</a:t>
            </a:r>
            <a:r>
              <a:rPr lang="zh-CN" altLang="en-US" dirty="0"/>
              <a:t> </a:t>
            </a:r>
            <a:r>
              <a:rPr lang="en-US" altLang="zh-CN" dirty="0"/>
              <a:t>test,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mirror</a:t>
            </a:r>
            <a:r>
              <a:rPr lang="zh-CN" altLang="en-US" dirty="0"/>
              <a:t> </a:t>
            </a:r>
            <a:r>
              <a:rPr lang="en-US" altLang="zh-CN" dirty="0"/>
              <a:t>anomaly</a:t>
            </a:r>
            <a:r>
              <a:rPr lang="zh-CN" altLang="en-US" dirty="0"/>
              <a:t> </a:t>
            </a:r>
            <a:r>
              <a:rPr lang="en-US" altLang="zh-CN" dirty="0"/>
              <a:t>documented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Ryan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much</a:t>
            </a:r>
            <a:r>
              <a:rPr lang="zh-CN" altLang="en-US" dirty="0"/>
              <a:t> </a:t>
            </a:r>
            <a:r>
              <a:rPr lang="en-US" altLang="zh-CN" dirty="0"/>
              <a:t>weaker.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main</a:t>
            </a:r>
            <a:r>
              <a:rPr lang="zh-CN" altLang="en-US" dirty="0"/>
              <a:t> </a:t>
            </a:r>
            <a:r>
              <a:rPr lang="en-US" altLang="zh-CN" dirty="0"/>
              <a:t>driving</a:t>
            </a:r>
            <a:r>
              <a:rPr lang="zh-CN" altLang="en-US" dirty="0"/>
              <a:t> </a:t>
            </a:r>
            <a:r>
              <a:rPr lang="en-US" altLang="zh-CN" dirty="0"/>
              <a:t>force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those</a:t>
            </a:r>
            <a:r>
              <a:rPr lang="zh-CN" altLang="en-US" dirty="0"/>
              <a:t> </a:t>
            </a:r>
            <a:r>
              <a:rPr lang="en-US" altLang="zh-CN" dirty="0"/>
              <a:t>who</a:t>
            </a:r>
            <a:r>
              <a:rPr lang="zh-CN" altLang="en-US" dirty="0"/>
              <a:t> </a:t>
            </a:r>
            <a:r>
              <a:rPr lang="en-US" altLang="zh-CN" dirty="0"/>
              <a:t>failed</a:t>
            </a:r>
            <a:r>
              <a:rPr lang="zh-CN" altLang="en-US" dirty="0"/>
              <a:t>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test.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5525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9BE92-69A3-3C67-C904-2A9917B49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433AD8-6064-FFBA-5B83-D31A77E5D4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7C8CE0-A699-5C6E-2A8D-03CF830B6C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also</a:t>
            </a:r>
            <a:r>
              <a:rPr lang="zh-CN" altLang="en-US" dirty="0"/>
              <a:t> </a:t>
            </a:r>
            <a:r>
              <a:rPr lang="en-US" altLang="zh-CN" dirty="0"/>
              <a:t>look</a:t>
            </a:r>
            <a:r>
              <a:rPr lang="zh-CN" altLang="en-US" dirty="0"/>
              <a:t> </a:t>
            </a:r>
            <a:r>
              <a:rPr lang="en-US" altLang="zh-CN" dirty="0"/>
              <a:t>at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another</a:t>
            </a:r>
            <a:r>
              <a:rPr lang="zh-CN" altLang="en-US" dirty="0"/>
              <a:t> </a:t>
            </a:r>
            <a:r>
              <a:rPr lang="en-US" altLang="zh-CN" dirty="0"/>
              <a:t>way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checking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correlation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responses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pair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lottery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mirror.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dirty="0"/>
          </a:p>
          <a:p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left</a:t>
            </a:r>
            <a:r>
              <a:rPr lang="zh-CN" altLang="en-US" dirty="0"/>
              <a:t> </a:t>
            </a:r>
            <a:r>
              <a:rPr lang="en-US" altLang="zh-CN" dirty="0"/>
              <a:t>hand</a:t>
            </a:r>
            <a:r>
              <a:rPr lang="zh-CN" altLang="en-US" dirty="0"/>
              <a:t> </a:t>
            </a:r>
            <a:r>
              <a:rPr lang="en-US" altLang="zh-CN" dirty="0"/>
              <a:t>side,</a:t>
            </a:r>
            <a:r>
              <a:rPr lang="zh-CN" altLang="en-US" dirty="0"/>
              <a:t> </a:t>
            </a:r>
            <a:r>
              <a:rPr lang="en-US" altLang="zh-CN" dirty="0"/>
              <a:t>clearly,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correlation</a:t>
            </a:r>
            <a:r>
              <a:rPr lang="zh-CN" altLang="en-US" dirty="0"/>
              <a:t> </a:t>
            </a:r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very</a:t>
            </a:r>
            <a:r>
              <a:rPr lang="zh-CN" altLang="en-US" dirty="0"/>
              <a:t> </a:t>
            </a:r>
            <a:r>
              <a:rPr lang="en-US" altLang="zh-CN" dirty="0"/>
              <a:t>strong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even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valuation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mirrors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lotteries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very</a:t>
            </a:r>
            <a:r>
              <a:rPr lang="zh-CN" altLang="en-US" dirty="0"/>
              <a:t> </a:t>
            </a:r>
            <a:r>
              <a:rPr lang="en-US" altLang="zh-CN" dirty="0"/>
              <a:t>close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other,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significantly</a:t>
            </a:r>
            <a:r>
              <a:rPr lang="zh-CN" altLang="en-US" dirty="0"/>
              <a:t> </a:t>
            </a:r>
            <a:r>
              <a:rPr lang="en-US" altLang="zh-CN" dirty="0"/>
              <a:t>different.</a:t>
            </a:r>
          </a:p>
          <a:p>
            <a:endParaRPr lang="en-US" dirty="0"/>
          </a:p>
          <a:p>
            <a:r>
              <a:rPr lang="en-US" altLang="zh-CN" dirty="0"/>
              <a:t>Instead,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right</a:t>
            </a:r>
            <a:r>
              <a:rPr lang="zh-CN" altLang="en-US" dirty="0"/>
              <a:t> </a:t>
            </a:r>
            <a:r>
              <a:rPr lang="en-US" altLang="zh-CN" dirty="0"/>
              <a:t>plot</a:t>
            </a:r>
            <a:r>
              <a:rPr lang="zh-CN" altLang="en-US" dirty="0"/>
              <a:t> </a:t>
            </a:r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represent</a:t>
            </a:r>
            <a:r>
              <a:rPr lang="zh-CN" altLang="en-US" dirty="0"/>
              <a:t> </a:t>
            </a:r>
            <a:r>
              <a:rPr lang="en-US" altLang="zh-CN" dirty="0"/>
              <a:t>those</a:t>
            </a:r>
            <a:r>
              <a:rPr lang="zh-CN" altLang="en-US" dirty="0"/>
              <a:t> </a:t>
            </a:r>
            <a:r>
              <a:rPr lang="en-US" altLang="zh-CN" dirty="0"/>
              <a:t>participants</a:t>
            </a:r>
            <a:r>
              <a:rPr lang="zh-CN" altLang="en-US" dirty="0"/>
              <a:t> </a:t>
            </a:r>
            <a:r>
              <a:rPr lang="en-US" altLang="zh-CN" dirty="0"/>
              <a:t>who</a:t>
            </a:r>
            <a:r>
              <a:rPr lang="zh-CN" altLang="en-US" dirty="0"/>
              <a:t> </a:t>
            </a:r>
            <a:r>
              <a:rPr lang="en-US" altLang="zh-CN" dirty="0"/>
              <a:t>passed</a:t>
            </a:r>
            <a:r>
              <a:rPr lang="zh-CN" altLang="en-US" dirty="0"/>
              <a:t>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test,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correlation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significant,</a:t>
            </a:r>
            <a:r>
              <a:rPr lang="zh-CN" altLang="en-US" dirty="0"/>
              <a:t> </a:t>
            </a:r>
            <a:r>
              <a:rPr lang="en-US" altLang="zh-CN" dirty="0"/>
              <a:t>while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difference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significant.</a:t>
            </a:r>
            <a:r>
              <a:rPr lang="zh-CN" altLang="en-US" dirty="0"/>
              <a:t> </a:t>
            </a:r>
            <a:r>
              <a:rPr lang="en-US" altLang="zh-CN" dirty="0"/>
              <a:t>Specifically,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mirror’s</a:t>
            </a:r>
            <a:r>
              <a:rPr lang="zh-CN" altLang="en-US" dirty="0"/>
              <a:t> </a:t>
            </a:r>
            <a:r>
              <a:rPr lang="en-US" altLang="zh-CN" dirty="0"/>
              <a:t>valuation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way</a:t>
            </a:r>
            <a:r>
              <a:rPr lang="zh-CN" altLang="en-US" dirty="0"/>
              <a:t> </a:t>
            </a:r>
            <a:r>
              <a:rPr lang="en-US" altLang="zh-CN" dirty="0"/>
              <a:t>closer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expected</a:t>
            </a:r>
            <a:r>
              <a:rPr lang="zh-CN" altLang="en-US" dirty="0"/>
              <a:t> </a:t>
            </a:r>
            <a:r>
              <a:rPr lang="en-US" altLang="zh-CN" dirty="0"/>
              <a:t>value.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4A599-8219-1F01-12E4-66C33A13E9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5658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8DDA9-F780-E8B5-A75A-C9921198C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FD6B36-61EB-1742-2E68-B14311363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834CBE-FD25-0150-7A1E-32FE94C25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Again,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regression,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say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people</a:t>
            </a:r>
            <a:r>
              <a:rPr lang="zh-CN" altLang="en-US" dirty="0"/>
              <a:t> </a:t>
            </a:r>
            <a:r>
              <a:rPr lang="en-US" altLang="zh-CN" dirty="0"/>
              <a:t>who</a:t>
            </a:r>
            <a:r>
              <a:rPr lang="zh-CN" altLang="en-US" dirty="0"/>
              <a:t> </a:t>
            </a:r>
            <a:r>
              <a:rPr lang="en-US" altLang="zh-CN" dirty="0"/>
              <a:t>failed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test,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insensitivity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likelihood</a:t>
            </a:r>
            <a:r>
              <a:rPr lang="zh-CN" altLang="en-US" dirty="0"/>
              <a:t> </a:t>
            </a:r>
            <a:r>
              <a:rPr lang="en-US" altLang="zh-CN" dirty="0"/>
              <a:t>change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its</a:t>
            </a:r>
            <a:r>
              <a:rPr lang="zh-CN" altLang="en-US" dirty="0"/>
              <a:t> </a:t>
            </a:r>
            <a:r>
              <a:rPr lang="en-US" altLang="zh-CN" dirty="0"/>
              <a:t>very</a:t>
            </a:r>
            <a:r>
              <a:rPr lang="zh-CN" altLang="en-US" dirty="0"/>
              <a:t> </a:t>
            </a:r>
            <a:r>
              <a:rPr lang="en-US" altLang="zh-CN" dirty="0"/>
              <a:t>robust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controlling</a:t>
            </a:r>
            <a:r>
              <a:rPr lang="zh-CN" altLang="en-US" dirty="0"/>
              <a:t> </a:t>
            </a:r>
            <a:r>
              <a:rPr lang="en-US" altLang="zh-CN" dirty="0"/>
              <a:t>individual</a:t>
            </a:r>
            <a:r>
              <a:rPr lang="zh-CN" altLang="en-US" dirty="0"/>
              <a:t> </a:t>
            </a:r>
            <a:r>
              <a:rPr lang="en-US" altLang="zh-CN" dirty="0"/>
              <a:t>mirror</a:t>
            </a:r>
            <a:r>
              <a:rPr lang="zh-CN" altLang="en-US" dirty="0"/>
              <a:t> </a:t>
            </a:r>
            <a:r>
              <a:rPr lang="en-US" altLang="zh-CN" dirty="0"/>
              <a:t>task</a:t>
            </a:r>
            <a:r>
              <a:rPr lang="zh-CN" altLang="en-US" dirty="0"/>
              <a:t> </a:t>
            </a:r>
            <a:r>
              <a:rPr lang="en-US" altLang="zh-CN" dirty="0"/>
              <a:t>failure.</a:t>
            </a:r>
            <a:r>
              <a:rPr lang="zh-CN" altLang="en-US" dirty="0"/>
              <a:t> </a:t>
            </a:r>
            <a:r>
              <a:rPr lang="en-US" altLang="zh-CN" dirty="0"/>
              <a:t>Interestingly,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column</a:t>
            </a:r>
            <a:r>
              <a:rPr lang="zh-CN" altLang="en-US" dirty="0"/>
              <a:t> </a:t>
            </a:r>
            <a:r>
              <a:rPr lang="en-US" altLang="zh-CN" dirty="0"/>
              <a:t>4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8</a:t>
            </a:r>
            <a:r>
              <a:rPr lang="zh-CN" altLang="en-US" dirty="0"/>
              <a:t> </a:t>
            </a:r>
            <a:r>
              <a:rPr lang="en-US" altLang="zh-CN" dirty="0"/>
              <a:t>show,</a:t>
            </a:r>
            <a:r>
              <a:rPr lang="zh-CN" altLang="en-US" dirty="0"/>
              <a:t> </a:t>
            </a:r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regress</a:t>
            </a:r>
            <a:r>
              <a:rPr lang="zh-CN" altLang="en-US" dirty="0"/>
              <a:t>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mirror</a:t>
            </a:r>
            <a:r>
              <a:rPr lang="zh-CN" altLang="en-US" dirty="0"/>
              <a:t> </a:t>
            </a:r>
            <a:r>
              <a:rPr lang="en-US" altLang="zh-CN" dirty="0"/>
              <a:t>performance</a:t>
            </a:r>
            <a:r>
              <a:rPr lang="zh-CN" altLang="en-US" dirty="0"/>
              <a:t> </a:t>
            </a:r>
            <a:r>
              <a:rPr lang="en-US" altLang="zh-CN" dirty="0"/>
              <a:t>at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time,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coefficients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mirror</a:t>
            </a:r>
            <a:r>
              <a:rPr lang="zh-CN" altLang="en-US" dirty="0"/>
              <a:t> </a:t>
            </a:r>
            <a:r>
              <a:rPr lang="en-US" altLang="zh-CN" dirty="0"/>
              <a:t>task</a:t>
            </a:r>
            <a:r>
              <a:rPr lang="zh-CN" altLang="en-US" dirty="0"/>
              <a:t> </a:t>
            </a:r>
            <a:r>
              <a:rPr lang="en-US" altLang="zh-CN" dirty="0"/>
              <a:t>performance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significant</a:t>
            </a:r>
            <a:r>
              <a:rPr lang="zh-CN" altLang="en-US" dirty="0"/>
              <a:t> </a:t>
            </a:r>
            <a:r>
              <a:rPr lang="en-US" altLang="zh-CN" dirty="0"/>
              <a:t>anymore.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52F06-98A1-3E66-4E54-5796DDC2E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1168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Another</a:t>
            </a:r>
            <a:r>
              <a:rPr lang="zh-CN" altLang="en-US" dirty="0"/>
              <a:t> </a:t>
            </a:r>
            <a:r>
              <a:rPr lang="en-US" altLang="zh-CN" dirty="0"/>
              <a:t>important</a:t>
            </a:r>
            <a:r>
              <a:rPr lang="zh-CN" altLang="en-US" dirty="0"/>
              <a:t> </a:t>
            </a:r>
            <a:r>
              <a:rPr lang="en-US" altLang="zh-CN" dirty="0"/>
              <a:t>paper</a:t>
            </a:r>
            <a:r>
              <a:rPr lang="zh-CN" altLang="en-US" dirty="0"/>
              <a:t> </a:t>
            </a:r>
            <a:r>
              <a:rPr lang="en-US" altLang="zh-CN" dirty="0"/>
              <a:t>regarding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role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cognition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fourfold</a:t>
            </a:r>
            <a:r>
              <a:rPr lang="zh-CN" altLang="en-US" dirty="0"/>
              <a:t> </a:t>
            </a:r>
            <a:r>
              <a:rPr lang="en-US" altLang="zh-CN" dirty="0"/>
              <a:t>pattern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cognitive</a:t>
            </a:r>
            <a:r>
              <a:rPr lang="zh-CN" altLang="en-US" dirty="0"/>
              <a:t> </a:t>
            </a:r>
            <a:r>
              <a:rPr lang="en-US" altLang="zh-CN" dirty="0"/>
              <a:t>uncertainty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Enke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Graeber.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1958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basis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first</a:t>
            </a:r>
            <a:r>
              <a:rPr lang="zh-CN" altLang="en-US" dirty="0"/>
              <a:t> </a:t>
            </a:r>
            <a:r>
              <a:rPr lang="en-US" altLang="zh-CN" dirty="0"/>
              <a:t>experiment,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include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cognitive</a:t>
            </a:r>
            <a:r>
              <a:rPr lang="zh-CN" altLang="en-US" dirty="0"/>
              <a:t> </a:t>
            </a:r>
            <a:r>
              <a:rPr lang="en-US" altLang="zh-CN" dirty="0"/>
              <a:t>uncertainty</a:t>
            </a:r>
            <a:r>
              <a:rPr lang="zh-CN" altLang="en-US" dirty="0"/>
              <a:t> </a:t>
            </a:r>
            <a:r>
              <a:rPr lang="en-US" altLang="zh-CN" dirty="0"/>
              <a:t>measure.</a:t>
            </a:r>
            <a:r>
              <a:rPr lang="zh-CN" altLang="en-US" dirty="0"/>
              <a:t> </a:t>
            </a:r>
            <a:r>
              <a:rPr lang="en-US" altLang="zh-CN" dirty="0"/>
              <a:t>Specifically,</a:t>
            </a:r>
            <a:r>
              <a:rPr lang="zh-CN" altLang="en-US" dirty="0"/>
              <a:t> </a:t>
            </a:r>
            <a:r>
              <a:rPr lang="en-US" altLang="zh-CN" dirty="0"/>
              <a:t>after</a:t>
            </a:r>
            <a:r>
              <a:rPr lang="zh-CN" altLang="en-US" dirty="0"/>
              <a:t> </a:t>
            </a:r>
            <a:r>
              <a:rPr lang="en-US" altLang="zh-CN" dirty="0"/>
              <a:t>submitting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choice</a:t>
            </a:r>
            <a:r>
              <a:rPr lang="zh-CN" altLang="en-US" dirty="0"/>
              <a:t> </a:t>
            </a:r>
            <a:r>
              <a:rPr lang="en-US" altLang="zh-CN" dirty="0"/>
              <a:t>list</a:t>
            </a:r>
            <a:r>
              <a:rPr lang="zh-CN" altLang="en-US" dirty="0"/>
              <a:t> </a:t>
            </a:r>
            <a:r>
              <a:rPr lang="en-US" altLang="zh-CN" dirty="0"/>
              <a:t>responses,</a:t>
            </a:r>
            <a:r>
              <a:rPr lang="zh-CN" altLang="en-US" dirty="0"/>
              <a:t> </a:t>
            </a:r>
            <a:r>
              <a:rPr lang="en-US" altLang="zh-CN" dirty="0"/>
              <a:t>subjects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report</a:t>
            </a:r>
            <a:r>
              <a:rPr lang="zh-CN" altLang="en-US" dirty="0"/>
              <a:t> </a:t>
            </a:r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certain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they</a:t>
            </a:r>
            <a:r>
              <a:rPr lang="zh-CN" altLang="en-US" dirty="0"/>
              <a:t> </a:t>
            </a:r>
            <a:r>
              <a:rPr lang="en-US" altLang="zh-CN" dirty="0"/>
              <a:t>feel</a:t>
            </a:r>
            <a:r>
              <a:rPr lang="zh-CN" altLang="en-US" dirty="0"/>
              <a:t> </a:t>
            </a:r>
            <a:r>
              <a:rPr lang="en-US" altLang="zh-CN" dirty="0"/>
              <a:t>about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decision.</a:t>
            </a:r>
          </a:p>
          <a:p>
            <a:endParaRPr lang="en-US" dirty="0"/>
          </a:p>
          <a:p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measure,</a:t>
            </a:r>
            <a:r>
              <a:rPr lang="zh-CN" altLang="en-US" dirty="0"/>
              <a:t> </a:t>
            </a:r>
            <a:r>
              <a:rPr lang="en-US" altLang="zh-CN" dirty="0"/>
              <a:t>even</a:t>
            </a:r>
            <a:r>
              <a:rPr lang="zh-CN" altLang="en-US" dirty="0"/>
              <a:t> </a:t>
            </a:r>
            <a:r>
              <a:rPr lang="en-US" altLang="zh-CN" dirty="0"/>
              <a:t>though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original</a:t>
            </a:r>
            <a:r>
              <a:rPr lang="zh-CN" altLang="en-US" dirty="0"/>
              <a:t> </a:t>
            </a:r>
            <a:r>
              <a:rPr lang="en-US" altLang="zh-CN" dirty="0"/>
              <a:t>paper</a:t>
            </a:r>
            <a:r>
              <a:rPr lang="zh-CN" altLang="en-US" dirty="0"/>
              <a:t> </a:t>
            </a:r>
            <a:r>
              <a:rPr lang="en-US" altLang="zh-CN" dirty="0"/>
              <a:t>mainly</a:t>
            </a:r>
            <a:r>
              <a:rPr lang="zh-CN" altLang="en-US" dirty="0"/>
              <a:t> </a:t>
            </a:r>
            <a:r>
              <a:rPr lang="en-US" altLang="zh-CN" dirty="0"/>
              <a:t>discuss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perception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process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these</a:t>
            </a:r>
            <a:r>
              <a:rPr lang="zh-CN" altLang="en-US" dirty="0"/>
              <a:t> </a:t>
            </a:r>
            <a:r>
              <a:rPr lang="en-US" altLang="zh-CN" dirty="0"/>
              <a:t>lottery-specific</a:t>
            </a:r>
            <a:r>
              <a:rPr lang="zh-CN" altLang="en-US" dirty="0"/>
              <a:t> </a:t>
            </a:r>
            <a:r>
              <a:rPr lang="en-US" altLang="zh-CN" dirty="0"/>
              <a:t>information,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practice,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definitely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capture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uncertainty</a:t>
            </a:r>
            <a:r>
              <a:rPr lang="zh-CN" altLang="en-US" dirty="0"/>
              <a:t> </a:t>
            </a:r>
            <a:r>
              <a:rPr lang="en-US" altLang="zh-CN" dirty="0"/>
              <a:t>about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general</a:t>
            </a:r>
            <a:r>
              <a:rPr lang="zh-CN" altLang="en-US" dirty="0"/>
              <a:t> </a:t>
            </a:r>
            <a:r>
              <a:rPr lang="en-US" altLang="zh-CN" dirty="0"/>
              <a:t>decision</a:t>
            </a:r>
            <a:r>
              <a:rPr lang="zh-CN" altLang="en-US" dirty="0"/>
              <a:t> </a:t>
            </a:r>
            <a:r>
              <a:rPr lang="en-US" altLang="zh-CN" dirty="0"/>
              <a:t>environment.</a:t>
            </a:r>
          </a:p>
          <a:p>
            <a:endParaRPr lang="en-US" dirty="0"/>
          </a:p>
          <a:p>
            <a:r>
              <a:rPr lang="en-US" altLang="zh-CN" dirty="0"/>
              <a:t>So,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want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explore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experiment,</a:t>
            </a:r>
            <a:r>
              <a:rPr lang="zh-CN" altLang="en-US" dirty="0"/>
              <a:t> </a:t>
            </a:r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much</a:t>
            </a:r>
            <a:r>
              <a:rPr lang="zh-CN" altLang="en-US" dirty="0"/>
              <a:t> </a:t>
            </a:r>
            <a:r>
              <a:rPr lang="en-US" altLang="zh-CN" dirty="0"/>
              <a:t>does</a:t>
            </a:r>
            <a:r>
              <a:rPr lang="zh-CN" altLang="en-US" dirty="0"/>
              <a:t>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overlap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their</a:t>
            </a:r>
            <a:r>
              <a:rPr lang="zh-CN" altLang="en-US" dirty="0"/>
              <a:t> </a:t>
            </a:r>
            <a:r>
              <a:rPr lang="en-US" altLang="zh-CN" dirty="0"/>
              <a:t>measure.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0328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9A19C-32E3-D423-5EE9-B312BAAC0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255E67-9D13-C46C-8599-3926A1BF95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2CA89D-1252-CC6A-BDFD-385DDB65F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So,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divide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subjects</a:t>
            </a:r>
            <a:r>
              <a:rPr lang="zh-CN" altLang="en-US" dirty="0"/>
              <a:t> </a:t>
            </a:r>
            <a:r>
              <a:rPr lang="en-US" altLang="zh-CN" dirty="0"/>
              <a:t>based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their</a:t>
            </a:r>
            <a:r>
              <a:rPr lang="zh-CN" altLang="en-US" dirty="0"/>
              <a:t> </a:t>
            </a:r>
            <a:r>
              <a:rPr lang="en-US" altLang="zh-CN" dirty="0"/>
              <a:t>personal</a:t>
            </a:r>
            <a:r>
              <a:rPr lang="zh-CN" altLang="en-US" dirty="0"/>
              <a:t> </a:t>
            </a:r>
            <a:r>
              <a:rPr lang="en-US" altLang="zh-CN" dirty="0"/>
              <a:t>average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cognitive</a:t>
            </a:r>
            <a:r>
              <a:rPr lang="zh-CN" altLang="en-US" dirty="0"/>
              <a:t> </a:t>
            </a:r>
            <a:r>
              <a:rPr lang="en-US" altLang="zh-CN" dirty="0"/>
              <a:t>uncertainty.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clear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matter</a:t>
            </a:r>
            <a:r>
              <a:rPr lang="zh-CN" altLang="en-US" dirty="0"/>
              <a:t> </a:t>
            </a:r>
            <a:r>
              <a:rPr lang="en-US" altLang="zh-CN" dirty="0"/>
              <a:t>whether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subjects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higher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lower</a:t>
            </a:r>
            <a:r>
              <a:rPr lang="zh-CN" altLang="en-US" dirty="0"/>
              <a:t> </a:t>
            </a:r>
            <a:r>
              <a:rPr lang="en-US" altLang="zh-CN" dirty="0"/>
              <a:t>cognitive</a:t>
            </a:r>
            <a:r>
              <a:rPr lang="zh-CN" altLang="en-US" dirty="0"/>
              <a:t> </a:t>
            </a:r>
            <a:r>
              <a:rPr lang="en-US" altLang="zh-CN" dirty="0"/>
              <a:t>uncertainty,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linkage</a:t>
            </a:r>
            <a:r>
              <a:rPr lang="zh-CN" altLang="en-US" dirty="0"/>
              <a:t> </a:t>
            </a:r>
            <a:r>
              <a:rPr lang="en-US" altLang="zh-CN" dirty="0"/>
              <a:t>between</a:t>
            </a:r>
            <a:r>
              <a:rPr lang="zh-CN" altLang="en-US" dirty="0"/>
              <a:t>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performance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fourfold</a:t>
            </a:r>
            <a:r>
              <a:rPr lang="zh-CN" altLang="en-US" dirty="0"/>
              <a:t> </a:t>
            </a:r>
            <a:r>
              <a:rPr lang="en-US" altLang="zh-CN" dirty="0"/>
              <a:t>pattern</a:t>
            </a:r>
            <a:r>
              <a:rPr lang="zh-CN" altLang="en-US" dirty="0"/>
              <a:t> </a:t>
            </a:r>
            <a:r>
              <a:rPr lang="en-US" altLang="zh-CN" dirty="0"/>
              <a:t>exists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both</a:t>
            </a:r>
            <a:r>
              <a:rPr lang="zh-CN" altLang="en-US" dirty="0"/>
              <a:t> </a:t>
            </a:r>
            <a:r>
              <a:rPr lang="en-US" altLang="zh-CN" dirty="0"/>
              <a:t>subsamples.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C2B6C-D927-1551-76F4-96869655FD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6286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984B7-8817-B923-2E01-D60DA3A70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A215EC-6159-EB98-13B3-BDD174E507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E54569-2F3E-62FF-6DDF-9E1623E92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Again,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regression</a:t>
            </a:r>
            <a:r>
              <a:rPr lang="zh-CN" altLang="en-US" dirty="0"/>
              <a:t> </a:t>
            </a:r>
            <a:r>
              <a:rPr lang="en-US" altLang="zh-CN" dirty="0"/>
              <a:t>analysis,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see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main</a:t>
            </a:r>
            <a:r>
              <a:rPr lang="zh-CN" altLang="en-US" dirty="0"/>
              <a:t> </a:t>
            </a:r>
            <a:r>
              <a:rPr lang="en-US" altLang="zh-CN" dirty="0"/>
              <a:t>effects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robust</a:t>
            </a:r>
            <a:r>
              <a:rPr lang="zh-CN" altLang="en-US" dirty="0"/>
              <a:t> </a:t>
            </a:r>
            <a:r>
              <a:rPr lang="en-US" altLang="zh-CN" dirty="0"/>
              <a:t>after</a:t>
            </a:r>
            <a:r>
              <a:rPr lang="zh-CN" altLang="en-US" dirty="0"/>
              <a:t> </a:t>
            </a:r>
            <a:r>
              <a:rPr lang="en-US" altLang="zh-CN" dirty="0"/>
              <a:t>controlling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cognitive</a:t>
            </a:r>
            <a:r>
              <a:rPr lang="zh-CN" altLang="en-US" dirty="0"/>
              <a:t> </a:t>
            </a:r>
            <a:r>
              <a:rPr lang="en-US" altLang="zh-CN" dirty="0"/>
              <a:t>uncertainty</a:t>
            </a:r>
            <a:r>
              <a:rPr lang="zh-CN" altLang="en-US" dirty="0"/>
              <a:t> </a:t>
            </a:r>
            <a:r>
              <a:rPr lang="en-US" altLang="zh-CN" dirty="0"/>
              <a:t>measure.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E6B98-2DC2-7608-C4DD-6EBE448AA1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1226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154A1-D3DA-2A6D-DC6F-40304B6C0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277811-1020-40A6-B64B-7CAF45AAC2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46C5AD-0EC3-1A93-8E18-CB4E64152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also</a:t>
            </a:r>
            <a:r>
              <a:rPr lang="zh-CN" altLang="en-US" dirty="0"/>
              <a:t> </a:t>
            </a:r>
            <a:r>
              <a:rPr lang="en-US" altLang="zh-CN" dirty="0"/>
              <a:t>conducted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regression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certainty</a:t>
            </a:r>
            <a:r>
              <a:rPr lang="zh-CN" altLang="en-US" dirty="0"/>
              <a:t> </a:t>
            </a:r>
            <a:r>
              <a:rPr lang="en-US" altLang="zh-CN" dirty="0"/>
              <a:t>equivalents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individual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r>
              <a:rPr lang="zh-CN" altLang="en-US" dirty="0"/>
              <a:t> </a:t>
            </a:r>
            <a:r>
              <a:rPr lang="en-US" altLang="zh-CN" dirty="0"/>
              <a:t>cognitive</a:t>
            </a:r>
            <a:r>
              <a:rPr lang="zh-CN" altLang="en-US" dirty="0"/>
              <a:t> </a:t>
            </a:r>
            <a:r>
              <a:rPr lang="en-US" altLang="zh-CN" dirty="0"/>
              <a:t>uncertainty</a:t>
            </a:r>
            <a:r>
              <a:rPr lang="zh-CN" altLang="en-US" dirty="0"/>
              <a:t> </a:t>
            </a:r>
            <a:r>
              <a:rPr lang="en-US" altLang="zh-CN" dirty="0"/>
              <a:t>measure.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first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indicates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average</a:t>
            </a:r>
            <a:r>
              <a:rPr lang="zh-CN" altLang="en-US" dirty="0"/>
              <a:t> </a:t>
            </a:r>
            <a:r>
              <a:rPr lang="en-US" altLang="zh-CN" dirty="0"/>
              <a:t>uncertainty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those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lotteries;</a:t>
            </a:r>
            <a:r>
              <a:rPr lang="zh-CN" altLang="en-US" dirty="0"/>
              <a:t> </a:t>
            </a:r>
            <a:r>
              <a:rPr lang="en-US" altLang="zh-CN" dirty="0"/>
              <a:t>while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indicates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average</a:t>
            </a:r>
            <a:r>
              <a:rPr lang="zh-CN" altLang="en-US" dirty="0"/>
              <a:t> </a:t>
            </a:r>
            <a:r>
              <a:rPr lang="en-US" altLang="zh-CN" dirty="0"/>
              <a:t>uncertainty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those</a:t>
            </a:r>
            <a:r>
              <a:rPr lang="zh-CN" altLang="en-US" dirty="0"/>
              <a:t> </a:t>
            </a:r>
            <a:r>
              <a:rPr lang="en-US" altLang="zh-CN" dirty="0"/>
              <a:t>risk</a:t>
            </a:r>
            <a:r>
              <a:rPr lang="zh-CN" altLang="en-US" dirty="0"/>
              <a:t> </a:t>
            </a:r>
            <a:r>
              <a:rPr lang="en-US" altLang="zh-CN" dirty="0"/>
              <a:t>lotteries.</a:t>
            </a:r>
          </a:p>
          <a:p>
            <a:endParaRPr lang="en-US" dirty="0"/>
          </a:p>
          <a:p>
            <a:r>
              <a:rPr lang="en-US" altLang="zh-CN" dirty="0"/>
              <a:t>Clearly,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cognitive</a:t>
            </a:r>
            <a:r>
              <a:rPr lang="zh-CN" altLang="en-US" dirty="0"/>
              <a:t> </a:t>
            </a:r>
            <a:r>
              <a:rPr lang="en-US" altLang="zh-CN" dirty="0"/>
              <a:t>uncertainty</a:t>
            </a:r>
            <a:r>
              <a:rPr lang="zh-CN" altLang="en-US" dirty="0"/>
              <a:t> </a:t>
            </a:r>
            <a:r>
              <a:rPr lang="en-US" altLang="zh-CN" dirty="0"/>
              <a:t>over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lotteries</a:t>
            </a:r>
            <a:r>
              <a:rPr lang="zh-CN" altLang="en-US" dirty="0"/>
              <a:t> </a:t>
            </a:r>
            <a:r>
              <a:rPr lang="en-US" altLang="zh-CN" dirty="0"/>
              <a:t>correlated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likelihood</a:t>
            </a:r>
            <a:r>
              <a:rPr lang="zh-CN" altLang="en-US" dirty="0"/>
              <a:t> </a:t>
            </a:r>
            <a:r>
              <a:rPr lang="en-US" altLang="zh-CN" dirty="0"/>
              <a:t>insensitivity.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E8974-07FC-CE32-1712-201A5FF66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2194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So,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third</a:t>
            </a:r>
            <a:r>
              <a:rPr lang="zh-CN" altLang="en-US" dirty="0"/>
              <a:t> </a:t>
            </a:r>
            <a:r>
              <a:rPr lang="en-US" altLang="zh-CN" dirty="0"/>
              <a:t>experiment,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say</a:t>
            </a:r>
            <a:r>
              <a:rPr lang="zh-CN" altLang="en-US" dirty="0"/>
              <a:t> </a:t>
            </a:r>
            <a:r>
              <a:rPr lang="en-US" altLang="zh-CN" dirty="0"/>
              <a:t>something</a:t>
            </a:r>
            <a:r>
              <a:rPr lang="zh-CN" altLang="en-US" dirty="0"/>
              <a:t> </a:t>
            </a:r>
            <a:r>
              <a:rPr lang="en-US" altLang="zh-CN" dirty="0"/>
              <a:t>like: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classic</a:t>
            </a:r>
            <a:r>
              <a:rPr lang="zh-CN" altLang="en-US" dirty="0"/>
              <a:t> </a:t>
            </a:r>
            <a:r>
              <a:rPr lang="en-US" altLang="zh-CN" dirty="0"/>
              <a:t>setup,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fourfold</a:t>
            </a:r>
            <a:r>
              <a:rPr lang="zh-CN" altLang="en-US" dirty="0"/>
              <a:t> </a:t>
            </a:r>
            <a:r>
              <a:rPr lang="en-US" altLang="zh-CN" dirty="0"/>
              <a:t>pattern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actually</a:t>
            </a:r>
            <a:r>
              <a:rPr lang="zh-CN" altLang="en-US" dirty="0"/>
              <a:t> </a:t>
            </a:r>
            <a:r>
              <a:rPr lang="en-US" altLang="zh-CN" dirty="0"/>
              <a:t>related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some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general</a:t>
            </a:r>
            <a:r>
              <a:rPr lang="zh-CN" altLang="en-US" dirty="0"/>
              <a:t> </a:t>
            </a:r>
            <a:r>
              <a:rPr lang="en-US" altLang="zh-CN" dirty="0"/>
              <a:t>factors,</a:t>
            </a:r>
            <a:r>
              <a:rPr lang="zh-CN" altLang="en-US" dirty="0"/>
              <a:t> </a:t>
            </a:r>
            <a:r>
              <a:rPr lang="en-US" altLang="zh-CN" dirty="0"/>
              <a:t>including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limited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mechanism</a:t>
            </a:r>
            <a:r>
              <a:rPr lang="zh-CN" altLang="en-US" dirty="0"/>
              <a:t> </a:t>
            </a:r>
            <a:r>
              <a:rPr lang="en-US" altLang="zh-CN" dirty="0"/>
              <a:t>complexity,</a:t>
            </a:r>
            <a:r>
              <a:rPr lang="zh-CN" altLang="en-US" dirty="0"/>
              <a:t> </a:t>
            </a:r>
            <a:r>
              <a:rPr lang="en-US" altLang="zh-CN" dirty="0"/>
              <a:t>heuristics,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inattention.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125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E142D-6DF3-E37C-AC20-C3B9CD994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3B23AE-8BEF-FB05-8B3F-A85B430ADD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E56A1A-FA53-4B3E-ABB1-2A3140F6E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14A65-0CBA-F81C-4CBE-B2B31766BE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2320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E5C7C-C271-364C-E238-B43152E8B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EBE60-8CAE-52F7-D4B1-64961C8C1F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CC0691-5B9F-EF1B-F206-680058BE7D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3E672-21BB-3E76-DD46-4057C0548B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6359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607FA-DF05-E3B2-1EA8-EFF822617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EEE0A2-0086-890E-1E82-BD68DF847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0DBB8C-8326-3FAB-E427-2DF917CB22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827F4-4685-DD6A-43F3-DC4147E2FA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6328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863E5-4CC3-C917-C132-8F812C91A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FC8639-F678-C948-C1D5-FDA0200309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201215-B8F9-C3EC-BC71-8F757B694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4548E-EE10-4867-2535-5076A1B43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5912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57B6E-8344-99CB-0621-683B5C945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502D5D-3BD8-FFAB-F7EE-30D80E0DD7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ED7AC9-C93C-4AD7-D4DC-7A8D4D2DCB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0DD46-B5CB-3F6C-A097-5E817CE638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7003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C2014-FED7-E8CE-EA48-17C227DB8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82CED2-82EB-D32A-3A00-9E3D164F4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A13534-F910-2C66-5EFB-D2F587D436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D833D-3E3A-CA66-9668-C2B37AC4DF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D10C-0228-8847-80A0-721194C9710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760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224A6-2434-E42C-7127-AB943923CB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8A2036-1FDF-39F0-C4C2-0A9F0522E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A2002-2DE9-16E7-C598-CF6DA7320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B0FDB-8AE4-BC41-9953-1F95E158F6FB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1CD5A-AD70-83C6-7137-1F85DE227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C7760-26E1-4926-65A0-7C5992F1C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1A5F-835D-DF49-868A-DA9E72DBD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E887A-4296-75B7-F4E6-0F36CA914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F1B61-C42C-DD25-72B7-5E7B762E9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6A552-79A6-5E66-9F4F-7647FF0EB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B0FDB-8AE4-BC41-9953-1F95E158F6FB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2BCA8-EA7C-EACB-2046-51ED69987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DF681-D3C7-752D-C608-295E5FB07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1A5F-835D-DF49-868A-DA9E72DBD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740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D12FB-1E14-DE75-BCC9-E43208CF6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6FAC8-4D3E-EA39-563F-16532150B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12957-75CD-AFCC-88FD-B9E8E0FA6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B0FDB-8AE4-BC41-9953-1F95E158F6FB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38F68-2AF1-C0D9-4ED8-1BBB29935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2DA6A-841D-7D69-1FDD-37DB3BB55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1A5F-835D-DF49-868A-DA9E72DBD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63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EC9F1-C80D-0A30-1881-172DBA201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0942B-143B-8598-CC36-0F8A2F6CC7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05E39-42C6-FE60-BC8F-4AE922C2F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4FEC0-A8AE-C91E-E019-44C1956FA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B0FDB-8AE4-BC41-9953-1F95E158F6FB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4FB8A-4D4A-8F9C-855F-FBF098DF0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F5D68-22CF-1910-00CA-6714E282D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1A5F-835D-DF49-868A-DA9E72DBD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593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38609-7C27-7C7A-5B86-D13837585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E6248-9564-F01B-5645-E4A806241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1B391-3B5D-BD24-E17E-04358AAE6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E24C36-0D79-275E-1876-F164CE6DC1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A683C9-2BCF-087B-971F-16175B148A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33FAF8-A614-F916-E04E-1AB3EF89A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B0FDB-8AE4-BC41-9953-1F95E158F6FB}" type="datetimeFigureOut">
              <a:rPr lang="en-US" smtClean="0"/>
              <a:t>6/9/26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7DEC50-95BD-8194-8F4D-9301B9D95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024217-2242-910B-8957-D4F5459F9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1A5F-835D-DF49-868A-DA9E72DBD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756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8EB1D-3E05-EDA7-1543-0C41BD3E9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A0F25F-BB8D-3ECD-8D91-4130A1C46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B0FDB-8AE4-BC41-9953-1F95E158F6FB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659AA2-478A-E115-B044-CEE52B531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B5FD6A-8868-9EB2-410D-2673BD50A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1A5F-835D-DF49-868A-DA9E72DBD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842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56AC97-89E1-6088-5638-9E80654DA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B0FDB-8AE4-BC41-9953-1F95E158F6FB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6EE541-C1B9-972F-3507-4877DACDF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B1004-21BA-275D-BA09-B52FFEB34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1A5F-835D-DF49-868A-DA9E72DBD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05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E0969-E880-9E2B-4023-A4C54C20A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BDEE0-E40A-5958-F12C-5E9F9497B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92E5BA-A1B1-F532-058D-A0824D0F9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9081AE-B81C-BE95-CCF5-3811C39DC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B0FDB-8AE4-BC41-9953-1F95E158F6FB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238C5-FD97-66D2-9B75-BC142021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E62AEB-7082-DA68-4657-2063292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1A5F-835D-DF49-868A-DA9E72DBD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132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5C4F2-0CA5-BD17-535B-9B3DD39AC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B490C6-B9D5-4E1A-004E-AB293DFC4D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752BA5-30B0-E0FF-62D6-B4CE3911E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027BB-F35D-FA48-A5EB-EB029EF97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B0FDB-8AE4-BC41-9953-1F95E158F6FB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5582BC-C725-7660-74C7-761705743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CBF217-3B34-5D09-2C1D-31AF386A3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1A5F-835D-DF49-868A-DA9E72DBD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241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D5549-5363-8DAB-8DD7-09DAB58B3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A8B733-79CA-E2FB-2F79-4C884C09B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17DE5-5D7D-191D-98D9-3250BE3A9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B0FDB-8AE4-BC41-9953-1F95E158F6FB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26CF3-B4EF-3EF0-E516-2B1282A2D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8CD2D-E277-932D-3A7B-A6E985116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1A5F-835D-DF49-868A-DA9E72DBD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08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2DDE98-AD72-A598-5939-45963514CC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A842E3-7F76-04BC-0F06-F024B01AE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8E552-391E-D238-9D5A-8EA70DDE9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B0FDB-8AE4-BC41-9953-1F95E158F6FB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D8138-56CD-E517-6B28-50888100A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E8845-AB1F-965A-55AF-2FB89B8DC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1A5F-835D-DF49-868A-DA9E72DBD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98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D0448F-4927-8B50-EF0F-AE6848509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13286-8AC3-8D24-8233-C401AA76E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5B9F9-6222-DA68-01EC-8050E9640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EB0FDB-8AE4-BC41-9953-1F95E158F6FB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DFA2B-DAC9-2F03-B969-D0DCD7825F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70AE2-198D-6E9A-2641-180552091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5D1A5F-835D-DF49-868A-DA9E72DBD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453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A8651C-A7CC-23EF-9E4F-1AE5F4C386C5}"/>
              </a:ext>
            </a:extLst>
          </p:cNvPr>
          <p:cNvSpPr txBox="1"/>
          <p:nvPr/>
        </p:nvSpPr>
        <p:spPr>
          <a:xfrm>
            <a:off x="957942" y="2208291"/>
            <a:ext cx="7679795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22363A"/>
                </a:solidFill>
                <a:effectLst/>
                <a:latin typeface="Garamond" panose="02020404030301010803" pitchFamily="18" charset="0"/>
              </a:rPr>
              <a:t>A Simple Test for Decisions under Risk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E51539-34D0-8B1E-999F-13DB3EBEA377}"/>
              </a:ext>
            </a:extLst>
          </p:cNvPr>
          <p:cNvCxnSpPr>
            <a:cxnSpLocks/>
          </p:cNvCxnSpPr>
          <p:nvPr/>
        </p:nvCxnSpPr>
        <p:spPr>
          <a:xfrm>
            <a:off x="957943" y="3039286"/>
            <a:ext cx="10276115" cy="0"/>
          </a:xfrm>
          <a:prstGeom prst="line">
            <a:avLst/>
          </a:prstGeom>
          <a:ln>
            <a:solidFill>
              <a:srgbClr val="EC8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D45CE57-3072-DD27-74B2-7DF9019E78DC}"/>
              </a:ext>
            </a:extLst>
          </p:cNvPr>
          <p:cNvSpPr txBox="1"/>
          <p:nvPr/>
        </p:nvSpPr>
        <p:spPr>
          <a:xfrm>
            <a:off x="957942" y="3039286"/>
            <a:ext cx="6096000" cy="2117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2400" dirty="0">
                <a:solidFill>
                  <a:srgbClr val="22363A"/>
                </a:solidFill>
                <a:effectLst/>
                <a:latin typeface="Garamond" panose="02020404030301010803" pitchFamily="18" charset="0"/>
              </a:rPr>
              <a:t>Jianying Qiu	 </a:t>
            </a:r>
            <a:r>
              <a:rPr lang="en-US" sz="2400" b="1" dirty="0">
                <a:solidFill>
                  <a:srgbClr val="22363A"/>
                </a:solidFill>
                <a:effectLst/>
                <a:latin typeface="Garamond" panose="02020404030301010803" pitchFamily="18" charset="0"/>
              </a:rPr>
              <a:t>Jilong Wu</a:t>
            </a:r>
            <a:r>
              <a:rPr lang="en-US" sz="2400" b="1" dirty="0">
                <a:solidFill>
                  <a:srgbClr val="22363A"/>
                </a:solidFill>
                <a:latin typeface="Garamond" panose="02020404030301010803" pitchFamily="18" charset="0"/>
              </a:rPr>
              <a:t>	</a:t>
            </a:r>
            <a:r>
              <a:rPr lang="en-US" sz="2400" dirty="0">
                <a:solidFill>
                  <a:srgbClr val="22363A"/>
                </a:solidFill>
                <a:effectLst/>
                <a:latin typeface="Garamond" panose="02020404030301010803" pitchFamily="18" charset="0"/>
              </a:rPr>
              <a:t> Songfa Zhong</a:t>
            </a:r>
          </a:p>
          <a:p>
            <a:pPr>
              <a:lnSpc>
                <a:spcPct val="200000"/>
              </a:lnSpc>
              <a:buNone/>
            </a:pPr>
            <a:r>
              <a:rPr lang="en-US" sz="2400" dirty="0">
                <a:solidFill>
                  <a:srgbClr val="22363A"/>
                </a:solidFill>
                <a:effectLst/>
                <a:latin typeface="Garamond" panose="02020404030301010803" pitchFamily="18" charset="0"/>
              </a:rPr>
              <a:t>FUR 2026, Alicante</a:t>
            </a:r>
          </a:p>
          <a:p>
            <a:pPr>
              <a:lnSpc>
                <a:spcPct val="200000"/>
              </a:lnSpc>
              <a:buNone/>
            </a:pPr>
            <a:r>
              <a:rPr lang="en-US" sz="2400" dirty="0">
                <a:solidFill>
                  <a:srgbClr val="22363A"/>
                </a:solidFill>
                <a:latin typeface="Garamond" panose="02020404030301010803" pitchFamily="18" charset="0"/>
              </a:rPr>
              <a:t>10</a:t>
            </a:r>
            <a:r>
              <a:rPr lang="en-US" sz="2400" dirty="0">
                <a:solidFill>
                  <a:srgbClr val="22363A"/>
                </a:solidFill>
                <a:effectLst/>
                <a:latin typeface="Garamond" panose="02020404030301010803" pitchFamily="18" charset="0"/>
              </a:rPr>
              <a:t>th June 2026</a:t>
            </a:r>
          </a:p>
        </p:txBody>
      </p:sp>
    </p:spTree>
    <p:extLst>
      <p:ext uri="{BB962C8B-B14F-4D97-AF65-F5344CB8AC3E}">
        <p14:creationId xmlns:p14="http://schemas.microsoft.com/office/powerpoint/2010/main" val="1882678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63287-20E7-D1B5-9E70-E7C08D38A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3BE75B-00F3-CD29-8C3D-E8BB53FD779E}"/>
              </a:ext>
            </a:extLst>
          </p:cNvPr>
          <p:cNvSpPr/>
          <p:nvPr/>
        </p:nvSpPr>
        <p:spPr>
          <a:xfrm>
            <a:off x="0" y="-1"/>
            <a:ext cx="12192000" cy="687977"/>
          </a:xfrm>
          <a:prstGeom prst="rect">
            <a:avLst/>
          </a:prstGeom>
          <a:solidFill>
            <a:srgbClr val="2236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   Fourfold Pattern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18BDFC-5619-6387-23A8-A743FF78C8D2}"/>
                  </a:ext>
                </a:extLst>
              </p:cNvPr>
              <p:cNvSpPr txBox="1"/>
              <p:nvPr/>
            </p:nvSpPr>
            <p:spPr>
              <a:xfrm>
                <a:off x="294973" y="1923009"/>
                <a:ext cx="5420138" cy="36471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Garamond" panose="02020404030301010803" pitchFamily="18" charset="0"/>
                  </a:rPr>
                  <a:t>Say Subject A feels</a:t>
                </a:r>
                <a14:m>
                  <m:oMath xmlns:m="http://schemas.openxmlformats.org/officeDocument/2006/math">
                    <m:r>
                      <a:rPr lang="zh-CN" altLang="en-US" sz="2200" dirty="0">
                        <a:latin typeface="Cambria Math" panose="02040503050406030204" pitchFamily="18" charset="0"/>
                        <a:ea typeface="Latin Modern Math" panose="02000503000000000000" pitchFamily="2" charset="77"/>
                      </a:rPr>
                      <m:t> 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𝑐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∼</m:t>
                    </m:r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  <a:ea typeface="Latin Modern Math" panose="02000503000000000000" pitchFamily="2" charset="77"/>
                          </a:rPr>
                        </m:ctrlPr>
                      </m:dPr>
                      <m:e>
                        <m:r>
                          <a:rPr lang="en-US" altLang="zh-CN" sz="2200" i="1" dirty="0"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25</m:t>
                        </m:r>
                        <m:r>
                          <a:rPr lang="en-US" sz="2200" i="1" dirty="0"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, </m:t>
                        </m:r>
                        <m:r>
                          <a:rPr lang="en-US" sz="2200" i="1" dirty="0"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𝑝</m:t>
                        </m:r>
                        <m:r>
                          <a:rPr lang="en-US" sz="2200" i="1" dirty="0"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;0</m:t>
                        </m:r>
                      </m:e>
                    </m:d>
                  </m:oMath>
                </a14:m>
                <a:endParaRPr lang="en-US" sz="2200" dirty="0">
                  <a:latin typeface="Latin Modern Math" panose="02000503000000000000" pitchFamily="2" charset="77"/>
                  <a:ea typeface="Latin Modern Math" panose="02000503000000000000" pitchFamily="2" charset="77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i="1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𝑐</m:t>
                    </m:r>
                    <m:r>
                      <a:rPr lang="en-US" sz="2200" i="1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&gt;25</m:t>
                    </m:r>
                    <m:r>
                      <a:rPr lang="en-US" sz="2200" i="1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𝑝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200" dirty="0">
                    <a:latin typeface="Latin Modern Math" panose="02000503000000000000" pitchFamily="2" charset="77"/>
                    <a:ea typeface="Latin Modern Math" panose="02000503000000000000" pitchFamily="2" charset="77"/>
                  </a:rPr>
                  <a:t> </a:t>
                </a:r>
                <a:r>
                  <a:rPr lang="en-US" sz="2200" dirty="0">
                    <a:latin typeface="Garamond" panose="02020404030301010803" pitchFamily="18" charset="0"/>
                    <a:ea typeface="Latin Modern Math" panose="02000503000000000000" pitchFamily="2" charset="77"/>
                  </a:rPr>
                  <a:t>risk seeking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i="1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𝑐</m:t>
                    </m:r>
                    <m:r>
                      <a:rPr lang="en-US" sz="2200" i="1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&lt;25</m:t>
                    </m:r>
                    <m:r>
                      <a:rPr lang="en-US" sz="2200" i="1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𝑝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200" dirty="0">
                    <a:latin typeface="Latin Modern Math" panose="02000503000000000000" pitchFamily="2" charset="77"/>
                    <a:ea typeface="Latin Modern Math" panose="02000503000000000000" pitchFamily="2" charset="77"/>
                  </a:rPr>
                  <a:t> </a:t>
                </a:r>
                <a:r>
                  <a:rPr lang="en-US" sz="2200" dirty="0">
                    <a:latin typeface="Garamond" panose="02020404030301010803" pitchFamily="18" charset="0"/>
                    <a:ea typeface="Latin Modern Math" panose="02000503000000000000" pitchFamily="2" charset="77"/>
                  </a:rPr>
                  <a:t>risk averse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200" dirty="0">
                  <a:latin typeface="Latin Modern Math" panose="02000503000000000000" pitchFamily="2" charset="77"/>
                  <a:ea typeface="Latin Modern Math" panose="02000503000000000000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200" dirty="0">
                  <a:latin typeface="Latin Modern Math" panose="02000503000000000000" pitchFamily="2" charset="77"/>
                  <a:ea typeface="Latin Modern Math" panose="02000503000000000000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>
                    <a:solidFill>
                      <a:srgbClr val="FFFFFF"/>
                    </a:solidFill>
                    <a:latin typeface="Garamond" panose="02020404030301010803" pitchFamily="18" charset="0"/>
                    <a:ea typeface="Latin Modern Math" panose="02000503000000000000" pitchFamily="2" charset="77"/>
                  </a:rPr>
                  <a:t>An important finding — the fourfold pattern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200" dirty="0">
                  <a:latin typeface="Garamond" panose="02020404030301010803" pitchFamily="18" charset="0"/>
                  <a:ea typeface="Latin Modern Math" panose="02000503000000000000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200" dirty="0">
                  <a:latin typeface="Garamond" panose="02020404030301010803" pitchFamily="18" charset="0"/>
                  <a:ea typeface="Latin Modern Math" panose="02000503000000000000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>
                    <a:solidFill>
                      <a:srgbClr val="FFFFFF"/>
                    </a:solidFill>
                    <a:latin typeface="Garamond" panose="02020404030301010803" pitchFamily="18" charset="0"/>
                    <a:ea typeface="Latin Modern Math" panose="02000503000000000000" pitchFamily="2" charset="77"/>
                  </a:rPr>
                  <a:t>Sparked some important models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18BDFC-5619-6387-23A8-A743FF78C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73" y="1923009"/>
                <a:ext cx="5420138" cy="3647152"/>
              </a:xfrm>
              <a:prstGeom prst="rect">
                <a:avLst/>
              </a:prstGeom>
              <a:blipFill>
                <a:blip r:embed="rId3"/>
                <a:stretch>
                  <a:fillRect l="-1402" r="-467" b="-24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3386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E949A-4C44-C718-38C5-6965E0F4D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50087E-2EC8-FFFB-60E2-214E2471D930}"/>
              </a:ext>
            </a:extLst>
          </p:cNvPr>
          <p:cNvSpPr/>
          <p:nvPr/>
        </p:nvSpPr>
        <p:spPr>
          <a:xfrm>
            <a:off x="0" y="-1"/>
            <a:ext cx="12192000" cy="687977"/>
          </a:xfrm>
          <a:prstGeom prst="rect">
            <a:avLst/>
          </a:prstGeom>
          <a:solidFill>
            <a:srgbClr val="2236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   Fourfold Pattern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BC2F90-7DED-EE8C-BC38-5835727B8FFA}"/>
                  </a:ext>
                </a:extLst>
              </p:cNvPr>
              <p:cNvSpPr txBox="1"/>
              <p:nvPr/>
            </p:nvSpPr>
            <p:spPr>
              <a:xfrm>
                <a:off x="294973" y="1923009"/>
                <a:ext cx="5420138" cy="36471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Garamond" panose="02020404030301010803" pitchFamily="18" charset="0"/>
                  </a:rPr>
                  <a:t>Say Subject A feels</a:t>
                </a:r>
                <a14:m>
                  <m:oMath xmlns:m="http://schemas.openxmlformats.org/officeDocument/2006/math">
                    <m:r>
                      <a:rPr lang="zh-CN" altLang="en-US" sz="2200" dirty="0">
                        <a:latin typeface="Cambria Math" panose="02040503050406030204" pitchFamily="18" charset="0"/>
                        <a:ea typeface="Latin Modern Math" panose="02000503000000000000" pitchFamily="2" charset="77"/>
                      </a:rPr>
                      <m:t> 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𝑐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∼(25, 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𝑝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;0)</m:t>
                    </m:r>
                  </m:oMath>
                </a14:m>
                <a:endParaRPr lang="en-US" sz="2200" dirty="0">
                  <a:latin typeface="Latin Modern Math" panose="02000503000000000000" pitchFamily="2" charset="77"/>
                  <a:ea typeface="Latin Modern Math" panose="02000503000000000000" pitchFamily="2" charset="77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i="1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𝑐</m:t>
                    </m:r>
                    <m:r>
                      <a:rPr lang="en-US" sz="2200" i="1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&gt;25</m:t>
                    </m:r>
                    <m:r>
                      <a:rPr lang="en-US" sz="2200" i="1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𝑝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200" dirty="0">
                    <a:latin typeface="Latin Modern Math" panose="02000503000000000000" pitchFamily="2" charset="77"/>
                    <a:ea typeface="Latin Modern Math" panose="02000503000000000000" pitchFamily="2" charset="77"/>
                  </a:rPr>
                  <a:t> </a:t>
                </a:r>
                <a:r>
                  <a:rPr lang="en-US" sz="2200" dirty="0">
                    <a:latin typeface="Garamond" panose="02020404030301010803" pitchFamily="18" charset="0"/>
                    <a:ea typeface="Latin Modern Math" panose="02000503000000000000" pitchFamily="2" charset="77"/>
                  </a:rPr>
                  <a:t>risk seeking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i="1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𝑐</m:t>
                    </m:r>
                    <m:r>
                      <a:rPr lang="en-US" sz="2200" i="1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&lt;25</m:t>
                    </m:r>
                    <m:r>
                      <a:rPr lang="en-US" sz="2200" i="1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𝑝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200" dirty="0">
                    <a:latin typeface="Latin Modern Math" panose="02000503000000000000" pitchFamily="2" charset="77"/>
                    <a:ea typeface="Latin Modern Math" panose="02000503000000000000" pitchFamily="2" charset="77"/>
                  </a:rPr>
                  <a:t> </a:t>
                </a:r>
                <a:r>
                  <a:rPr lang="en-US" sz="2200" dirty="0">
                    <a:latin typeface="Garamond" panose="02020404030301010803" pitchFamily="18" charset="0"/>
                    <a:ea typeface="Latin Modern Math" panose="02000503000000000000" pitchFamily="2" charset="77"/>
                  </a:rPr>
                  <a:t>risk averse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200" dirty="0">
                  <a:latin typeface="Latin Modern Math" panose="02000503000000000000" pitchFamily="2" charset="77"/>
                  <a:ea typeface="Latin Modern Math" panose="02000503000000000000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200" dirty="0">
                  <a:latin typeface="Latin Modern Math" panose="02000503000000000000" pitchFamily="2" charset="77"/>
                  <a:ea typeface="Latin Modern Math" panose="02000503000000000000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Garamond" panose="02020404030301010803" pitchFamily="18" charset="0"/>
                    <a:ea typeface="Latin Modern Math" panose="02000503000000000000" pitchFamily="2" charset="77"/>
                  </a:rPr>
                  <a:t>An important finding — the </a:t>
                </a:r>
                <a:r>
                  <a:rPr lang="en-US" sz="2200" b="1" dirty="0">
                    <a:solidFill>
                      <a:srgbClr val="E8801D"/>
                    </a:solidFill>
                    <a:latin typeface="Garamond" panose="02020404030301010803" pitchFamily="18" charset="0"/>
                    <a:ea typeface="Latin Modern Math" panose="02000503000000000000" pitchFamily="2" charset="77"/>
                  </a:rPr>
                  <a:t>fourfold</a:t>
                </a:r>
                <a:r>
                  <a:rPr lang="en-US" sz="2200" dirty="0">
                    <a:latin typeface="Garamond" panose="02020404030301010803" pitchFamily="18" charset="0"/>
                    <a:ea typeface="Latin Modern Math" panose="02000503000000000000" pitchFamily="2" charset="77"/>
                  </a:rPr>
                  <a:t> pattern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200" dirty="0">
                  <a:latin typeface="Garamond" panose="02020404030301010803" pitchFamily="18" charset="0"/>
                  <a:ea typeface="Latin Modern Math" panose="02000503000000000000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200" dirty="0">
                  <a:latin typeface="Garamond" panose="02020404030301010803" pitchFamily="18" charset="0"/>
                  <a:ea typeface="Latin Modern Math" panose="02000503000000000000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>
                    <a:solidFill>
                      <a:srgbClr val="FFFFFF"/>
                    </a:solidFill>
                    <a:latin typeface="Garamond" panose="02020404030301010803" pitchFamily="18" charset="0"/>
                    <a:ea typeface="Latin Modern Math" panose="02000503000000000000" pitchFamily="2" charset="77"/>
                  </a:rPr>
                  <a:t>Sparked some important models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BC2F90-7DED-EE8C-BC38-5835727B8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73" y="1923009"/>
                <a:ext cx="5420138" cy="3647152"/>
              </a:xfrm>
              <a:prstGeom prst="rect">
                <a:avLst/>
              </a:prstGeom>
              <a:blipFill>
                <a:blip r:embed="rId3"/>
                <a:stretch>
                  <a:fillRect l="-1402" r="-1168" b="-24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986CFAB-DE55-967F-150A-49C37A719565}"/>
              </a:ext>
            </a:extLst>
          </p:cNvPr>
          <p:cNvSpPr txBox="1"/>
          <p:nvPr/>
        </p:nvSpPr>
        <p:spPr>
          <a:xfrm>
            <a:off x="8791234" y="6268249"/>
            <a:ext cx="3350789" cy="389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2363A"/>
                </a:solidFill>
                <a:latin typeface="Garamond" panose="02020404030301010803" pitchFamily="18" charset="0"/>
              </a:rPr>
              <a:t>(G – gains; L – losses; 10 – 10%, etc.)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1CE9CC-18AC-F7D3-B252-B24023F704B1}"/>
              </a:ext>
            </a:extLst>
          </p:cNvPr>
          <p:cNvGrpSpPr/>
          <p:nvPr/>
        </p:nvGrpSpPr>
        <p:grpSpPr>
          <a:xfrm>
            <a:off x="6096000" y="1590347"/>
            <a:ext cx="5371584" cy="4431115"/>
            <a:chOff x="6096000" y="1590347"/>
            <a:chExt cx="5371584" cy="443111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702F891-AB0A-D891-082F-0116BEF3A96F}"/>
                </a:ext>
              </a:extLst>
            </p:cNvPr>
            <p:cNvGrpSpPr/>
            <p:nvPr/>
          </p:nvGrpSpPr>
          <p:grpSpPr>
            <a:xfrm>
              <a:off x="6096000" y="1641514"/>
              <a:ext cx="5331654" cy="4379948"/>
              <a:chOff x="6096000" y="1641514"/>
              <a:chExt cx="5331654" cy="4379948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9E1CC8AE-2422-141B-C567-2B422AEAED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6096000" y="1641514"/>
                <a:ext cx="5331654" cy="4379948"/>
              </a:xfrm>
              <a:prstGeom prst="rect">
                <a:avLst/>
              </a:prstGeom>
            </p:spPr>
          </p:pic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290E267-1A67-2029-9B18-8AA33C131FD9}"/>
                  </a:ext>
                </a:extLst>
              </p:cNvPr>
              <p:cNvSpPr/>
              <p:nvPr/>
            </p:nvSpPr>
            <p:spPr>
              <a:xfrm>
                <a:off x="6928701" y="3350755"/>
                <a:ext cx="4110087" cy="79166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6372F8E-C04B-125A-D205-E86AD93CC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8701" y="3510313"/>
                <a:ext cx="4110087" cy="0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5864A7C-F643-3E72-D15A-4890FB9915A1}"/>
                </a:ext>
              </a:extLst>
            </p:cNvPr>
            <p:cNvSpPr txBox="1"/>
            <p:nvPr/>
          </p:nvSpPr>
          <p:spPr>
            <a:xfrm rot="16200000">
              <a:off x="10703914" y="2030852"/>
              <a:ext cx="120417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Risk Seeking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8029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8DFE0-165C-E413-8D42-EEEA89A56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6F02BD-BEB0-9528-C039-3D014AF140FE}"/>
              </a:ext>
            </a:extLst>
          </p:cNvPr>
          <p:cNvSpPr/>
          <p:nvPr/>
        </p:nvSpPr>
        <p:spPr>
          <a:xfrm>
            <a:off x="0" y="-1"/>
            <a:ext cx="12192000" cy="687977"/>
          </a:xfrm>
          <a:prstGeom prst="rect">
            <a:avLst/>
          </a:prstGeom>
          <a:solidFill>
            <a:srgbClr val="2236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   Fourfold Pattern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6568D6-3AF0-8C79-1A8F-0C890B4C4BF4}"/>
                  </a:ext>
                </a:extLst>
              </p:cNvPr>
              <p:cNvSpPr txBox="1"/>
              <p:nvPr/>
            </p:nvSpPr>
            <p:spPr>
              <a:xfrm>
                <a:off x="294972" y="1923009"/>
                <a:ext cx="5680525" cy="4107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Garamond" panose="02020404030301010803" pitchFamily="18" charset="0"/>
                  </a:rPr>
                  <a:t>Say Subject A feels</a:t>
                </a:r>
                <a14:m>
                  <m:oMath xmlns:m="http://schemas.openxmlformats.org/officeDocument/2006/math">
                    <m:r>
                      <a:rPr lang="zh-CN" altLang="en-US" sz="2200" dirty="0">
                        <a:latin typeface="Cambria Math" panose="02040503050406030204" pitchFamily="18" charset="0"/>
                        <a:ea typeface="Latin Modern Math" panose="02000503000000000000" pitchFamily="2" charset="77"/>
                      </a:rPr>
                      <m:t> 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𝑐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∼(25, 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𝑝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;0)</m:t>
                    </m:r>
                  </m:oMath>
                </a14:m>
                <a:endParaRPr lang="en-US" sz="2200" dirty="0">
                  <a:latin typeface="Latin Modern Math" panose="02000503000000000000" pitchFamily="2" charset="77"/>
                  <a:ea typeface="Latin Modern Math" panose="02000503000000000000" pitchFamily="2" charset="77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i="1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𝑐</m:t>
                    </m:r>
                    <m:r>
                      <a:rPr lang="en-US" sz="2200" i="1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&gt;25</m:t>
                    </m:r>
                    <m:r>
                      <a:rPr lang="en-US" sz="2200" i="1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𝑝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200" dirty="0">
                    <a:latin typeface="Latin Modern Math" panose="02000503000000000000" pitchFamily="2" charset="77"/>
                    <a:ea typeface="Latin Modern Math" panose="02000503000000000000" pitchFamily="2" charset="77"/>
                  </a:rPr>
                  <a:t> </a:t>
                </a:r>
                <a:r>
                  <a:rPr lang="en-US" sz="2200" dirty="0">
                    <a:latin typeface="Garamond" panose="02020404030301010803" pitchFamily="18" charset="0"/>
                    <a:ea typeface="Latin Modern Math" panose="02000503000000000000" pitchFamily="2" charset="77"/>
                  </a:rPr>
                  <a:t>risk seeking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i="1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𝑐</m:t>
                    </m:r>
                    <m:r>
                      <a:rPr lang="en-US" sz="2200" i="1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&lt;25</m:t>
                    </m:r>
                    <m:r>
                      <a:rPr lang="en-US" sz="2200" i="1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𝑝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200" dirty="0">
                    <a:latin typeface="Latin Modern Math" panose="02000503000000000000" pitchFamily="2" charset="77"/>
                    <a:ea typeface="Latin Modern Math" panose="02000503000000000000" pitchFamily="2" charset="77"/>
                  </a:rPr>
                  <a:t> </a:t>
                </a:r>
                <a:r>
                  <a:rPr lang="en-US" sz="2200" dirty="0">
                    <a:latin typeface="Garamond" panose="02020404030301010803" pitchFamily="18" charset="0"/>
                    <a:ea typeface="Latin Modern Math" panose="02000503000000000000" pitchFamily="2" charset="77"/>
                  </a:rPr>
                  <a:t>risk averse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200" dirty="0">
                  <a:latin typeface="Latin Modern Math" panose="02000503000000000000" pitchFamily="2" charset="77"/>
                  <a:ea typeface="Latin Modern Math" panose="02000503000000000000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200" dirty="0">
                  <a:latin typeface="Latin Modern Math" panose="02000503000000000000" pitchFamily="2" charset="77"/>
                  <a:ea typeface="Latin Modern Math" panose="02000503000000000000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Garamond" panose="02020404030301010803" pitchFamily="18" charset="0"/>
                    <a:ea typeface="Latin Modern Math" panose="02000503000000000000" pitchFamily="2" charset="77"/>
                  </a:rPr>
                  <a:t>An important finding — the </a:t>
                </a:r>
                <a:r>
                  <a:rPr lang="en-US" sz="2200" b="1" dirty="0">
                    <a:solidFill>
                      <a:srgbClr val="E8801D"/>
                    </a:solidFill>
                    <a:latin typeface="Garamond" panose="02020404030301010803" pitchFamily="18" charset="0"/>
                    <a:ea typeface="Latin Modern Math" panose="02000503000000000000" pitchFamily="2" charset="77"/>
                  </a:rPr>
                  <a:t>fourfold</a:t>
                </a:r>
                <a:r>
                  <a:rPr lang="en-US" sz="2200" dirty="0">
                    <a:latin typeface="Garamond" panose="02020404030301010803" pitchFamily="18" charset="0"/>
                    <a:ea typeface="Latin Modern Math" panose="02000503000000000000" pitchFamily="2" charset="77"/>
                  </a:rPr>
                  <a:t> pattern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latin typeface="Garamond" panose="02020404030301010803" pitchFamily="18" charset="0"/>
                    <a:ea typeface="Latin Modern Math" panose="02000503000000000000" pitchFamily="2" charset="77"/>
                  </a:rPr>
                  <a:t>motivates</a:t>
                </a:r>
                <a:r>
                  <a:rPr lang="en-US" sz="2200" dirty="0">
                    <a:latin typeface="Garamond" panose="02020404030301010803" pitchFamily="18" charset="0"/>
                    <a:ea typeface="Latin Modern Math" panose="02000503000000000000" pitchFamily="2" charset="77"/>
                  </a:rPr>
                  <a:t> important models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solidFill>
                      <a:srgbClr val="EC811A"/>
                    </a:solidFill>
                    <a:latin typeface="Garamond" panose="02020404030301010803" pitchFamily="18" charset="0"/>
                    <a:ea typeface="Latin Modern Math" panose="02000503000000000000" pitchFamily="2" charset="77"/>
                    <a:cs typeface="Times New Roman" panose="02020603050405020304" pitchFamily="18" charset="0"/>
                  </a:rPr>
                  <a:t>“</a:t>
                </a:r>
                <a:r>
                  <a:rPr lang="en-US" sz="2200" dirty="0">
                    <a:solidFill>
                      <a:srgbClr val="EC811A"/>
                    </a:solidFill>
                    <a:latin typeface="Garamond" panose="02020404030301010803" pitchFamily="18" charset="0"/>
                    <a:ea typeface="Latin Modern Math" panose="02000503000000000000" pitchFamily="2" charset="77"/>
                    <a:cs typeface="Times New Roman" panose="02020603050405020304" pitchFamily="18" charset="0"/>
                  </a:rPr>
                  <a:t>critical empirical regularities that any good descriptive model should accommodate</a:t>
                </a:r>
                <a:r>
                  <a:rPr lang="en-US" altLang="zh-CN" sz="2200" dirty="0">
                    <a:solidFill>
                      <a:srgbClr val="EC811A"/>
                    </a:solidFill>
                    <a:latin typeface="Garamond" panose="02020404030301010803" pitchFamily="18" charset="0"/>
                    <a:ea typeface="Latin Modern Math" panose="02000503000000000000" pitchFamily="2" charset="77"/>
                    <a:cs typeface="Times New Roman" panose="02020603050405020304" pitchFamily="18" charset="0"/>
                  </a:rPr>
                  <a:t>”</a:t>
                </a:r>
                <a:endParaRPr lang="en-US" sz="2200" dirty="0">
                  <a:solidFill>
                    <a:srgbClr val="EC811A"/>
                  </a:solidFill>
                  <a:latin typeface="Garamond" panose="02020404030301010803" pitchFamily="18" charset="0"/>
                  <a:ea typeface="Latin Modern Math" panose="02000503000000000000" pitchFamily="2" charset="7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6568D6-3AF0-8C79-1A8F-0C890B4C4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72" y="1923009"/>
                <a:ext cx="5680525" cy="4107215"/>
              </a:xfrm>
              <a:prstGeom prst="rect">
                <a:avLst/>
              </a:prstGeom>
              <a:blipFill>
                <a:blip r:embed="rId3"/>
                <a:stretch>
                  <a:fillRect l="-1339" r="-1563" b="-21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C4B1D175-7157-DF24-5852-3645DF67A3A3}"/>
              </a:ext>
            </a:extLst>
          </p:cNvPr>
          <p:cNvGrpSpPr/>
          <p:nvPr/>
        </p:nvGrpSpPr>
        <p:grpSpPr>
          <a:xfrm>
            <a:off x="6096000" y="1641514"/>
            <a:ext cx="5331654" cy="4379948"/>
            <a:chOff x="6096000" y="1641514"/>
            <a:chExt cx="5331654" cy="437994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E05E2D4-8781-84B1-24A2-10C7A593C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096000" y="1641514"/>
              <a:ext cx="5331654" cy="4379948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CF5B7D0-57B3-28E4-A368-449608710AD1}"/>
                </a:ext>
              </a:extLst>
            </p:cNvPr>
            <p:cNvSpPr/>
            <p:nvPr/>
          </p:nvSpPr>
          <p:spPr>
            <a:xfrm>
              <a:off x="6928701" y="3350755"/>
              <a:ext cx="4110087" cy="79166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9E41E03-A7B7-3917-3D51-895DC6E01BA2}"/>
                </a:ext>
              </a:extLst>
            </p:cNvPr>
            <p:cNvCxnSpPr>
              <a:cxnSpLocks/>
            </p:cNvCxnSpPr>
            <p:nvPr/>
          </p:nvCxnSpPr>
          <p:spPr>
            <a:xfrm>
              <a:off x="6928701" y="3510313"/>
              <a:ext cx="4110087" cy="0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6C4F617-46F9-562A-A0EC-BABA1C662C02}"/>
              </a:ext>
            </a:extLst>
          </p:cNvPr>
          <p:cNvSpPr txBox="1"/>
          <p:nvPr/>
        </p:nvSpPr>
        <p:spPr>
          <a:xfrm>
            <a:off x="8791234" y="6268249"/>
            <a:ext cx="3350789" cy="389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2363A"/>
                </a:solidFill>
                <a:latin typeface="Garamond" panose="02020404030301010803" pitchFamily="18" charset="0"/>
              </a:rPr>
              <a:t>(G – gains; L – losses; 10 – 10%, etc.)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FE5A05-17F5-79F8-EC68-A36A2444A876}"/>
              </a:ext>
            </a:extLst>
          </p:cNvPr>
          <p:cNvSpPr txBox="1"/>
          <p:nvPr/>
        </p:nvSpPr>
        <p:spPr>
          <a:xfrm rot="16200000">
            <a:off x="10703914" y="2030852"/>
            <a:ext cx="120417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Risk Seeking</a:t>
            </a:r>
          </a:p>
        </p:txBody>
      </p:sp>
    </p:spTree>
    <p:extLst>
      <p:ext uri="{BB962C8B-B14F-4D97-AF65-F5344CB8AC3E}">
        <p14:creationId xmlns:p14="http://schemas.microsoft.com/office/powerpoint/2010/main" val="2220669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B103D-5BAE-8C38-9123-455B08961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9F64C7-0D2F-B136-205B-5C28155D82B5}"/>
              </a:ext>
            </a:extLst>
          </p:cNvPr>
          <p:cNvSpPr/>
          <p:nvPr/>
        </p:nvSpPr>
        <p:spPr>
          <a:xfrm>
            <a:off x="0" y="-1"/>
            <a:ext cx="12192000" cy="687977"/>
          </a:xfrm>
          <a:prstGeom prst="rect">
            <a:avLst/>
          </a:prstGeom>
          <a:solidFill>
            <a:srgbClr val="2236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   A Simple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9146B6-A396-C980-17DE-EDB00B4F73E7}"/>
                  </a:ext>
                </a:extLst>
              </p:cNvPr>
              <p:cNvSpPr txBox="1"/>
              <p:nvPr/>
            </p:nvSpPr>
            <p:spPr>
              <a:xfrm>
                <a:off x="2182368" y="1336630"/>
                <a:ext cx="7827264" cy="5122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solidFill>
                      <a:schemeClr val="accent2"/>
                    </a:solidFill>
                    <a:latin typeface="Garamond" panose="02020404030301010803" pitchFamily="18" charset="0"/>
                  </a:rPr>
                  <a:t>An</a:t>
                </a:r>
                <a:r>
                  <a:rPr lang="zh-CN" altLang="en-US" sz="2200" dirty="0">
                    <a:solidFill>
                      <a:schemeClr val="accent2"/>
                    </a:solidFill>
                    <a:latin typeface="Garamond" panose="02020404030301010803" pitchFamily="18" charset="0"/>
                  </a:rPr>
                  <a:t> </a:t>
                </a:r>
                <a:r>
                  <a:rPr lang="en-US" altLang="zh-CN" sz="2200" dirty="0">
                    <a:solidFill>
                      <a:schemeClr val="accent2"/>
                    </a:solidFill>
                    <a:latin typeface="Garamond" panose="02020404030301010803" pitchFamily="18" charset="0"/>
                  </a:rPr>
                  <a:t>observation</a:t>
                </a:r>
                <a:r>
                  <a:rPr lang="en-US" altLang="zh-CN" sz="2200" dirty="0">
                    <a:latin typeface="Garamond" panose="02020404030301010803" pitchFamily="18" charset="0"/>
                  </a:rPr>
                  <a:t>:</a:t>
                </a:r>
                <a:r>
                  <a:rPr lang="zh-CN" altLang="en-US" sz="2200" dirty="0">
                    <a:latin typeface="Garamond" panose="02020404030301010803" pitchFamily="18" charset="0"/>
                  </a:rPr>
                  <a:t> </a:t>
                </a:r>
                <a:r>
                  <a:rPr lang="en-US" altLang="zh-CN" sz="2200" dirty="0">
                    <a:latin typeface="Garamond" panose="02020404030301010803" pitchFamily="18" charset="0"/>
                  </a:rPr>
                  <a:t>m</a:t>
                </a:r>
                <a:r>
                  <a:rPr lang="en-US" sz="2200" dirty="0">
                    <a:latin typeface="Garamond" panose="02020404030301010803" pitchFamily="18" charset="0"/>
                  </a:rPr>
                  <a:t>ost models respect stochastic dominance: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200" dirty="0">
                  <a:latin typeface="Garamond" panose="02020404030301010803" pitchFamily="18" charset="0"/>
                  <a:ea typeface="Latin Modern Math" panose="02000503000000000000" pitchFamily="2" charset="7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Garamond" panose="02020404030301010803" pitchFamily="18" charset="0"/>
                  </a:rPr>
                  <a:t>(Almost) degenerate lottery evaluation (ADLE) test: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  <a:ea typeface="Latin Modern Math" panose="02000503000000000000" pitchFamily="2" charset="77"/>
                          </a:rPr>
                        </m:ctrlPr>
                      </m:dPr>
                      <m:e>
                        <m:r>
                          <a:rPr lang="en-US" sz="2200" i="1" dirty="0"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𝑥</m:t>
                        </m:r>
                        <m:r>
                          <a:rPr lang="en-US" sz="2200" i="1" dirty="0"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, </m:t>
                        </m:r>
                        <m:r>
                          <a:rPr lang="en-US" sz="2200" i="1" dirty="0"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𝑝</m:t>
                        </m:r>
                        <m:r>
                          <a:rPr lang="en-US" sz="2200" i="1" dirty="0"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;</m:t>
                        </m:r>
                        <m:r>
                          <a:rPr lang="en-US" sz="2200" i="1" dirty="0"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𝑥</m:t>
                        </m:r>
                      </m:e>
                    </m:d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∼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𝑥</m:t>
                    </m:r>
                  </m:oMath>
                </a14:m>
                <a:endParaRPr lang="en-US" sz="2200" dirty="0">
                  <a:latin typeface="Latin Modern Math" panose="02000503000000000000" pitchFamily="2" charset="77"/>
                  <a:ea typeface="Latin Modern Math" panose="02000503000000000000" pitchFamily="2" charset="77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𝑥</m:t>
                    </m:r>
                    <m:r>
                      <a:rPr lang="en-US" sz="2200" b="0" i="1" dirty="0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−1&lt;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Latin Modern Math" panose="02000503000000000000" pitchFamily="2" charset="77"/>
                      </a:rPr>
                      <m:t>(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𝑥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+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𝜖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, 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𝑝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;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𝑥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−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𝜖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Latin Modern Math" panose="02000503000000000000" pitchFamily="2" charset="77"/>
                      </a:rPr>
                      <m:t>)</m:t>
                    </m:r>
                    <m:r>
                      <a:rPr lang="en-US" sz="2200" b="0" i="1" dirty="0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&lt;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𝑥</m:t>
                    </m:r>
                    <m:r>
                      <a:rPr lang="en-US" sz="2200" b="0" i="1" dirty="0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+1, </m:t>
                    </m:r>
                    <m:r>
                      <a:rPr lang="en-US" sz="2200" b="0" i="1" dirty="0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𝜖</m:t>
                    </m:r>
                    <m:r>
                      <a:rPr lang="en-US" sz="2200" b="0" i="1" dirty="0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≪1</m:t>
                    </m:r>
                  </m:oMath>
                </a14:m>
                <a:endParaRPr lang="en-US" sz="2200" dirty="0">
                  <a:latin typeface="Latin Modern Math" panose="02000503000000000000" pitchFamily="2" charset="77"/>
                  <a:ea typeface="Latin Modern Math" panose="02000503000000000000" pitchFamily="2" charset="77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200" dirty="0">
                  <a:latin typeface="Garamond" panose="02020404030301010803" pitchFamily="18" charset="0"/>
                  <a:ea typeface="Latin Modern Math" panose="02000503000000000000" pitchFamily="2" charset="7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solidFill>
                      <a:schemeClr val="bg1"/>
                    </a:solidFill>
                    <a:latin typeface="Garamond" panose="02020404030301010803" pitchFamily="18" charset="0"/>
                    <a:ea typeface="Latin Modern Math" panose="02000503000000000000" pitchFamily="2" charset="77"/>
                  </a:rPr>
                  <a:t>Can DMs pass this simple test?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200" dirty="0">
                  <a:solidFill>
                    <a:schemeClr val="bg1"/>
                  </a:solidFill>
                  <a:latin typeface="Garamond" panose="02020404030301010803" pitchFamily="18" charset="0"/>
                  <a:ea typeface="Latin Modern Math" panose="02000503000000000000" pitchFamily="2" charset="7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solidFill>
                      <a:schemeClr val="bg1"/>
                    </a:solidFill>
                    <a:latin typeface="Garamond" panose="02020404030301010803" pitchFamily="18" charset="0"/>
                    <a:ea typeface="Latin Modern Math" panose="02000503000000000000" pitchFamily="2" charset="77"/>
                  </a:rPr>
                  <a:t>If not, does this test failure reveal any behavioral foundation of risk attitudes?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9146B6-A396-C980-17DE-EDB00B4F7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2368" y="1336630"/>
                <a:ext cx="7827264" cy="5122877"/>
              </a:xfrm>
              <a:prstGeom prst="rect">
                <a:avLst/>
              </a:prstGeom>
              <a:blipFill>
                <a:blip r:embed="rId3"/>
                <a:stretch>
                  <a:fillRect l="-809" r="-1780" b="-1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2502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B00B8-268C-71D0-050C-AF6D12E6B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1442239-33D7-AF0D-12C7-0DC0C502AE3E}"/>
              </a:ext>
            </a:extLst>
          </p:cNvPr>
          <p:cNvSpPr/>
          <p:nvPr/>
        </p:nvSpPr>
        <p:spPr>
          <a:xfrm>
            <a:off x="0" y="-1"/>
            <a:ext cx="12192000" cy="687977"/>
          </a:xfrm>
          <a:prstGeom prst="rect">
            <a:avLst/>
          </a:prstGeom>
          <a:solidFill>
            <a:srgbClr val="2236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   A Simple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1AEF7C-A225-38F5-235B-800A2998AB91}"/>
                  </a:ext>
                </a:extLst>
              </p:cNvPr>
              <p:cNvSpPr txBox="1"/>
              <p:nvPr/>
            </p:nvSpPr>
            <p:spPr>
              <a:xfrm>
                <a:off x="2183802" y="1336630"/>
                <a:ext cx="7827264" cy="5122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solidFill>
                      <a:schemeClr val="accent2"/>
                    </a:solidFill>
                    <a:latin typeface="Garamond" panose="02020404030301010803" pitchFamily="18" charset="0"/>
                  </a:rPr>
                  <a:t>An</a:t>
                </a:r>
                <a:r>
                  <a:rPr lang="zh-CN" altLang="en-US" sz="2200" dirty="0">
                    <a:solidFill>
                      <a:schemeClr val="accent2"/>
                    </a:solidFill>
                    <a:latin typeface="Garamond" panose="02020404030301010803" pitchFamily="18" charset="0"/>
                  </a:rPr>
                  <a:t> </a:t>
                </a:r>
                <a:r>
                  <a:rPr lang="en-US" altLang="zh-CN" sz="2200" dirty="0">
                    <a:solidFill>
                      <a:schemeClr val="accent2"/>
                    </a:solidFill>
                    <a:latin typeface="Garamond" panose="02020404030301010803" pitchFamily="18" charset="0"/>
                  </a:rPr>
                  <a:t>observation</a:t>
                </a:r>
                <a:r>
                  <a:rPr lang="en-US" altLang="zh-CN" sz="2200" dirty="0">
                    <a:latin typeface="Garamond" panose="02020404030301010803" pitchFamily="18" charset="0"/>
                  </a:rPr>
                  <a:t>:</a:t>
                </a:r>
                <a:r>
                  <a:rPr lang="zh-CN" altLang="en-US" sz="2200" dirty="0">
                    <a:latin typeface="Garamond" panose="02020404030301010803" pitchFamily="18" charset="0"/>
                  </a:rPr>
                  <a:t> </a:t>
                </a:r>
                <a:r>
                  <a:rPr lang="en-US" altLang="zh-CN" sz="2200" dirty="0">
                    <a:latin typeface="Garamond" panose="02020404030301010803" pitchFamily="18" charset="0"/>
                  </a:rPr>
                  <a:t>m</a:t>
                </a:r>
                <a:r>
                  <a:rPr lang="en-US" sz="2200" dirty="0">
                    <a:latin typeface="Garamond" panose="02020404030301010803" pitchFamily="18" charset="0"/>
                  </a:rPr>
                  <a:t>ost models res</a:t>
                </a:r>
                <a:r>
                  <a:rPr lang="en-US" altLang="zh-CN" sz="2200" dirty="0">
                    <a:latin typeface="Garamond" panose="02020404030301010803" pitchFamily="18" charset="0"/>
                  </a:rPr>
                  <a:t>pect</a:t>
                </a:r>
                <a:r>
                  <a:rPr lang="en-US" sz="2200" dirty="0">
                    <a:latin typeface="Garamond" panose="02020404030301010803" pitchFamily="18" charset="0"/>
                  </a:rPr>
                  <a:t> stochastic dominance: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200" dirty="0">
                  <a:latin typeface="Garamond" panose="02020404030301010803" pitchFamily="18" charset="0"/>
                  <a:ea typeface="Latin Modern Math" panose="02000503000000000000" pitchFamily="2" charset="7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Garamond" panose="02020404030301010803" pitchFamily="18" charset="0"/>
                  </a:rPr>
                  <a:t>(Almost) degenerate lottery evaluation (ADLE) test: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  <a:ea typeface="Latin Modern Math" panose="02000503000000000000" pitchFamily="2" charset="77"/>
                          </a:rPr>
                        </m:ctrlPr>
                      </m:dPr>
                      <m:e>
                        <m:r>
                          <a:rPr lang="en-US" sz="2200" i="1" dirty="0"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𝑥</m:t>
                        </m:r>
                        <m:r>
                          <a:rPr lang="en-US" sz="2200" i="1" dirty="0"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, </m:t>
                        </m:r>
                        <m:r>
                          <a:rPr lang="en-US" sz="2200" i="1" dirty="0"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𝑝</m:t>
                        </m:r>
                        <m:r>
                          <a:rPr lang="en-US" sz="2200" i="1" dirty="0"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;</m:t>
                        </m:r>
                        <m:r>
                          <a:rPr lang="en-US" sz="2200" i="1" dirty="0"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𝑥</m:t>
                        </m:r>
                      </m:e>
                    </m:d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∼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𝑥</m:t>
                    </m:r>
                  </m:oMath>
                </a14:m>
                <a:endParaRPr lang="en-US" sz="2200" dirty="0">
                  <a:latin typeface="Latin Modern Math" panose="02000503000000000000" pitchFamily="2" charset="77"/>
                  <a:ea typeface="Latin Modern Math" panose="02000503000000000000" pitchFamily="2" charset="77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𝑥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−1&lt;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Latin Modern Math" panose="02000503000000000000" pitchFamily="2" charset="77"/>
                      </a:rPr>
                      <m:t>(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𝑥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+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𝜖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, 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𝑝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;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𝑥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−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𝜖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Latin Modern Math" panose="02000503000000000000" pitchFamily="2" charset="77"/>
                      </a:rPr>
                      <m:t>)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&lt;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𝑥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+1, 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𝜖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≪1</m:t>
                    </m:r>
                  </m:oMath>
                </a14:m>
                <a:endParaRPr lang="en-US" sz="2200" dirty="0">
                  <a:latin typeface="Latin Modern Math" panose="02000503000000000000" pitchFamily="2" charset="77"/>
                  <a:ea typeface="Latin Modern Math" panose="02000503000000000000" pitchFamily="2" charset="77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200" dirty="0">
                  <a:latin typeface="Garamond" panose="02020404030301010803" pitchFamily="18" charset="0"/>
                  <a:ea typeface="Latin Modern Math" panose="02000503000000000000" pitchFamily="2" charset="7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solidFill>
                      <a:srgbClr val="E8801D"/>
                    </a:solidFill>
                    <a:latin typeface="Garamond" panose="02020404030301010803" pitchFamily="18" charset="0"/>
                    <a:ea typeface="Latin Modern Math" panose="02000503000000000000" pitchFamily="2" charset="77"/>
                  </a:rPr>
                  <a:t>Can DMs pass this simple test?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200" dirty="0">
                  <a:solidFill>
                    <a:srgbClr val="E8801D"/>
                  </a:solidFill>
                  <a:latin typeface="Garamond" panose="02020404030301010803" pitchFamily="18" charset="0"/>
                  <a:ea typeface="Latin Modern Math" panose="02000503000000000000" pitchFamily="2" charset="7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solidFill>
                      <a:srgbClr val="E8801D"/>
                    </a:solidFill>
                    <a:latin typeface="Garamond" panose="02020404030301010803" pitchFamily="18" charset="0"/>
                    <a:ea typeface="Latin Modern Math" panose="02000503000000000000" pitchFamily="2" charset="77"/>
                  </a:rPr>
                  <a:t>If not, does this test failure reveal any behavioral foundation of risk attitudes (rolling in the deep)?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1AEF7C-A225-38F5-235B-800A2998A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802" y="1336630"/>
                <a:ext cx="7827264" cy="5122877"/>
              </a:xfrm>
              <a:prstGeom prst="rect">
                <a:avLst/>
              </a:prstGeom>
              <a:blipFill>
                <a:blip r:embed="rId3"/>
                <a:stretch>
                  <a:fillRect l="-809" r="-1780" b="-1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4655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FD6F0-8559-6AE8-9B73-78AAA4AB5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718EB66-1251-AB08-A2FB-3B24FCE3D4EC}"/>
              </a:ext>
            </a:extLst>
          </p:cNvPr>
          <p:cNvCxnSpPr>
            <a:cxnSpLocks/>
          </p:cNvCxnSpPr>
          <p:nvPr/>
        </p:nvCxnSpPr>
        <p:spPr>
          <a:xfrm>
            <a:off x="1524000" y="3429000"/>
            <a:ext cx="9144000" cy="0"/>
          </a:xfrm>
          <a:prstGeom prst="line">
            <a:avLst/>
          </a:prstGeom>
          <a:ln w="28575">
            <a:solidFill>
              <a:srgbClr val="EC8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2B0C0BE-E722-82F7-BA6A-BD8D4E47AFB3}"/>
              </a:ext>
            </a:extLst>
          </p:cNvPr>
          <p:cNvCxnSpPr>
            <a:cxnSpLocks/>
          </p:cNvCxnSpPr>
          <p:nvPr/>
        </p:nvCxnSpPr>
        <p:spPr>
          <a:xfrm>
            <a:off x="3352800" y="3429000"/>
            <a:ext cx="7315200" cy="0"/>
          </a:xfrm>
          <a:prstGeom prst="line">
            <a:avLst/>
          </a:prstGeom>
          <a:ln w="28575">
            <a:solidFill>
              <a:srgbClr val="D6C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CFD4F3D-3B41-7408-123E-8246FC06EE7D}"/>
              </a:ext>
            </a:extLst>
          </p:cNvPr>
          <p:cNvSpPr txBox="1"/>
          <p:nvPr/>
        </p:nvSpPr>
        <p:spPr>
          <a:xfrm>
            <a:off x="1524000" y="2782669"/>
            <a:ext cx="204062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22363A"/>
                </a:solidFill>
                <a:effectLst/>
                <a:latin typeface="Garamond" panose="02020404030301010803" pitchFamily="18" charset="0"/>
              </a:rPr>
              <a:t>Experiment 1</a:t>
            </a:r>
          </a:p>
        </p:txBody>
      </p:sp>
    </p:spTree>
    <p:extLst>
      <p:ext uri="{BB962C8B-B14F-4D97-AF65-F5344CB8AC3E}">
        <p14:creationId xmlns:p14="http://schemas.microsoft.com/office/powerpoint/2010/main" val="120858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E06BC-A778-27A2-E754-F5D88E8BD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FF6AC8-EBFC-D53B-563E-04097C407C95}"/>
              </a:ext>
            </a:extLst>
          </p:cNvPr>
          <p:cNvSpPr/>
          <p:nvPr/>
        </p:nvSpPr>
        <p:spPr>
          <a:xfrm>
            <a:off x="0" y="-1"/>
            <a:ext cx="12192000" cy="687977"/>
          </a:xfrm>
          <a:prstGeom prst="rect">
            <a:avLst/>
          </a:prstGeom>
          <a:solidFill>
            <a:srgbClr val="2236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   Experiment 1: Designs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B96E13-5BCD-9759-3440-D7987A4F7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296" y="1137067"/>
            <a:ext cx="6400800" cy="5052753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BA789C-305B-DE9F-C0F7-C9CEE06ADC6E}"/>
              </a:ext>
            </a:extLst>
          </p:cNvPr>
          <p:cNvSpPr txBox="1"/>
          <p:nvPr/>
        </p:nvSpPr>
        <p:spPr>
          <a:xfrm>
            <a:off x="7870094" y="6316227"/>
            <a:ext cx="1633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22363A"/>
                </a:solidFill>
                <a:latin typeface="Garamond" panose="02020404030301010803" pitchFamily="18" charset="0"/>
              </a:rPr>
              <a:t>( risky lottery 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2D8341-FE7B-D301-C19B-3681FB9A740B}"/>
                  </a:ext>
                </a:extLst>
              </p:cNvPr>
              <p:cNvSpPr txBox="1"/>
              <p:nvPr/>
            </p:nvSpPr>
            <p:spPr>
              <a:xfrm>
                <a:off x="293144" y="1391546"/>
                <a:ext cx="5147535" cy="51093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b="1" dirty="0">
                    <a:latin typeface="Garamond" panose="02020404030301010803" pitchFamily="18" charset="0"/>
                  </a:rPr>
                  <a:t>5 regular risky lotteries</a:t>
                </a:r>
                <a:r>
                  <a:rPr lang="en-US" sz="2200" dirty="0">
                    <a:latin typeface="Garamond" panose="02020404030301010803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(25, 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𝑝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;0)</m:t>
                    </m:r>
                  </m:oMath>
                </a14:m>
                <a:endParaRPr lang="en-US" sz="2200" i="1" dirty="0">
                  <a:latin typeface="Latin Modern Math" panose="02000503000000000000" pitchFamily="2" charset="77"/>
                  <a:ea typeface="Latin Modern Math" panose="02000503000000000000" pitchFamily="2" charset="77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𝑝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=0.1, 0.25, 0.5, 0.75, 0.9</m:t>
                    </m:r>
                  </m:oMath>
                </a14:m>
                <a:r>
                  <a:rPr lang="zh-CN" altLang="en-US" sz="2200" i="1" dirty="0">
                    <a:latin typeface="Latin Modern Math" panose="02000503000000000000" pitchFamily="2" charset="77"/>
                    <a:ea typeface="Latin Modern Math" panose="02000503000000000000" pitchFamily="2" charset="77"/>
                  </a:rPr>
                  <a:t> </a:t>
                </a:r>
                <a:r>
                  <a:rPr lang="en-US" altLang="zh-CN" sz="2200" dirty="0">
                    <a:latin typeface="Latin Modern Math" panose="02000503000000000000" pitchFamily="2" charset="77"/>
                    <a:ea typeface="Latin Modern Math" panose="02000503000000000000" pitchFamily="2" charset="77"/>
                  </a:rPr>
                  <a:t>(</a:t>
                </a:r>
                <a:r>
                  <a:rPr lang="en-US" altLang="zh-CN" sz="2200" b="1" dirty="0">
                    <a:solidFill>
                      <a:srgbClr val="EC811A"/>
                    </a:solidFill>
                    <a:latin typeface="Latin Modern Math" panose="02000503000000000000" pitchFamily="2" charset="77"/>
                    <a:ea typeface="Latin Modern Math" panose="02000503000000000000" pitchFamily="2" charset="77"/>
                  </a:rPr>
                  <a:t>Box</a:t>
                </a:r>
                <a:r>
                  <a:rPr lang="en-US" altLang="zh-CN" sz="2200" dirty="0">
                    <a:latin typeface="Latin Modern Math" panose="02000503000000000000" pitchFamily="2" charset="77"/>
                    <a:ea typeface="Latin Modern Math" panose="02000503000000000000" pitchFamily="2" charset="77"/>
                  </a:rPr>
                  <a:t>)</a:t>
                </a:r>
                <a:endParaRPr lang="en-US" sz="2200" dirty="0">
                  <a:latin typeface="Latin Modern Math" panose="02000503000000000000" pitchFamily="2" charset="77"/>
                  <a:ea typeface="Latin Modern Math" panose="02000503000000000000" pitchFamily="2" charset="7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200" dirty="0">
                  <a:latin typeface="Garamond" panose="02020404030301010803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b="1" dirty="0">
                    <a:solidFill>
                      <a:srgbClr val="FFFFFF"/>
                    </a:solidFill>
                    <a:latin typeface="Garamond" panose="02020404030301010803" pitchFamily="18" charset="0"/>
                  </a:rPr>
                  <a:t>4 test lotteries</a:t>
                </a:r>
                <a:r>
                  <a:rPr lang="en-US" sz="2200" dirty="0">
                    <a:solidFill>
                      <a:srgbClr val="FFFFFF"/>
                    </a:solidFill>
                    <a:latin typeface="Garamond" panose="02020404030301010803" pitchFamily="18" charset="0"/>
                  </a:rPr>
                  <a:t>: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FFFFFF"/>
                        </a:solidFill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(2.3, 0.1; 2.3) </m:t>
                    </m:r>
                  </m:oMath>
                </a14:m>
                <a:r>
                  <a:rPr lang="en-US" sz="2200" dirty="0">
                    <a:solidFill>
                      <a:srgbClr val="FFFFFF"/>
                    </a:solidFill>
                    <a:latin typeface="Garamond" panose="02020404030301010803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FFFFFF"/>
                        </a:solidFill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(22.7, 0.9; 22.7)</m:t>
                    </m:r>
                  </m:oMath>
                </a14:m>
                <a:endParaRPr lang="en-US" sz="2200" i="1" dirty="0">
                  <a:solidFill>
                    <a:srgbClr val="FFFFFF"/>
                  </a:solidFill>
                  <a:latin typeface="Latin Modern Math" panose="02000503000000000000" pitchFamily="2" charset="77"/>
                  <a:ea typeface="Latin Modern Math" panose="02000503000000000000" pitchFamily="2" charset="77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FFFFFF"/>
                        </a:solidFill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(2.9, 0.1; 2.1) </m:t>
                    </m:r>
                  </m:oMath>
                </a14:m>
                <a:r>
                  <a:rPr lang="en-US" sz="2200" dirty="0">
                    <a:solidFill>
                      <a:srgbClr val="FFFFFF"/>
                    </a:solidFill>
                    <a:latin typeface="Garamond" panose="02020404030301010803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FFFFFF"/>
                        </a:solidFill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(22.9, 0.9; 22.1)</m:t>
                    </m:r>
                  </m:oMath>
                </a14:m>
                <a:endParaRPr lang="en-US" sz="2200" i="1" dirty="0">
                  <a:solidFill>
                    <a:srgbClr val="FFFFFF"/>
                  </a:solidFill>
                  <a:latin typeface="Garamond" panose="02020404030301010803" pitchFamily="18" charset="0"/>
                  <a:ea typeface="Latin Modern Math" panose="02000503000000000000" pitchFamily="2" charset="77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200" i="1" dirty="0">
                  <a:solidFill>
                    <a:srgbClr val="FFFFFF"/>
                  </a:solidFill>
                  <a:latin typeface="Garamond" panose="02020404030301010803" pitchFamily="18" charset="0"/>
                  <a:ea typeface="Latin Modern Math" panose="02000503000000000000" pitchFamily="2" charset="7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b="1" dirty="0">
                    <a:solidFill>
                      <a:srgbClr val="FFFFFF"/>
                    </a:solidFill>
                    <a:latin typeface="Garamond" panose="02020404030301010803" pitchFamily="18" charset="0"/>
                    <a:ea typeface="Latin Modern Math" panose="02000503000000000000" pitchFamily="2" charset="77"/>
                  </a:rPr>
                  <a:t>Loss domain</a:t>
                </a:r>
                <a:r>
                  <a:rPr lang="en-US" sz="2200" dirty="0">
                    <a:solidFill>
                      <a:srgbClr val="FFFFFF"/>
                    </a:solidFill>
                    <a:latin typeface="Garamond" panose="02020404030301010803" pitchFamily="18" charset="0"/>
                    <a:ea typeface="Latin Modern Math" panose="02000503000000000000" pitchFamily="2" charset="77"/>
                  </a:rPr>
                  <a:t>: same lotteries as above, but with negative outcomes.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200" dirty="0">
                  <a:latin typeface="Latin Modern Math" panose="02000503000000000000" pitchFamily="2" charset="77"/>
                  <a:ea typeface="Latin Modern Math" panose="02000503000000000000" pitchFamily="2" charset="77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2D8341-FE7B-D301-C19B-3681FB9A7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144" y="1391546"/>
                <a:ext cx="5147535" cy="5109347"/>
              </a:xfrm>
              <a:prstGeom prst="rect">
                <a:avLst/>
              </a:prstGeom>
              <a:blipFill>
                <a:blip r:embed="rId4"/>
                <a:stretch>
                  <a:fillRect l="-1478" r="-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2544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EB7AA-4D2A-3E4D-BB16-0859324A9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FEC076-6296-EF5B-E834-AC5ECDB32151}"/>
              </a:ext>
            </a:extLst>
          </p:cNvPr>
          <p:cNvSpPr/>
          <p:nvPr/>
        </p:nvSpPr>
        <p:spPr>
          <a:xfrm>
            <a:off x="0" y="-1"/>
            <a:ext cx="12192000" cy="687977"/>
          </a:xfrm>
          <a:prstGeom prst="rect">
            <a:avLst/>
          </a:prstGeom>
          <a:solidFill>
            <a:srgbClr val="2236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   Experiment 1: Designs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26B7F3-DB45-3EAA-6544-B9DC73532A7F}"/>
                  </a:ext>
                </a:extLst>
              </p:cNvPr>
              <p:cNvSpPr txBox="1"/>
              <p:nvPr/>
            </p:nvSpPr>
            <p:spPr>
              <a:xfrm>
                <a:off x="293144" y="1391546"/>
                <a:ext cx="5147535" cy="4615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b="1" dirty="0">
                    <a:latin typeface="Garamond" panose="02020404030301010803" pitchFamily="18" charset="0"/>
                  </a:rPr>
                  <a:t>5 regular risky lotteries</a:t>
                </a:r>
                <a:r>
                  <a:rPr lang="en-US" sz="2200" dirty="0">
                    <a:latin typeface="Garamond" panose="02020404030301010803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(25, 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𝑝</m:t>
                    </m:r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;0)</m:t>
                    </m:r>
                  </m:oMath>
                </a14:m>
                <a:endParaRPr lang="en-US" sz="2200" i="1" dirty="0">
                  <a:latin typeface="Latin Modern Math" panose="02000503000000000000" pitchFamily="2" charset="77"/>
                  <a:ea typeface="Latin Modern Math" panose="02000503000000000000" pitchFamily="2" charset="77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𝑝</m:t>
                    </m:r>
                    <m:r>
                      <a:rPr lang="en-US" sz="2200" i="1" dirty="0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=0.1, 0.25, 0.5, 0.75, 0.9</m:t>
                    </m:r>
                  </m:oMath>
                </a14:m>
                <a:r>
                  <a:rPr lang="zh-CN" altLang="en-US" sz="2200" i="1" dirty="0">
                    <a:latin typeface="Latin Modern Math" panose="02000503000000000000" pitchFamily="2" charset="77"/>
                    <a:ea typeface="Latin Modern Math" panose="02000503000000000000" pitchFamily="2" charset="77"/>
                  </a:rPr>
                  <a:t> </a:t>
                </a:r>
                <a:r>
                  <a:rPr lang="en-US" altLang="zh-CN" sz="2200" dirty="0">
                    <a:latin typeface="Latin Modern Math" panose="02000503000000000000" pitchFamily="2" charset="77"/>
                    <a:ea typeface="Latin Modern Math" panose="02000503000000000000" pitchFamily="2" charset="77"/>
                  </a:rPr>
                  <a:t>(</a:t>
                </a:r>
                <a:r>
                  <a:rPr lang="en-US" altLang="zh-CN" sz="2200" b="1" dirty="0">
                    <a:solidFill>
                      <a:srgbClr val="EC811A"/>
                    </a:solidFill>
                    <a:latin typeface="Latin Modern Math" panose="02000503000000000000" pitchFamily="2" charset="77"/>
                    <a:ea typeface="Latin Modern Math" panose="02000503000000000000" pitchFamily="2" charset="77"/>
                  </a:rPr>
                  <a:t>Box</a:t>
                </a:r>
                <a:r>
                  <a:rPr lang="en-US" altLang="zh-CN" sz="2200" dirty="0">
                    <a:latin typeface="Latin Modern Math" panose="02000503000000000000" pitchFamily="2" charset="77"/>
                    <a:ea typeface="Latin Modern Math" panose="02000503000000000000" pitchFamily="2" charset="77"/>
                  </a:rPr>
                  <a:t>)</a:t>
                </a:r>
                <a:endParaRPr lang="en-US" sz="2200" i="1" dirty="0">
                  <a:latin typeface="Latin Modern Math" panose="02000503000000000000" pitchFamily="2" charset="77"/>
                  <a:ea typeface="Latin Modern Math" panose="02000503000000000000" pitchFamily="2" charset="7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200" dirty="0">
                  <a:latin typeface="Garamond" panose="02020404030301010803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b="1" dirty="0">
                    <a:latin typeface="Garamond" panose="02020404030301010803" pitchFamily="18" charset="0"/>
                  </a:rPr>
                  <a:t>4 test lotteries</a:t>
                </a:r>
                <a:r>
                  <a:rPr lang="en-US" sz="2200" dirty="0">
                    <a:latin typeface="Garamond" panose="02020404030301010803" pitchFamily="18" charset="0"/>
                  </a:rPr>
                  <a:t>: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(2.3, 0.1; 2.3) </m:t>
                    </m:r>
                  </m:oMath>
                </a14:m>
                <a:r>
                  <a:rPr lang="en-US" sz="2200" dirty="0">
                    <a:latin typeface="Garamond" panose="02020404030301010803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(22.7, 0.9; 22.7)</m:t>
                    </m:r>
                  </m:oMath>
                </a14:m>
                <a:endParaRPr lang="en-US" sz="2200" i="1" dirty="0">
                  <a:latin typeface="Latin Modern Math" panose="02000503000000000000" pitchFamily="2" charset="77"/>
                  <a:ea typeface="Latin Modern Math" panose="02000503000000000000" pitchFamily="2" charset="77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(2.9, 0.1; 2.1) </m:t>
                    </m:r>
                  </m:oMath>
                </a14:m>
                <a:r>
                  <a:rPr lang="en-US" sz="2200" dirty="0">
                    <a:latin typeface="Garamond" panose="02020404030301010803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(22.9, 0.9; 22.1)</m:t>
                    </m:r>
                  </m:oMath>
                </a14:m>
                <a:endParaRPr lang="en-US" sz="2200" dirty="0">
                  <a:latin typeface="Garamond" panose="02020404030301010803" pitchFamily="18" charset="0"/>
                  <a:ea typeface="Latin Modern Math" panose="02000503000000000000" pitchFamily="2" charset="77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200" i="1" dirty="0">
                  <a:latin typeface="Garamond" panose="02020404030301010803" pitchFamily="18" charset="0"/>
                  <a:ea typeface="Latin Modern Math" panose="02000503000000000000" pitchFamily="2" charset="7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b="1" dirty="0">
                    <a:latin typeface="Garamond" panose="02020404030301010803" pitchFamily="18" charset="0"/>
                    <a:ea typeface="Latin Modern Math" panose="02000503000000000000" pitchFamily="2" charset="77"/>
                  </a:rPr>
                  <a:t>Loss domain</a:t>
                </a:r>
                <a:r>
                  <a:rPr lang="en-US" sz="2200" dirty="0">
                    <a:latin typeface="Garamond" panose="02020404030301010803" pitchFamily="18" charset="0"/>
                    <a:ea typeface="Latin Modern Math" panose="02000503000000000000" pitchFamily="2" charset="77"/>
                  </a:rPr>
                  <a:t>: same lotteries as above, but with negative outcomes.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26B7F3-DB45-3EAA-6544-B9DC73532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144" y="1391546"/>
                <a:ext cx="5147535" cy="4615046"/>
              </a:xfrm>
              <a:prstGeom prst="rect">
                <a:avLst/>
              </a:prstGeom>
              <a:blipFill>
                <a:blip r:embed="rId3"/>
                <a:stretch>
                  <a:fillRect l="-1478" r="-1724" b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F5DFED1-7285-19F0-E641-EC733F256F73}"/>
              </a:ext>
            </a:extLst>
          </p:cNvPr>
          <p:cNvSpPr txBox="1"/>
          <p:nvPr/>
        </p:nvSpPr>
        <p:spPr>
          <a:xfrm>
            <a:off x="7683852" y="6295356"/>
            <a:ext cx="269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EC811A"/>
                </a:solidFill>
                <a:latin typeface="Garamond" panose="02020404030301010803" pitchFamily="18" charset="0"/>
              </a:rPr>
              <a:t>( A degenerate Test Task)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2C218B1-77B5-CB4B-D8EB-B8CF7FA7B6B1}"/>
              </a:ext>
            </a:extLst>
          </p:cNvPr>
          <p:cNvGrpSpPr/>
          <p:nvPr/>
        </p:nvGrpSpPr>
        <p:grpSpPr>
          <a:xfrm>
            <a:off x="5488807" y="1089267"/>
            <a:ext cx="6400800" cy="5109835"/>
            <a:chOff x="5488807" y="1089267"/>
            <a:chExt cx="6400800" cy="510983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F3EC439-EB4E-7BBD-57E4-47F4790EE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8901"/>
            <a:stretch>
              <a:fillRect/>
            </a:stretch>
          </p:blipFill>
          <p:spPr>
            <a:xfrm>
              <a:off x="5488807" y="3704590"/>
              <a:ext cx="6400800" cy="2494512"/>
            </a:xfrm>
            <a:prstGeom prst="rect">
              <a:avLst/>
            </a:prstGeom>
            <a:ln w="3175" cap="sq">
              <a:solidFill>
                <a:srgbClr val="000000"/>
              </a:solidFill>
              <a:miter lim="800000"/>
            </a:ln>
            <a:effectLst>
              <a:outerShdw blurRad="57150" dist="50800" dir="2700000" algn="tl" rotWithShape="0">
                <a:srgbClr val="000000">
                  <a:alpha val="40000"/>
                </a:srgbClr>
              </a:outerShdw>
            </a:effec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79A9EBA-31B0-5149-6D31-A845FFA09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88807" y="1089267"/>
              <a:ext cx="6400800" cy="2064144"/>
            </a:xfrm>
            <a:prstGeom prst="rect">
              <a:avLst/>
            </a:prstGeom>
            <a:ln w="3175" cap="sq">
              <a:solidFill>
                <a:srgbClr val="000000"/>
              </a:solidFill>
              <a:miter lim="800000"/>
            </a:ln>
            <a:effectLst>
              <a:outerShdw blurRad="57150" dist="50800" dir="2700000" algn="tl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7494D79-EAD0-77F1-469A-E91746DD13A6}"/>
                </a:ext>
              </a:extLst>
            </p:cNvPr>
            <p:cNvSpPr txBox="1"/>
            <p:nvPr/>
          </p:nvSpPr>
          <p:spPr>
            <a:xfrm rot="5400000">
              <a:off x="8584163" y="3255750"/>
              <a:ext cx="46679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Garamond" panose="02020404030301010803" pitchFamily="18" charset="0"/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811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9DE6C-64DD-F26A-6405-5AA7C4816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19B160-6BBD-6DBA-B00E-3EF61067E811}"/>
              </a:ext>
            </a:extLst>
          </p:cNvPr>
          <p:cNvSpPr/>
          <p:nvPr/>
        </p:nvSpPr>
        <p:spPr>
          <a:xfrm>
            <a:off x="0" y="-1"/>
            <a:ext cx="12192000" cy="687977"/>
          </a:xfrm>
          <a:prstGeom prst="rect">
            <a:avLst/>
          </a:prstGeom>
          <a:solidFill>
            <a:srgbClr val="2236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   Experiment 1: Implement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C38BF4-D19E-AF45-134A-866C894905FC}"/>
              </a:ext>
            </a:extLst>
          </p:cNvPr>
          <p:cNvSpPr txBox="1"/>
          <p:nvPr/>
        </p:nvSpPr>
        <p:spPr>
          <a:xfrm>
            <a:off x="2182368" y="1234487"/>
            <a:ext cx="7827264" cy="4894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Garamond" panose="02020404030301010803" pitchFamily="18" charset="0"/>
              </a:rPr>
              <a:t>Instructions</a:t>
            </a:r>
          </a:p>
          <a:p>
            <a:pPr marL="742950" lvl="1" indent="-28575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E8801D"/>
                </a:solidFill>
                <a:latin typeface="Garamond" panose="02020404030301010803" pitchFamily="18" charset="0"/>
              </a:rPr>
              <a:t>Trainings with examples</a:t>
            </a:r>
          </a:p>
          <a:p>
            <a:pPr marL="742950" lvl="1" indent="-28575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E8801D"/>
                </a:solidFill>
                <a:latin typeface="Garamond" panose="02020404030301010803" pitchFamily="18" charset="0"/>
              </a:rPr>
              <a:t>Six comprehension questions (reward if correct on the first try)</a:t>
            </a:r>
          </a:p>
          <a:p>
            <a:pPr marL="285750" indent="-28575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Garamond" panose="02020404030301010803" pitchFamily="18" charset="0"/>
              </a:rPr>
              <a:t>Price lists task</a:t>
            </a:r>
          </a:p>
          <a:p>
            <a:pPr marL="742950" lvl="1" indent="-28575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Garamond" panose="02020404030301010803" pitchFamily="18" charset="0"/>
              </a:rPr>
              <a:t>Risky &amp; test lottery (randomized)</a:t>
            </a:r>
          </a:p>
          <a:p>
            <a:pPr marL="742950" lvl="1" indent="-28575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Garamond" panose="02020404030301010803" pitchFamily="18" charset="0"/>
              </a:rPr>
              <a:t>Gains and losses (within-domain randomized) </a:t>
            </a:r>
          </a:p>
          <a:p>
            <a:pPr marL="285750" indent="-28575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Garamond" panose="02020404030301010803" pitchFamily="18" charset="0"/>
              </a:rPr>
              <a:t>End-survey questionnaire</a:t>
            </a:r>
          </a:p>
          <a:p>
            <a:pPr marL="285750" indent="-28575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Garamond" panose="02020404030301010803" pitchFamily="18" charset="0"/>
              </a:rPr>
              <a:t>150 Subjects (Prolific USA sample)</a:t>
            </a:r>
          </a:p>
        </p:txBody>
      </p:sp>
    </p:spTree>
    <p:extLst>
      <p:ext uri="{BB962C8B-B14F-4D97-AF65-F5344CB8AC3E}">
        <p14:creationId xmlns:p14="http://schemas.microsoft.com/office/powerpoint/2010/main" val="23151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C56EB-21D5-773D-B50B-6F58E4710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B699620-8F95-EC24-55E7-E2D3182E3B8D}"/>
              </a:ext>
            </a:extLst>
          </p:cNvPr>
          <p:cNvSpPr/>
          <p:nvPr/>
        </p:nvSpPr>
        <p:spPr>
          <a:xfrm>
            <a:off x="0" y="-1"/>
            <a:ext cx="12192000" cy="687977"/>
          </a:xfrm>
          <a:prstGeom prst="rect">
            <a:avLst/>
          </a:prstGeom>
          <a:solidFill>
            <a:srgbClr val="2236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   Experiment 1: Results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544A531-CC29-35EF-74D5-A35ABD5C36E7}"/>
              </a:ext>
            </a:extLst>
          </p:cNvPr>
          <p:cNvGrpSpPr/>
          <p:nvPr/>
        </p:nvGrpSpPr>
        <p:grpSpPr>
          <a:xfrm>
            <a:off x="594727" y="1523412"/>
            <a:ext cx="10945680" cy="4802679"/>
            <a:chOff x="478824" y="1631696"/>
            <a:chExt cx="10945680" cy="480267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463B921-E9CE-AC62-5C9E-3A96B5E63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/>
          </p:blipFill>
          <p:spPr>
            <a:xfrm>
              <a:off x="478824" y="1631696"/>
              <a:ext cx="5284337" cy="422747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58431DC-BB2C-EBD4-3C43-E9EF052E04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/>
          </p:blipFill>
          <p:spPr>
            <a:xfrm>
              <a:off x="6162456" y="1631696"/>
              <a:ext cx="5262048" cy="4209639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441B351-B401-D169-5044-E289CB538A2C}"/>
                </a:ext>
              </a:extLst>
            </p:cNvPr>
            <p:cNvSpPr txBox="1"/>
            <p:nvPr/>
          </p:nvSpPr>
          <p:spPr>
            <a:xfrm>
              <a:off x="2215456" y="6065043"/>
              <a:ext cx="18110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22363A"/>
                  </a:solidFill>
                  <a:latin typeface="Garamond" panose="02020404030301010803" pitchFamily="18" charset="0"/>
                </a:rPr>
                <a:t>( Whole Sample)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757A6F3-E076-DAD6-C3F3-1B3445531078}"/>
                </a:ext>
              </a:extLst>
            </p:cNvPr>
            <p:cNvSpPr txBox="1"/>
            <p:nvPr/>
          </p:nvSpPr>
          <p:spPr>
            <a:xfrm>
              <a:off x="7317620" y="6065043"/>
              <a:ext cx="3529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22363A"/>
                  </a:solidFill>
                  <a:latin typeface="Garamond" panose="02020404030301010803" pitchFamily="18" charset="0"/>
                </a:rPr>
                <a:t>(Subsamples by test performance)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1600348-1B85-B6EF-27D0-306E8D4B1680}"/>
              </a:ext>
            </a:extLst>
          </p:cNvPr>
          <p:cNvSpPr/>
          <p:nvPr/>
        </p:nvSpPr>
        <p:spPr>
          <a:xfrm>
            <a:off x="5888657" y="687976"/>
            <a:ext cx="6303344" cy="6170024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14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CF12E-3B8B-7EAA-16A8-FECE08835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CBED78-1951-F0C5-FAD5-6F5196DBE674}"/>
              </a:ext>
            </a:extLst>
          </p:cNvPr>
          <p:cNvSpPr/>
          <p:nvPr/>
        </p:nvSpPr>
        <p:spPr>
          <a:xfrm>
            <a:off x="0" y="-1"/>
            <a:ext cx="12192000" cy="687977"/>
          </a:xfrm>
          <a:prstGeom prst="rect">
            <a:avLst/>
          </a:prstGeom>
          <a:solidFill>
            <a:srgbClr val="2236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   Experiment 1: Results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4C77264-A107-4577-216F-0BB1675327F2}"/>
              </a:ext>
            </a:extLst>
          </p:cNvPr>
          <p:cNvGrpSpPr/>
          <p:nvPr/>
        </p:nvGrpSpPr>
        <p:grpSpPr>
          <a:xfrm>
            <a:off x="585136" y="1523412"/>
            <a:ext cx="10955271" cy="4802679"/>
            <a:chOff x="469233" y="1631696"/>
            <a:chExt cx="10955271" cy="480267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FC433DA-1DF1-4404-CA0D-90FE26C178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69233" y="1631696"/>
              <a:ext cx="5303520" cy="422747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A9882A0-8A98-9B8C-9F10-C4DE3F5F76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/>
          </p:blipFill>
          <p:spPr>
            <a:xfrm>
              <a:off x="6162456" y="1631696"/>
              <a:ext cx="5262048" cy="420963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E00A8AC-C458-812F-EDC9-6BB43E099D52}"/>
                </a:ext>
              </a:extLst>
            </p:cNvPr>
            <p:cNvSpPr txBox="1"/>
            <p:nvPr/>
          </p:nvSpPr>
          <p:spPr>
            <a:xfrm>
              <a:off x="7317620" y="6065043"/>
              <a:ext cx="3529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22363A"/>
                  </a:solidFill>
                  <a:latin typeface="Garamond" panose="02020404030301010803" pitchFamily="18" charset="0"/>
                </a:rPr>
                <a:t>(Subsamples by test performance)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796215B9-80C8-5961-238B-9283A592CF5D}"/>
              </a:ext>
            </a:extLst>
          </p:cNvPr>
          <p:cNvSpPr/>
          <p:nvPr/>
        </p:nvSpPr>
        <p:spPr>
          <a:xfrm>
            <a:off x="0" y="687976"/>
            <a:ext cx="6303344" cy="6170024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63B9B8-6622-98D5-7349-F0EBDEC68BA6}"/>
              </a:ext>
            </a:extLst>
          </p:cNvPr>
          <p:cNvSpPr txBox="1"/>
          <p:nvPr/>
        </p:nvSpPr>
        <p:spPr>
          <a:xfrm>
            <a:off x="447976" y="1818254"/>
            <a:ext cx="5394960" cy="3909468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129 out of 150 failed at least once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110 failed three or more.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FFFF"/>
              </a:solidFill>
              <a:latin typeface="Garamond" panose="02020404030301010803" pitchFamily="18" charset="0"/>
              <a:ea typeface="Latin Modern Math" panose="02000503000000000000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The fourfold pattern is significantly weaker among who passed the test than those who failed.</a:t>
            </a:r>
          </a:p>
        </p:txBody>
      </p:sp>
    </p:spTree>
    <p:extLst>
      <p:ext uri="{BB962C8B-B14F-4D97-AF65-F5344CB8AC3E}">
        <p14:creationId xmlns:p14="http://schemas.microsoft.com/office/powerpoint/2010/main" val="877331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F186C-9B93-BB2B-6225-2562CB312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9DEE5D-A082-8C10-F0AF-8FCCE6CC05DD}"/>
              </a:ext>
            </a:extLst>
          </p:cNvPr>
          <p:cNvSpPr/>
          <p:nvPr/>
        </p:nvSpPr>
        <p:spPr>
          <a:xfrm>
            <a:off x="0" y="-1"/>
            <a:ext cx="12192000" cy="687977"/>
          </a:xfrm>
          <a:prstGeom prst="rect">
            <a:avLst/>
          </a:prstGeom>
          <a:solidFill>
            <a:srgbClr val="2236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   Experiment 1: Results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D569655-E5DC-87D1-DBC1-FE43ACFDD79B}"/>
              </a:ext>
            </a:extLst>
          </p:cNvPr>
          <p:cNvGrpSpPr/>
          <p:nvPr/>
        </p:nvGrpSpPr>
        <p:grpSpPr>
          <a:xfrm>
            <a:off x="585136" y="1523412"/>
            <a:ext cx="10955271" cy="4802679"/>
            <a:chOff x="469233" y="1631696"/>
            <a:chExt cx="10955271" cy="480267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940315A-5215-D136-BEBC-BBF757D02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69233" y="1631696"/>
              <a:ext cx="5303520" cy="422747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E029B1C-3658-EC15-D3F1-2F9E8345A8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/>
          </p:blipFill>
          <p:spPr>
            <a:xfrm>
              <a:off x="6162456" y="1631696"/>
              <a:ext cx="5262048" cy="420963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F4F4646-65B0-A23C-4F8D-EFD290E3AA76}"/>
                </a:ext>
              </a:extLst>
            </p:cNvPr>
            <p:cNvSpPr txBox="1"/>
            <p:nvPr/>
          </p:nvSpPr>
          <p:spPr>
            <a:xfrm>
              <a:off x="7317620" y="6065043"/>
              <a:ext cx="3529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22363A"/>
                  </a:solidFill>
                  <a:latin typeface="Garamond" panose="02020404030301010803" pitchFamily="18" charset="0"/>
                </a:rPr>
                <a:t>(Subsamples by test performance)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5F4066F-DC93-D45B-4157-9C35D83B8613}"/>
              </a:ext>
            </a:extLst>
          </p:cNvPr>
          <p:cNvSpPr/>
          <p:nvPr/>
        </p:nvSpPr>
        <p:spPr>
          <a:xfrm>
            <a:off x="0" y="687976"/>
            <a:ext cx="6303344" cy="6170024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9B164D-83B7-483A-A43F-C487C6AC1221}"/>
              </a:ext>
            </a:extLst>
          </p:cNvPr>
          <p:cNvSpPr txBox="1"/>
          <p:nvPr/>
        </p:nvSpPr>
        <p:spPr>
          <a:xfrm>
            <a:off x="447976" y="1818254"/>
            <a:ext cx="5394960" cy="3909468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129 out of 150 failed at least once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110 failed three or more.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FFFF"/>
              </a:solidFill>
              <a:latin typeface="Garamond" panose="02020404030301010803" pitchFamily="18" charset="0"/>
              <a:ea typeface="Latin Modern Math" panose="02000503000000000000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The fourfold pattern is significantly weaker among who passed the test than those who failed.</a:t>
            </a:r>
          </a:p>
        </p:txBody>
      </p:sp>
    </p:spTree>
    <p:extLst>
      <p:ext uri="{BB962C8B-B14F-4D97-AF65-F5344CB8AC3E}">
        <p14:creationId xmlns:p14="http://schemas.microsoft.com/office/powerpoint/2010/main" val="4139853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85A6E-539C-D137-ED41-071EF937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01195ED-E35E-010D-1AEF-07FB97A8A142}"/>
              </a:ext>
            </a:extLst>
          </p:cNvPr>
          <p:cNvSpPr/>
          <p:nvPr/>
        </p:nvSpPr>
        <p:spPr>
          <a:xfrm>
            <a:off x="0" y="-1"/>
            <a:ext cx="12192000" cy="687977"/>
          </a:xfrm>
          <a:prstGeom prst="rect">
            <a:avLst/>
          </a:prstGeom>
          <a:solidFill>
            <a:srgbClr val="2236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   Experiment 1: 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C19EA4-855D-20A0-C22F-65C2C8302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384" y="1816548"/>
            <a:ext cx="9613232" cy="45178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92B10F9-5504-A31D-7980-4D600C582C68}"/>
              </a:ext>
            </a:extLst>
          </p:cNvPr>
          <p:cNvSpPr txBox="1"/>
          <p:nvPr/>
        </p:nvSpPr>
        <p:spPr>
          <a:xfrm>
            <a:off x="232986" y="977571"/>
            <a:ext cx="7070182" cy="538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Latin Modern Math" panose="02000503000000000000" pitchFamily="2" charset="77"/>
                <a:ea typeface="Latin Modern Math" panose="02000503000000000000" pitchFamily="2" charset="77"/>
              </a:rPr>
              <a:t>Mixed-effects model; Outcome: normalized absolute CE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19FA066-06CA-84EC-4D45-C44DEFBA13F7}"/>
              </a:ext>
            </a:extLst>
          </p:cNvPr>
          <p:cNvSpPr/>
          <p:nvPr/>
        </p:nvSpPr>
        <p:spPr>
          <a:xfrm>
            <a:off x="2863516" y="3729788"/>
            <a:ext cx="8039100" cy="505327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67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DBD55-6704-D18E-21A7-92E479B16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465B8A6-D11E-9CFB-85F8-330B4FD8B7E4}"/>
              </a:ext>
            </a:extLst>
          </p:cNvPr>
          <p:cNvCxnSpPr>
            <a:cxnSpLocks/>
          </p:cNvCxnSpPr>
          <p:nvPr/>
        </p:nvCxnSpPr>
        <p:spPr>
          <a:xfrm>
            <a:off x="1524000" y="3429000"/>
            <a:ext cx="9144000" cy="0"/>
          </a:xfrm>
          <a:prstGeom prst="line">
            <a:avLst/>
          </a:prstGeom>
          <a:ln w="28575">
            <a:solidFill>
              <a:srgbClr val="EC8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968D9F8-8E64-0A3A-FCE0-AE992AC2C6B2}"/>
              </a:ext>
            </a:extLst>
          </p:cNvPr>
          <p:cNvCxnSpPr>
            <a:cxnSpLocks/>
          </p:cNvCxnSpPr>
          <p:nvPr/>
        </p:nvCxnSpPr>
        <p:spPr>
          <a:xfrm>
            <a:off x="5181600" y="3429000"/>
            <a:ext cx="5486400" cy="0"/>
          </a:xfrm>
          <a:prstGeom prst="line">
            <a:avLst/>
          </a:prstGeom>
          <a:ln w="28575">
            <a:solidFill>
              <a:srgbClr val="D6C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338C6CD-C177-8A5D-27B9-EC9DEEDF72A5}"/>
              </a:ext>
            </a:extLst>
          </p:cNvPr>
          <p:cNvSpPr txBox="1"/>
          <p:nvPr/>
        </p:nvSpPr>
        <p:spPr>
          <a:xfrm>
            <a:off x="1524000" y="2782669"/>
            <a:ext cx="5599097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22363A"/>
                </a:solidFill>
                <a:effectLst/>
                <a:latin typeface="Garamond" panose="02020404030301010803" pitchFamily="18" charset="0"/>
              </a:rPr>
              <a:t>Experiment 2: Deterministic Mirrors</a:t>
            </a:r>
          </a:p>
        </p:txBody>
      </p:sp>
    </p:spTree>
    <p:extLst>
      <p:ext uri="{BB962C8B-B14F-4D97-AF65-F5344CB8AC3E}">
        <p14:creationId xmlns:p14="http://schemas.microsoft.com/office/powerpoint/2010/main" val="3236699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B441E-9579-7591-15A3-ED9BFCBD9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E8D48E1-7FCA-E667-0F26-1D85F36B8417}"/>
              </a:ext>
            </a:extLst>
          </p:cNvPr>
          <p:cNvSpPr/>
          <p:nvPr/>
        </p:nvSpPr>
        <p:spPr>
          <a:xfrm>
            <a:off x="445168" y="1528011"/>
            <a:ext cx="4957011" cy="4307306"/>
          </a:xfrm>
          <a:prstGeom prst="rect">
            <a:avLst/>
          </a:prstGeom>
          <a:solidFill>
            <a:srgbClr val="FAFAFA"/>
          </a:solidFill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6EFD20-82E6-7C3E-E1A0-2682B8AD7C84}"/>
              </a:ext>
            </a:extLst>
          </p:cNvPr>
          <p:cNvSpPr/>
          <p:nvPr/>
        </p:nvSpPr>
        <p:spPr>
          <a:xfrm>
            <a:off x="0" y="-1"/>
            <a:ext cx="12192000" cy="687977"/>
          </a:xfrm>
          <a:prstGeom prst="rect">
            <a:avLst/>
          </a:prstGeom>
          <a:solidFill>
            <a:srgbClr val="2236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   Experiment 2: Designs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41ADEE-2271-0056-E221-BDC18208DD82}"/>
              </a:ext>
            </a:extLst>
          </p:cNvPr>
          <p:cNvSpPr txBox="1"/>
          <p:nvPr/>
        </p:nvSpPr>
        <p:spPr>
          <a:xfrm>
            <a:off x="6096000" y="1391546"/>
            <a:ext cx="5802856" cy="4615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Garamond" panose="02020404030301010803" pitchFamily="18" charset="0"/>
              </a:rPr>
              <a:t>Expt. 1 + the deterministic mirror tasks (Oprea, 2024).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Garamond" panose="02020404030301010803" pitchFamily="18" charset="0"/>
                <a:ea typeface="Latin Modern Math" panose="02000503000000000000" pitchFamily="2" charset="77"/>
              </a:rPr>
              <a:t>Same structure, but open ALL boxes rather than a random one.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Garamond" panose="02020404030301010803" pitchFamily="18" charset="0"/>
                <a:ea typeface="Latin Modern Math" panose="02000503000000000000" pitchFamily="2" charset="77"/>
              </a:rPr>
              <a:t>Remain computational complex, but no risk anymore.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Garamond" panose="02020404030301010803" pitchFamily="18" charset="0"/>
              <a:ea typeface="Latin Modern Math" panose="02000503000000000000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accent2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Our test lottery can be regarded a special</a:t>
            </a:r>
            <a:r>
              <a:rPr lang="zh-CN" altLang="en-US" sz="2200" b="1" dirty="0">
                <a:solidFill>
                  <a:schemeClr val="accent2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case</a:t>
            </a:r>
            <a:r>
              <a:rPr lang="zh-CN" altLang="en-US" sz="2200" b="1" dirty="0">
                <a:solidFill>
                  <a:schemeClr val="accent2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of</a:t>
            </a:r>
            <a:r>
              <a:rPr lang="zh-CN" altLang="en-US" sz="2200" b="1" dirty="0">
                <a:solidFill>
                  <a:schemeClr val="accent2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this</a:t>
            </a:r>
            <a:r>
              <a:rPr lang="zh-CN" altLang="en-US" sz="2200" b="1" dirty="0">
                <a:solidFill>
                  <a:schemeClr val="accent2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mirror</a:t>
            </a:r>
            <a:r>
              <a:rPr lang="en-US" sz="2200" b="1" dirty="0">
                <a:solidFill>
                  <a:schemeClr val="accent2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task.</a:t>
            </a:r>
            <a:endParaRPr lang="en-US" sz="2200" b="1" dirty="0">
              <a:solidFill>
                <a:schemeClr val="accent2"/>
              </a:solidFill>
              <a:latin typeface="Garamond" panose="02020404030301010803" pitchFamily="18" charset="0"/>
              <a:ea typeface="Latin Modern Math" panose="02000503000000000000" pitchFamily="2" charset="77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2BFA24F-162E-CA7F-D635-34B275C63B07}"/>
              </a:ext>
            </a:extLst>
          </p:cNvPr>
          <p:cNvGrpSpPr/>
          <p:nvPr/>
        </p:nvGrpSpPr>
        <p:grpSpPr>
          <a:xfrm>
            <a:off x="552700" y="1793938"/>
            <a:ext cx="4945355" cy="3685131"/>
            <a:chOff x="6953500" y="1786841"/>
            <a:chExt cx="4945355" cy="368513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3BC9C75-A911-82E7-368C-25DB94112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753" b="69404"/>
            <a:stretch>
              <a:fillRect/>
            </a:stretch>
          </p:blipFill>
          <p:spPr>
            <a:xfrm>
              <a:off x="7097094" y="3287145"/>
              <a:ext cx="4454758" cy="2184827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16C2E78-E4BB-CB1D-7EC6-3C41BF88737A}"/>
                </a:ext>
              </a:extLst>
            </p:cNvPr>
            <p:cNvSpPr txBox="1"/>
            <p:nvPr/>
          </p:nvSpPr>
          <p:spPr>
            <a:xfrm>
              <a:off x="6953500" y="1786841"/>
              <a:ext cx="4945355" cy="12343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sz="2100" i="0" dirty="0">
                  <a:effectLst/>
                  <a:latin typeface="Garamond" panose="02020404030301010803" pitchFamily="18" charset="0"/>
                </a:rPr>
                <a:t>“You will be paid the value of all of the boxes from the Set you selected, added up and divided by 100.”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187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5476F-6C3E-FC24-CF35-9DDE78F41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961782-665B-8A63-E975-7E773E12813E}"/>
              </a:ext>
            </a:extLst>
          </p:cNvPr>
          <p:cNvSpPr/>
          <p:nvPr/>
        </p:nvSpPr>
        <p:spPr>
          <a:xfrm>
            <a:off x="0" y="-1"/>
            <a:ext cx="12192000" cy="687977"/>
          </a:xfrm>
          <a:prstGeom prst="rect">
            <a:avLst/>
          </a:prstGeom>
          <a:solidFill>
            <a:srgbClr val="2236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   Experiment 2: Results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72381A6-4D07-8F75-913D-05383EE870A4}"/>
              </a:ext>
            </a:extLst>
          </p:cNvPr>
          <p:cNvGrpSpPr/>
          <p:nvPr/>
        </p:nvGrpSpPr>
        <p:grpSpPr>
          <a:xfrm>
            <a:off x="2611558" y="5956759"/>
            <a:ext cx="7649869" cy="369332"/>
            <a:chOff x="2495655" y="6065043"/>
            <a:chExt cx="7649869" cy="36933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F7E0737-636E-D1B9-B587-A6F0F010C8CF}"/>
                </a:ext>
              </a:extLst>
            </p:cNvPr>
            <p:cNvSpPr txBox="1"/>
            <p:nvPr/>
          </p:nvSpPr>
          <p:spPr>
            <a:xfrm>
              <a:off x="2495655" y="6065043"/>
              <a:ext cx="14303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22363A"/>
                  </a:solidFill>
                  <a:latin typeface="Garamond" panose="02020404030301010803" pitchFamily="18" charset="0"/>
                </a:rPr>
                <a:t>Lottery Task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D3E5CC9-97FC-9D49-0A2C-C7FF9D9AF7A3}"/>
                </a:ext>
              </a:extLst>
            </p:cNvPr>
            <p:cNvSpPr txBox="1"/>
            <p:nvPr/>
          </p:nvSpPr>
          <p:spPr>
            <a:xfrm>
              <a:off x="8785472" y="6065043"/>
              <a:ext cx="136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22363A"/>
                  </a:solidFill>
                  <a:latin typeface="Garamond" panose="02020404030301010803" pitchFamily="18" charset="0"/>
                </a:rPr>
                <a:t>Mirror Task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F7DB9AB-65B9-4513-9BEF-593C1C3E76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73"/>
          <a:stretch>
            <a:fillRect/>
          </a:stretch>
        </p:blipFill>
        <p:spPr>
          <a:xfrm>
            <a:off x="230606" y="1322554"/>
            <a:ext cx="11464090" cy="449342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D7BDA84-AB91-1A3A-18E5-8E7CB138BE58}"/>
              </a:ext>
            </a:extLst>
          </p:cNvPr>
          <p:cNvSpPr/>
          <p:nvPr/>
        </p:nvSpPr>
        <p:spPr>
          <a:xfrm>
            <a:off x="5888657" y="687976"/>
            <a:ext cx="6303344" cy="6170024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B6E08A-F4A1-3275-9ACA-8EF1AB67A458}"/>
              </a:ext>
            </a:extLst>
          </p:cNvPr>
          <p:cNvSpPr txBox="1"/>
          <p:nvPr/>
        </p:nvSpPr>
        <p:spPr>
          <a:xfrm>
            <a:off x="6342849" y="2103909"/>
            <a:ext cx="5394960" cy="3338158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3600" dirty="0">
              <a:solidFill>
                <a:srgbClr val="FFFFFF"/>
              </a:solidFill>
              <a:latin typeface="Garamond" panose="02020404030301010803" pitchFamily="18" charset="0"/>
              <a:ea typeface="Latin Modern Math" panose="02000503000000000000" pitchFamily="2" charset="77"/>
            </a:endParaRPr>
          </a:p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FFFFFF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We replicate the key </a:t>
            </a:r>
            <a:r>
              <a:rPr lang="en-US" altLang="zh-CN" sz="3600" dirty="0">
                <a:solidFill>
                  <a:srgbClr val="FFFFFF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findings</a:t>
            </a:r>
            <a:r>
              <a:rPr lang="en-US" sz="3600" dirty="0">
                <a:solidFill>
                  <a:srgbClr val="FFFFFF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 documented in Experiment 1</a:t>
            </a:r>
          </a:p>
          <a:p>
            <a:pPr>
              <a:lnSpc>
                <a:spcPct val="150000"/>
              </a:lnSpc>
            </a:pPr>
            <a:endParaRPr lang="en-US" sz="3600" dirty="0">
              <a:solidFill>
                <a:srgbClr val="FFFFFF"/>
              </a:solidFill>
              <a:latin typeface="Garamond" panose="02020404030301010803" pitchFamily="18" charset="0"/>
              <a:ea typeface="Latin Modern Math" panose="02000503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05784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1D939-23B7-6EF6-BEE9-6EE21D0FB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37BE1C-EAFF-3408-74D8-91BE8C3C5B69}"/>
              </a:ext>
            </a:extLst>
          </p:cNvPr>
          <p:cNvSpPr/>
          <p:nvPr/>
        </p:nvSpPr>
        <p:spPr>
          <a:xfrm>
            <a:off x="0" y="-1"/>
            <a:ext cx="12192000" cy="687977"/>
          </a:xfrm>
          <a:prstGeom prst="rect">
            <a:avLst/>
          </a:prstGeom>
          <a:solidFill>
            <a:srgbClr val="2236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   Experiment 2: Results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A8563EE-BDB1-51A8-B828-669313B40627}"/>
              </a:ext>
            </a:extLst>
          </p:cNvPr>
          <p:cNvGrpSpPr/>
          <p:nvPr/>
        </p:nvGrpSpPr>
        <p:grpSpPr>
          <a:xfrm>
            <a:off x="2611558" y="5956759"/>
            <a:ext cx="7649869" cy="369332"/>
            <a:chOff x="2495655" y="6065043"/>
            <a:chExt cx="7649869" cy="36933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1E2A9D7-4343-4242-156E-041741E8813B}"/>
                </a:ext>
              </a:extLst>
            </p:cNvPr>
            <p:cNvSpPr txBox="1"/>
            <p:nvPr/>
          </p:nvSpPr>
          <p:spPr>
            <a:xfrm>
              <a:off x="2495655" y="6065043"/>
              <a:ext cx="14303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22363A"/>
                  </a:solidFill>
                  <a:latin typeface="Garamond" panose="02020404030301010803" pitchFamily="18" charset="0"/>
                </a:rPr>
                <a:t>Lottery Task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8A83633-5C3F-3818-A7B8-35A5C25AB7D6}"/>
                </a:ext>
              </a:extLst>
            </p:cNvPr>
            <p:cNvSpPr txBox="1"/>
            <p:nvPr/>
          </p:nvSpPr>
          <p:spPr>
            <a:xfrm>
              <a:off x="8785472" y="6065043"/>
              <a:ext cx="136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22363A"/>
                  </a:solidFill>
                  <a:latin typeface="Garamond" panose="02020404030301010803" pitchFamily="18" charset="0"/>
                </a:rPr>
                <a:t>Mirror Task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2811E3F-A816-662B-F152-9B583AFECD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86"/>
          <a:stretch>
            <a:fillRect/>
          </a:stretch>
        </p:blipFill>
        <p:spPr>
          <a:xfrm>
            <a:off x="230606" y="1322554"/>
            <a:ext cx="11403932" cy="449342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CEE9A66-EAB2-AF03-189B-7A7DF42D3922}"/>
              </a:ext>
            </a:extLst>
          </p:cNvPr>
          <p:cNvSpPr/>
          <p:nvPr/>
        </p:nvSpPr>
        <p:spPr>
          <a:xfrm>
            <a:off x="0" y="687976"/>
            <a:ext cx="6303344" cy="6170024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10EEB3-39DC-645B-5262-F749631F8435}"/>
              </a:ext>
            </a:extLst>
          </p:cNvPr>
          <p:cNvSpPr txBox="1"/>
          <p:nvPr/>
        </p:nvSpPr>
        <p:spPr>
          <a:xfrm>
            <a:off x="454192" y="1411412"/>
            <a:ext cx="5394960" cy="4723152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FFFF"/>
              </a:solidFill>
              <a:latin typeface="Garamond" panose="02020404030301010803" pitchFamily="18" charset="0"/>
              <a:ea typeface="Latin Modern Math" panose="02000503000000000000" pitchFamily="2" charset="7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We replicate the</a:t>
            </a:r>
            <a:r>
              <a:rPr lang="zh-CN" altLang="en-US" sz="2400" dirty="0">
                <a:solidFill>
                  <a:srgbClr val="FFFFFF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 </a:t>
            </a:r>
            <a:r>
              <a:rPr lang="en-US" altLang="zh-CN" sz="2400" dirty="0">
                <a:solidFill>
                  <a:srgbClr val="FFFFFF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(alike)</a:t>
            </a:r>
            <a:r>
              <a:rPr lang="en-US" sz="2400" dirty="0">
                <a:solidFill>
                  <a:srgbClr val="FFFFFF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 FF pattern in Mirror as well.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FFFF"/>
              </a:solidFill>
              <a:latin typeface="Garamond" panose="02020404030301010803" pitchFamily="18" charset="0"/>
              <a:ea typeface="Latin Modern Math" panose="02000503000000000000" pitchFamily="2" charset="7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DMs who failed the test ALSO have a stronger </a:t>
            </a:r>
            <a:r>
              <a:rPr lang="en-US" altLang="zh-CN" sz="2400" dirty="0">
                <a:solidFill>
                  <a:srgbClr val="FFFFFF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(alike)</a:t>
            </a:r>
            <a:r>
              <a:rPr lang="zh-CN" altLang="en-US" sz="2400" dirty="0">
                <a:solidFill>
                  <a:srgbClr val="FFFFFF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FF pattern in Mirror as in Lottery.</a:t>
            </a:r>
          </a:p>
          <a:p>
            <a:pPr>
              <a:lnSpc>
                <a:spcPct val="150000"/>
              </a:lnSpc>
            </a:pPr>
            <a:endParaRPr lang="en-US" sz="3600" dirty="0">
              <a:solidFill>
                <a:srgbClr val="FFFFFF"/>
              </a:solidFill>
              <a:latin typeface="Garamond" panose="02020404030301010803" pitchFamily="18" charset="0"/>
              <a:ea typeface="Latin Modern Math" panose="02000503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54352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28DC4-0C06-09F0-B36C-F939EAF97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7F01E7-CFE3-955E-D5FC-51B921289E7D}"/>
              </a:ext>
            </a:extLst>
          </p:cNvPr>
          <p:cNvSpPr/>
          <p:nvPr/>
        </p:nvSpPr>
        <p:spPr>
          <a:xfrm>
            <a:off x="0" y="-1"/>
            <a:ext cx="12192000" cy="687977"/>
          </a:xfrm>
          <a:prstGeom prst="rect">
            <a:avLst/>
          </a:prstGeom>
          <a:solidFill>
            <a:srgbClr val="2236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   Experiment 2: Results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6120803-AE66-7F9B-A583-7EDC13A942ED}"/>
              </a:ext>
            </a:extLst>
          </p:cNvPr>
          <p:cNvGrpSpPr/>
          <p:nvPr/>
        </p:nvGrpSpPr>
        <p:grpSpPr>
          <a:xfrm>
            <a:off x="2611558" y="6221460"/>
            <a:ext cx="7667182" cy="369332"/>
            <a:chOff x="2495655" y="6065043"/>
            <a:chExt cx="7667182" cy="36933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46D678E-FB0A-D59B-1401-C70C858CE824}"/>
                </a:ext>
              </a:extLst>
            </p:cNvPr>
            <p:cNvSpPr txBox="1"/>
            <p:nvPr/>
          </p:nvSpPr>
          <p:spPr>
            <a:xfrm>
              <a:off x="2495655" y="6065043"/>
              <a:ext cx="13078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22363A"/>
                  </a:solidFill>
                  <a:latin typeface="Garamond" panose="02020404030301010803" pitchFamily="18" charset="0"/>
                </a:rPr>
                <a:t>( Fail Test 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05C5B3-228E-0B8A-B1C7-B87B5D572967}"/>
                </a:ext>
              </a:extLst>
            </p:cNvPr>
            <p:cNvSpPr txBox="1"/>
            <p:nvPr/>
          </p:nvSpPr>
          <p:spPr>
            <a:xfrm>
              <a:off x="8785472" y="6065043"/>
              <a:ext cx="13773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22363A"/>
                  </a:solidFill>
                  <a:latin typeface="Garamond" panose="02020404030301010803" pitchFamily="18" charset="0"/>
                </a:rPr>
                <a:t>( Pass Test )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70E7354-E846-BF1B-E06E-A639E570C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24" y="1603214"/>
            <a:ext cx="11731752" cy="44937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01016F-1CA6-3538-937A-723759C6E1D7}"/>
              </a:ext>
            </a:extLst>
          </p:cNvPr>
          <p:cNvSpPr txBox="1"/>
          <p:nvPr/>
        </p:nvSpPr>
        <p:spPr>
          <a:xfrm>
            <a:off x="230124" y="876162"/>
            <a:ext cx="7070182" cy="538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Latin Modern Math" panose="02000503000000000000" pitchFamily="2" charset="77"/>
                <a:ea typeface="Latin Modern Math" panose="02000503000000000000" pitchFamily="2" charset="77"/>
              </a:rPr>
              <a:t>The valuation of each pair of lottery and mirror:</a:t>
            </a:r>
          </a:p>
        </p:txBody>
      </p:sp>
    </p:spTree>
    <p:extLst>
      <p:ext uri="{BB962C8B-B14F-4D97-AF65-F5344CB8AC3E}">
        <p14:creationId xmlns:p14="http://schemas.microsoft.com/office/powerpoint/2010/main" val="3309017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63FB3-B629-9B4D-8A10-CBB1F1C1F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0F2533-19E5-C9AA-B05D-B477C37C6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384" y="1601493"/>
            <a:ext cx="9610344" cy="44207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3BDADF4-B83B-130B-3665-8C396F92B77B}"/>
              </a:ext>
            </a:extLst>
          </p:cNvPr>
          <p:cNvSpPr/>
          <p:nvPr/>
        </p:nvSpPr>
        <p:spPr>
          <a:xfrm>
            <a:off x="0" y="-1"/>
            <a:ext cx="12192000" cy="687977"/>
          </a:xfrm>
          <a:prstGeom prst="rect">
            <a:avLst/>
          </a:prstGeom>
          <a:solidFill>
            <a:srgbClr val="2236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   Experiment 2: Results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F4BC4E-AE8C-0E15-9B7E-C0C32376F760}"/>
              </a:ext>
            </a:extLst>
          </p:cNvPr>
          <p:cNvSpPr txBox="1"/>
          <p:nvPr/>
        </p:nvSpPr>
        <p:spPr>
          <a:xfrm>
            <a:off x="232986" y="724905"/>
            <a:ext cx="7070182" cy="538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Latin Modern Math" panose="02000503000000000000" pitchFamily="2" charset="77"/>
                <a:ea typeface="Latin Modern Math" panose="02000503000000000000" pitchFamily="2" charset="77"/>
              </a:rPr>
              <a:t>Mixed-effects model; Outcome: normalized absolute CE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1980B81-455A-679F-570D-ECA5AE04272C}"/>
              </a:ext>
            </a:extLst>
          </p:cNvPr>
          <p:cNvSpPr/>
          <p:nvPr/>
        </p:nvSpPr>
        <p:spPr>
          <a:xfrm>
            <a:off x="2863516" y="3477122"/>
            <a:ext cx="8039100" cy="505327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E7EA526-6A5F-BC32-E765-5DAA81E43436}"/>
                  </a:ext>
                </a:extLst>
              </p:cNvPr>
              <p:cNvSpPr txBox="1"/>
              <p:nvPr/>
            </p:nvSpPr>
            <p:spPr>
              <a:xfrm>
                <a:off x="232986" y="6145128"/>
                <a:ext cx="9837446" cy="5388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200" dirty="0">
                    <a:latin typeface="Latin Modern Math" panose="02000503000000000000" pitchFamily="2" charset="77"/>
                    <a:ea typeface="Latin Modern Math" panose="02000503000000000000" pitchFamily="2" charset="77"/>
                  </a:rPr>
                  <a:t>Robust to replacing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Latin Modern Math" panose="02000503000000000000" pitchFamily="2" charset="77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𝐷</m:t>
                        </m:r>
                      </m:e>
                      <m:sub>
                        <m:r>
                          <a:rPr lang="en-US" sz="2200" i="1"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𝑚𝑖𝑟𝑟𝑜𝑟</m:t>
                        </m:r>
                      </m:sub>
                    </m:sSub>
                  </m:oMath>
                </a14:m>
                <a:r>
                  <a:rPr lang="en-US" sz="2200" dirty="0">
                    <a:latin typeface="Latin Modern Math" panose="02000503000000000000" pitchFamily="2" charset="77"/>
                    <a:ea typeface="Latin Modern Math" panose="02000503000000000000" pitchFamily="2" charset="77"/>
                  </a:rPr>
                  <a:t> with the paired mirror’s valuation.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E7EA526-6A5F-BC32-E765-5DAA81E43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86" y="6145128"/>
                <a:ext cx="9837446" cy="538865"/>
              </a:xfrm>
              <a:prstGeom prst="rect">
                <a:avLst/>
              </a:prstGeom>
              <a:blipFill>
                <a:blip r:embed="rId4"/>
                <a:stretch>
                  <a:fillRect l="-774" b="-20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87029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7EC36-88B6-CAC7-5A24-21224EDE2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F282A27-2DC7-EF8C-D0E9-1CA3AFCCD93D}"/>
              </a:ext>
            </a:extLst>
          </p:cNvPr>
          <p:cNvCxnSpPr>
            <a:cxnSpLocks/>
          </p:cNvCxnSpPr>
          <p:nvPr/>
        </p:nvCxnSpPr>
        <p:spPr>
          <a:xfrm>
            <a:off x="1524000" y="3429000"/>
            <a:ext cx="9144000" cy="0"/>
          </a:xfrm>
          <a:prstGeom prst="line">
            <a:avLst/>
          </a:prstGeom>
          <a:ln w="28575">
            <a:solidFill>
              <a:srgbClr val="EC8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1D08F54-9530-95C7-3435-657EC79239CA}"/>
              </a:ext>
            </a:extLst>
          </p:cNvPr>
          <p:cNvCxnSpPr>
            <a:cxnSpLocks/>
          </p:cNvCxnSpPr>
          <p:nvPr/>
        </p:nvCxnSpPr>
        <p:spPr>
          <a:xfrm>
            <a:off x="7010400" y="3429000"/>
            <a:ext cx="3657600" cy="0"/>
          </a:xfrm>
          <a:prstGeom prst="line">
            <a:avLst/>
          </a:prstGeom>
          <a:ln w="28575">
            <a:solidFill>
              <a:srgbClr val="D6C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7482D9E-F21B-A065-714A-EA8873C68C71}"/>
              </a:ext>
            </a:extLst>
          </p:cNvPr>
          <p:cNvSpPr txBox="1"/>
          <p:nvPr/>
        </p:nvSpPr>
        <p:spPr>
          <a:xfrm>
            <a:off x="1524000" y="2782669"/>
            <a:ext cx="5599161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22363A"/>
                </a:solidFill>
                <a:effectLst/>
                <a:latin typeface="Garamond" panose="02020404030301010803" pitchFamily="18" charset="0"/>
              </a:rPr>
              <a:t>Experiment 3: Cognitive Uncertainty</a:t>
            </a:r>
          </a:p>
        </p:txBody>
      </p:sp>
    </p:spTree>
    <p:extLst>
      <p:ext uri="{BB962C8B-B14F-4D97-AF65-F5344CB8AC3E}">
        <p14:creationId xmlns:p14="http://schemas.microsoft.com/office/powerpoint/2010/main" val="28155017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F77BB-5703-8631-28C8-529303082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48DBC5-D74D-2DB0-5C44-5ED7F6E52CEC}"/>
              </a:ext>
            </a:extLst>
          </p:cNvPr>
          <p:cNvSpPr/>
          <p:nvPr/>
        </p:nvSpPr>
        <p:spPr>
          <a:xfrm>
            <a:off x="0" y="-1"/>
            <a:ext cx="12192000" cy="687977"/>
          </a:xfrm>
          <a:prstGeom prst="rect">
            <a:avLst/>
          </a:prstGeom>
          <a:solidFill>
            <a:srgbClr val="2236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   Experiment 3: Designs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986695-936A-A937-7A8D-D77A6D0167EB}"/>
              </a:ext>
            </a:extLst>
          </p:cNvPr>
          <p:cNvSpPr txBox="1"/>
          <p:nvPr/>
        </p:nvSpPr>
        <p:spPr>
          <a:xfrm>
            <a:off x="428376" y="2134465"/>
            <a:ext cx="4733171" cy="3599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Garamond" panose="02020404030301010803" pitchFamily="18" charset="0"/>
              </a:rPr>
              <a:t>Expt. 1 + the cognitive uncertainty measurement (Enke &amp; Graeber, 2023).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Garamond" panose="02020404030301010803" pitchFamily="18" charset="0"/>
                <a:ea typeface="Latin Modern Math" panose="02000503000000000000" pitchFamily="2" charset="77"/>
              </a:rPr>
              <a:t>After each valuation submission.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Garamond" panose="02020404030301010803" pitchFamily="18" charset="0"/>
              <a:ea typeface="Latin Modern Math" panose="02000503000000000000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accent2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How much d</a:t>
            </a:r>
            <a:r>
              <a:rPr lang="en-US" altLang="zh-CN" sz="2200" b="1" dirty="0">
                <a:solidFill>
                  <a:schemeClr val="accent2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oes</a:t>
            </a:r>
            <a:r>
              <a:rPr lang="en-US" sz="2200" b="1" dirty="0">
                <a:solidFill>
                  <a:schemeClr val="accent2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 subjective cognitive uncertainty </a:t>
            </a:r>
            <a:r>
              <a:rPr lang="en-US" altLang="zh-CN" sz="2200" b="1" dirty="0">
                <a:solidFill>
                  <a:schemeClr val="accent2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measure</a:t>
            </a:r>
            <a:r>
              <a:rPr lang="zh-CN" altLang="en-US" sz="2200" b="1" dirty="0">
                <a:solidFill>
                  <a:schemeClr val="accent2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overlap</a:t>
            </a:r>
            <a:r>
              <a:rPr lang="en-US" sz="2200" b="1" dirty="0">
                <a:solidFill>
                  <a:schemeClr val="accent2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 our test 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B038E7C-FE7D-F581-108C-BFAD0B2933A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62824" y="1331575"/>
            <a:ext cx="6400800" cy="4991100"/>
          </a:xfrm>
          <a:prstGeom prst="rect">
            <a:avLst/>
          </a:prstGeom>
          <a:solidFill>
            <a:srgbClr val="FAFAFA"/>
          </a:solidFill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35984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9F8EB-FF26-F33F-77A6-E05A2D18C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5AAF602-1E2E-B642-5CC0-B1A03326C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475557"/>
            <a:ext cx="11430000" cy="428970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9A14327-19B9-EE12-CB9D-D89C38523B1D}"/>
              </a:ext>
            </a:extLst>
          </p:cNvPr>
          <p:cNvSpPr/>
          <p:nvPr/>
        </p:nvSpPr>
        <p:spPr>
          <a:xfrm>
            <a:off x="0" y="-1"/>
            <a:ext cx="12192000" cy="687977"/>
          </a:xfrm>
          <a:prstGeom prst="rect">
            <a:avLst/>
          </a:prstGeom>
          <a:solidFill>
            <a:srgbClr val="2236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   Experiment 3: Results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AC7E2F1-95EB-E30F-60B7-4C14CD2A7389}"/>
              </a:ext>
            </a:extLst>
          </p:cNvPr>
          <p:cNvGrpSpPr/>
          <p:nvPr/>
        </p:nvGrpSpPr>
        <p:grpSpPr>
          <a:xfrm>
            <a:off x="2491242" y="5984288"/>
            <a:ext cx="7852225" cy="369332"/>
            <a:chOff x="2495655" y="6065043"/>
            <a:chExt cx="7852225" cy="36933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1CA7CB4-7276-946E-D635-D2E0F98B83E7}"/>
                </a:ext>
              </a:extLst>
            </p:cNvPr>
            <p:cNvSpPr txBox="1"/>
            <p:nvPr/>
          </p:nvSpPr>
          <p:spPr>
            <a:xfrm>
              <a:off x="2495655" y="6065043"/>
              <a:ext cx="19191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22363A"/>
                  </a:solidFill>
                  <a:latin typeface="Garamond" panose="02020404030301010803" pitchFamily="18" charset="0"/>
                </a:rPr>
                <a:t>( High CU DMs 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6728E81-EE46-A1D9-F02A-09E23CA1B5AA}"/>
                </a:ext>
              </a:extLst>
            </p:cNvPr>
            <p:cNvSpPr txBox="1"/>
            <p:nvPr/>
          </p:nvSpPr>
          <p:spPr>
            <a:xfrm>
              <a:off x="8520777" y="6065043"/>
              <a:ext cx="1827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22363A"/>
                  </a:solidFill>
                  <a:latin typeface="Garamond" panose="02020404030301010803" pitchFamily="18" charset="0"/>
                </a:rPr>
                <a:t>( Low CU DMs 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60308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047B7-41C6-0030-B5FA-2051E3D8E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F4FCB1-A7E5-28F1-A77E-63CD471CE6F9}"/>
              </a:ext>
            </a:extLst>
          </p:cNvPr>
          <p:cNvSpPr/>
          <p:nvPr/>
        </p:nvSpPr>
        <p:spPr>
          <a:xfrm>
            <a:off x="0" y="-1"/>
            <a:ext cx="12192000" cy="687977"/>
          </a:xfrm>
          <a:prstGeom prst="rect">
            <a:avLst/>
          </a:prstGeom>
          <a:solidFill>
            <a:srgbClr val="2236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   Experiment 3: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3E1C62-325C-7146-8615-96A5AAEF3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828" y="1574553"/>
            <a:ext cx="9610344" cy="4478895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44E4068-FDA5-0BC3-D7A7-C68064F9B45E}"/>
              </a:ext>
            </a:extLst>
          </p:cNvPr>
          <p:cNvSpPr/>
          <p:nvPr/>
        </p:nvSpPr>
        <p:spPr>
          <a:xfrm>
            <a:off x="2863516" y="3477122"/>
            <a:ext cx="8039100" cy="505327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604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589FF-3B6B-77B5-C6BF-D5D8B83FA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8DB7776-8F62-AB2C-2C7A-065A54132F03}"/>
              </a:ext>
            </a:extLst>
          </p:cNvPr>
          <p:cNvSpPr/>
          <p:nvPr/>
        </p:nvSpPr>
        <p:spPr>
          <a:xfrm>
            <a:off x="0" y="-1"/>
            <a:ext cx="12192000" cy="687977"/>
          </a:xfrm>
          <a:prstGeom prst="rect">
            <a:avLst/>
          </a:prstGeom>
          <a:solidFill>
            <a:srgbClr val="2236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   Experiment 3: Results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0BA5627-F27C-0AFF-89AD-CCC70A9DFE28}"/>
              </a:ext>
            </a:extLst>
          </p:cNvPr>
          <p:cNvGrpSpPr/>
          <p:nvPr/>
        </p:nvGrpSpPr>
        <p:grpSpPr>
          <a:xfrm>
            <a:off x="3513220" y="1320186"/>
            <a:ext cx="8301791" cy="4963582"/>
            <a:chOff x="2935704" y="1344249"/>
            <a:chExt cx="8301791" cy="496358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F5081EB-CA58-77B8-8309-52E8E9C94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744" r="7790"/>
            <a:stretch>
              <a:fillRect/>
            </a:stretch>
          </p:blipFill>
          <p:spPr>
            <a:xfrm>
              <a:off x="2935704" y="1344249"/>
              <a:ext cx="8301791" cy="4963582"/>
            </a:xfrm>
            <a:prstGeom prst="rect">
              <a:avLst/>
            </a:prstGeom>
          </p:spPr>
        </p:pic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0847908A-4931-AE5B-D00E-705336DDEF83}"/>
                </a:ext>
              </a:extLst>
            </p:cNvPr>
            <p:cNvSpPr/>
            <p:nvPr/>
          </p:nvSpPr>
          <p:spPr>
            <a:xfrm>
              <a:off x="4475747" y="3453064"/>
              <a:ext cx="6569242" cy="553449"/>
            </a:xfrm>
            <a:prstGeom prst="roundRect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441C37-C722-9FE0-A951-27BBC6CFDF72}"/>
                  </a:ext>
                </a:extLst>
              </p:cNvPr>
              <p:cNvSpPr txBox="1"/>
              <p:nvPr/>
            </p:nvSpPr>
            <p:spPr>
              <a:xfrm>
                <a:off x="376989" y="1763149"/>
                <a:ext cx="2892338" cy="4077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Latin Modern Math" panose="02000503000000000000" pitchFamily="2" charset="77"/>
                      </a:rPr>
                      <m:t>𝐶</m:t>
                    </m:r>
                    <m:sSup>
                      <m:sSupPr>
                        <m:ctrlPr>
                          <a:rPr lang="en-US" sz="25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in Modern Math" panose="02000503000000000000" pitchFamily="2" charset="77"/>
                          </a:rPr>
                        </m:ctrlPr>
                      </m:sSupPr>
                      <m:e>
                        <m: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in Modern Math" panose="02000503000000000000" pitchFamily="2" charset="77"/>
                          </a:rPr>
                          <m:t>𝑈</m:t>
                        </m:r>
                      </m:e>
                      <m:sup>
                        <m:r>
                          <a:rPr lang="en-US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in Modern Math" panose="02000503000000000000" pitchFamily="2" charset="77"/>
                          </a:rPr>
                          <m:t>𝑡𝑒𝑠𝑡</m:t>
                        </m:r>
                      </m:sup>
                    </m:sSup>
                  </m:oMath>
                </a14:m>
                <a:r>
                  <a:rPr lang="en-US" sz="2500" dirty="0">
                    <a:solidFill>
                      <a:schemeClr val="tx1"/>
                    </a:solidFill>
                    <a:latin typeface="Garamond" panose="02020404030301010803" pitchFamily="18" charset="0"/>
                    <a:ea typeface="Latin Modern Math" panose="02000503000000000000" pitchFamily="2" charset="77"/>
                  </a:rPr>
                  <a:t>: Individual median of CU for </a:t>
                </a:r>
                <a:r>
                  <a:rPr lang="en-US" sz="2500" b="1" dirty="0">
                    <a:solidFill>
                      <a:schemeClr val="accent2"/>
                    </a:solidFill>
                    <a:latin typeface="Garamond" panose="02020404030301010803" pitchFamily="18" charset="0"/>
                    <a:ea typeface="Latin Modern Math" panose="02000503000000000000" pitchFamily="2" charset="77"/>
                  </a:rPr>
                  <a:t>test</a:t>
                </a:r>
                <a:r>
                  <a:rPr lang="en-US" sz="2500" dirty="0">
                    <a:solidFill>
                      <a:schemeClr val="tx1"/>
                    </a:solidFill>
                    <a:latin typeface="Garamond" panose="02020404030301010803" pitchFamily="18" charset="0"/>
                    <a:ea typeface="Latin Modern Math" panose="02000503000000000000" pitchFamily="2" charset="77"/>
                  </a:rPr>
                  <a:t> </a:t>
                </a:r>
                <a:r>
                  <a:rPr lang="en-US" altLang="zh-CN" sz="2500" dirty="0">
                    <a:solidFill>
                      <a:schemeClr val="tx1"/>
                    </a:solidFill>
                    <a:latin typeface="Garamond" panose="02020404030301010803" pitchFamily="18" charset="0"/>
                    <a:ea typeface="Latin Modern Math" panose="02000503000000000000" pitchFamily="2" charset="77"/>
                  </a:rPr>
                  <a:t>lotteries</a:t>
                </a:r>
                <a:r>
                  <a:rPr lang="en-US" sz="2500" dirty="0">
                    <a:solidFill>
                      <a:schemeClr val="tx1"/>
                    </a:solidFill>
                    <a:latin typeface="Garamond" panose="02020404030301010803" pitchFamily="18" charset="0"/>
                    <a:ea typeface="Latin Modern Math" panose="02000503000000000000" pitchFamily="2" charset="77"/>
                  </a:rPr>
                  <a:t>.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500" dirty="0">
                  <a:solidFill>
                    <a:schemeClr val="tx1"/>
                  </a:solidFill>
                  <a:latin typeface="Garamond" panose="02020404030301010803" pitchFamily="18" charset="0"/>
                  <a:ea typeface="Latin Modern Math" panose="02000503000000000000" pitchFamily="2" charset="7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5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Latin Modern Math" panose="02000503000000000000" pitchFamily="2" charset="77"/>
                      </a:rPr>
                      <m:t>𝐶</m:t>
                    </m:r>
                    <m:sSup>
                      <m:sSupPr>
                        <m:ctrlP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in Modern Math" panose="02000503000000000000" pitchFamily="2" charset="77"/>
                          </a:rPr>
                        </m:ctrlPr>
                      </m:sSupPr>
                      <m:e>
                        <m:r>
                          <a:rPr lang="en-US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in Modern Math" panose="02000503000000000000" pitchFamily="2" charset="77"/>
                          </a:rPr>
                          <m:t>𝑈</m:t>
                        </m:r>
                      </m:e>
                      <m:sup>
                        <m: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in Modern Math" panose="02000503000000000000" pitchFamily="2" charset="77"/>
                          </a:rPr>
                          <m:t>𝑟𝑖𝑠𝑘</m:t>
                        </m:r>
                      </m:sup>
                    </m:sSup>
                  </m:oMath>
                </a14:m>
                <a:r>
                  <a:rPr lang="en-US" sz="2500" dirty="0">
                    <a:solidFill>
                      <a:schemeClr val="tx1"/>
                    </a:solidFill>
                    <a:latin typeface="Garamond" panose="02020404030301010803" pitchFamily="18" charset="0"/>
                    <a:ea typeface="Latin Modern Math" panose="02000503000000000000" pitchFamily="2" charset="77"/>
                  </a:rPr>
                  <a:t>: Individual median of CU for </a:t>
                </a:r>
                <a:r>
                  <a:rPr lang="en-US" sz="2500" b="1" dirty="0">
                    <a:solidFill>
                      <a:schemeClr val="accent2"/>
                    </a:solidFill>
                    <a:latin typeface="Garamond" panose="02020404030301010803" pitchFamily="18" charset="0"/>
                    <a:ea typeface="Latin Modern Math" panose="02000503000000000000" pitchFamily="2" charset="77"/>
                  </a:rPr>
                  <a:t>risk</a:t>
                </a:r>
                <a:r>
                  <a:rPr lang="en-US" sz="2500" dirty="0">
                    <a:solidFill>
                      <a:schemeClr val="tx1"/>
                    </a:solidFill>
                    <a:latin typeface="Garamond" panose="02020404030301010803" pitchFamily="18" charset="0"/>
                    <a:ea typeface="Latin Modern Math" panose="02000503000000000000" pitchFamily="2" charset="77"/>
                  </a:rPr>
                  <a:t> </a:t>
                </a:r>
                <a:r>
                  <a:rPr lang="en-US" altLang="zh-CN" sz="2500" dirty="0">
                    <a:solidFill>
                      <a:schemeClr val="tx1"/>
                    </a:solidFill>
                    <a:latin typeface="Garamond" panose="02020404030301010803" pitchFamily="18" charset="0"/>
                    <a:ea typeface="Latin Modern Math" panose="02000503000000000000" pitchFamily="2" charset="77"/>
                  </a:rPr>
                  <a:t>lotteries</a:t>
                </a:r>
                <a:r>
                  <a:rPr lang="en-US" sz="2500" dirty="0">
                    <a:solidFill>
                      <a:schemeClr val="tx1"/>
                    </a:solidFill>
                    <a:latin typeface="Garamond" panose="02020404030301010803" pitchFamily="18" charset="0"/>
                    <a:ea typeface="Latin Modern Math" panose="02000503000000000000" pitchFamily="2" charset="77"/>
                  </a:rPr>
                  <a:t>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441C37-C722-9FE0-A951-27BBC6CFD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89" y="1763149"/>
                <a:ext cx="2892338" cy="4077655"/>
              </a:xfrm>
              <a:prstGeom prst="rect">
                <a:avLst/>
              </a:prstGeom>
              <a:blipFill>
                <a:blip r:embed="rId4"/>
                <a:stretch>
                  <a:fillRect l="-3057" r="-2183" b="-3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4E9738-B32F-E633-DC27-9468A4BBFE36}"/>
              </a:ext>
            </a:extLst>
          </p:cNvPr>
          <p:cNvSpPr/>
          <p:nvPr/>
        </p:nvSpPr>
        <p:spPr>
          <a:xfrm>
            <a:off x="5053263" y="4590596"/>
            <a:ext cx="6569242" cy="553449"/>
          </a:xfrm>
          <a:prstGeom prst="roundRect">
            <a:avLst/>
          </a:prstGeom>
          <a:noFill/>
          <a:ln w="19050">
            <a:solidFill>
              <a:srgbClr val="2135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3012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56EB6-7227-D2D8-F186-5F01A1FCA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B2E3DE3-AEC3-EA50-FD3B-64E15D415B26}"/>
              </a:ext>
            </a:extLst>
          </p:cNvPr>
          <p:cNvCxnSpPr>
            <a:cxnSpLocks/>
          </p:cNvCxnSpPr>
          <p:nvPr/>
        </p:nvCxnSpPr>
        <p:spPr>
          <a:xfrm>
            <a:off x="1524000" y="3429000"/>
            <a:ext cx="9144000" cy="0"/>
          </a:xfrm>
          <a:prstGeom prst="line">
            <a:avLst/>
          </a:prstGeom>
          <a:ln w="28575">
            <a:solidFill>
              <a:srgbClr val="EC8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B2884D3-26BD-9864-24E2-B9EB5407B0A7}"/>
              </a:ext>
            </a:extLst>
          </p:cNvPr>
          <p:cNvCxnSpPr>
            <a:cxnSpLocks/>
          </p:cNvCxnSpPr>
          <p:nvPr/>
        </p:nvCxnSpPr>
        <p:spPr>
          <a:xfrm>
            <a:off x="8839200" y="3429000"/>
            <a:ext cx="1828800" cy="0"/>
          </a:xfrm>
          <a:prstGeom prst="line">
            <a:avLst/>
          </a:prstGeom>
          <a:ln w="28575">
            <a:solidFill>
              <a:srgbClr val="D6C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CD6B5AF-4DFF-6D2C-07C3-A5C746A0BFE0}"/>
              </a:ext>
            </a:extLst>
          </p:cNvPr>
          <p:cNvSpPr txBox="1"/>
          <p:nvPr/>
        </p:nvSpPr>
        <p:spPr>
          <a:xfrm>
            <a:off x="1524000" y="2782669"/>
            <a:ext cx="4627870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22363A"/>
                </a:solidFill>
                <a:effectLst/>
                <a:latin typeface="Garamond" panose="02020404030301010803" pitchFamily="18" charset="0"/>
              </a:rPr>
              <a:t>Experiment 4: Student Sample</a:t>
            </a:r>
          </a:p>
        </p:txBody>
      </p:sp>
    </p:spTree>
    <p:extLst>
      <p:ext uri="{BB962C8B-B14F-4D97-AF65-F5344CB8AC3E}">
        <p14:creationId xmlns:p14="http://schemas.microsoft.com/office/powerpoint/2010/main" val="20361235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E27E6-F619-6D23-390A-96023D559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D37FEC4-7360-C328-4608-1EE5805D9333}"/>
              </a:ext>
            </a:extLst>
          </p:cNvPr>
          <p:cNvSpPr/>
          <p:nvPr/>
        </p:nvSpPr>
        <p:spPr>
          <a:xfrm>
            <a:off x="0" y="-1"/>
            <a:ext cx="12192000" cy="687977"/>
          </a:xfrm>
          <a:prstGeom prst="rect">
            <a:avLst/>
          </a:prstGeom>
          <a:solidFill>
            <a:srgbClr val="2236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   Experiment 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447A32-989F-C915-AE13-259938774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00938"/>
            <a:ext cx="5416627" cy="42885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9F37A8-54BF-887B-25BC-358FF085F1B2}"/>
              </a:ext>
            </a:extLst>
          </p:cNvPr>
          <p:cNvSpPr txBox="1"/>
          <p:nvPr/>
        </p:nvSpPr>
        <p:spPr>
          <a:xfrm>
            <a:off x="679374" y="1487434"/>
            <a:ext cx="4782964" cy="4615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accent2"/>
                </a:solidFill>
                <a:latin typeface="Garamond" panose="02020404030301010803" pitchFamily="18" charset="0"/>
                <a:ea typeface="Latin Modern Math" panose="02000503000000000000" pitchFamily="2" charset="77"/>
              </a:rPr>
              <a:t>Are the findings specific to this Prolific population?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Garamond" panose="02020404030301010803" pitchFamily="18" charset="0"/>
                <a:ea typeface="Latin Modern Math" panose="02000503000000000000" pitchFamily="2" charset="77"/>
              </a:rPr>
              <a:t>Replicate Expt. 1 with university student sample.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Garamond" panose="02020404030301010803" pitchFamily="18" charset="0"/>
                <a:ea typeface="Latin Modern Math" panose="02000503000000000000" pitchFamily="2" charset="77"/>
              </a:rPr>
              <a:t>Fewer DMs (29 / 81) </a:t>
            </a:r>
            <a:r>
              <a:rPr lang="en-US" altLang="zh-CN" sz="2200" dirty="0">
                <a:latin typeface="Garamond" panose="02020404030301010803" pitchFamily="18" charset="0"/>
                <a:ea typeface="Latin Modern Math" panose="02000503000000000000" pitchFamily="2" charset="77"/>
              </a:rPr>
              <a:t>failed</a:t>
            </a:r>
            <a:r>
              <a:rPr lang="en-US" sz="2200" dirty="0">
                <a:latin typeface="Garamond" panose="02020404030301010803" pitchFamily="18" charset="0"/>
                <a:ea typeface="Latin Modern Math" panose="02000503000000000000" pitchFamily="2" charset="77"/>
              </a:rPr>
              <a:t> the test, and many (18 / 29) only failed once.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Garamond" panose="02020404030301010803" pitchFamily="18" charset="0"/>
                <a:ea typeface="Latin Modern Math" panose="02000503000000000000" pitchFamily="2" charset="77"/>
              </a:rPr>
              <a:t>The results are essentially same to that of Expt. 1.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Garamond" panose="02020404030301010803" pitchFamily="18" charset="0"/>
              <a:ea typeface="Latin Modern Math" panose="02000503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489878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CC3D5-B207-5452-5789-441415358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89B3D5-9122-2752-1BF4-DC9D6C7256E2}"/>
              </a:ext>
            </a:extLst>
          </p:cNvPr>
          <p:cNvSpPr/>
          <p:nvPr/>
        </p:nvSpPr>
        <p:spPr>
          <a:xfrm>
            <a:off x="0" y="-1"/>
            <a:ext cx="12192000" cy="687977"/>
          </a:xfrm>
          <a:prstGeom prst="rect">
            <a:avLst/>
          </a:prstGeom>
          <a:solidFill>
            <a:srgbClr val="2236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   Experiment 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915E17-3716-28E6-83F6-7B67B54EE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828" y="1634744"/>
            <a:ext cx="9610344" cy="4421937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5B82CD2-9A9C-A251-BA64-5268E6EC3EC8}"/>
              </a:ext>
            </a:extLst>
          </p:cNvPr>
          <p:cNvSpPr/>
          <p:nvPr/>
        </p:nvSpPr>
        <p:spPr>
          <a:xfrm>
            <a:off x="3826042" y="3429001"/>
            <a:ext cx="6918158" cy="625641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1996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9A795-B14D-32AD-1EE6-AAD1FD67B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14F6323-9DB8-11BB-18A6-B8F165820AFE}"/>
              </a:ext>
            </a:extLst>
          </p:cNvPr>
          <p:cNvCxnSpPr>
            <a:cxnSpLocks/>
          </p:cNvCxnSpPr>
          <p:nvPr/>
        </p:nvCxnSpPr>
        <p:spPr>
          <a:xfrm>
            <a:off x="1524000" y="3429000"/>
            <a:ext cx="9144000" cy="0"/>
          </a:xfrm>
          <a:prstGeom prst="line">
            <a:avLst/>
          </a:prstGeom>
          <a:ln w="28575">
            <a:solidFill>
              <a:srgbClr val="EC8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0BB18D7-ADAC-FD9C-2915-97B37E999BA0}"/>
              </a:ext>
            </a:extLst>
          </p:cNvPr>
          <p:cNvSpPr txBox="1"/>
          <p:nvPr/>
        </p:nvSpPr>
        <p:spPr>
          <a:xfrm>
            <a:off x="1524000" y="2782669"/>
            <a:ext cx="168315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22363A"/>
                </a:solidFill>
                <a:latin typeface="Garamond" panose="02020404030301010803" pitchFamily="18" charset="0"/>
              </a:rPr>
              <a:t>Discussion</a:t>
            </a:r>
            <a:endParaRPr lang="en-US" sz="2800" b="1" dirty="0">
              <a:solidFill>
                <a:srgbClr val="22363A"/>
              </a:solidFill>
              <a:effectLst/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8051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A20F2-9D6A-2633-8920-1A2413101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380B79-5E05-5303-0329-5B3CC4FBC82E}"/>
              </a:ext>
            </a:extLst>
          </p:cNvPr>
          <p:cNvSpPr/>
          <p:nvPr/>
        </p:nvSpPr>
        <p:spPr>
          <a:xfrm>
            <a:off x="0" y="-1"/>
            <a:ext cx="12192000" cy="687977"/>
          </a:xfrm>
          <a:prstGeom prst="rect">
            <a:avLst/>
          </a:prstGeom>
          <a:solidFill>
            <a:srgbClr val="2236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   Discussion 1 / 3: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A345C9-33DA-BE06-D321-0ED8EEA2E03E}"/>
              </a:ext>
            </a:extLst>
          </p:cNvPr>
          <p:cNvSpPr txBox="1"/>
          <p:nvPr/>
        </p:nvSpPr>
        <p:spPr>
          <a:xfrm>
            <a:off x="2182368" y="1481009"/>
            <a:ext cx="7827264" cy="4522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Garamond" panose="02020404030301010803" pitchFamily="18" charset="0"/>
              </a:rPr>
              <a:t>Previous studies emphasize lottery-specific cognitive frictions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Garamond" panose="02020404030301010803" pitchFamily="18" charset="0"/>
              </a:rPr>
              <a:t>The complexity of computing lottery values (</a:t>
            </a:r>
            <a:r>
              <a:rPr lang="en-US" dirty="0">
                <a:latin typeface="Garamond" panose="02020404030301010803" pitchFamily="18" charset="0"/>
              </a:rPr>
              <a:t>Oprea 2024</a:t>
            </a:r>
            <a:r>
              <a:rPr lang="en-US" altLang="zh-CN" dirty="0">
                <a:latin typeface="Garamond" panose="02020404030301010803" pitchFamily="18" charset="0"/>
              </a:rPr>
              <a:t>,</a:t>
            </a:r>
            <a:r>
              <a:rPr lang="zh-CN" altLang="en-US" dirty="0">
                <a:latin typeface="Garamond" panose="02020404030301010803" pitchFamily="18" charset="0"/>
              </a:rPr>
              <a:t> </a:t>
            </a:r>
            <a:r>
              <a:rPr lang="en-US" altLang="zh-CN" dirty="0">
                <a:latin typeface="Garamond" panose="02020404030301010803" pitchFamily="18" charset="0"/>
              </a:rPr>
              <a:t>Puri</a:t>
            </a:r>
            <a:r>
              <a:rPr lang="zh-CN" altLang="en-US" dirty="0">
                <a:latin typeface="Garamond" panose="02020404030301010803" pitchFamily="18" charset="0"/>
              </a:rPr>
              <a:t> </a:t>
            </a:r>
            <a:r>
              <a:rPr lang="en-US" altLang="zh-CN" dirty="0">
                <a:latin typeface="Garamond" panose="02020404030301010803" pitchFamily="18" charset="0"/>
              </a:rPr>
              <a:t>2025</a:t>
            </a:r>
            <a:r>
              <a:rPr lang="en-US" sz="2200" dirty="0">
                <a:latin typeface="Garamond" panose="02020404030301010803" pitchFamily="18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Garamond" panose="02020404030301010803" pitchFamily="18" charset="0"/>
              </a:rPr>
              <a:t>Noisy perception of probabilities or payoffs (</a:t>
            </a:r>
            <a:r>
              <a:rPr lang="en-US" dirty="0">
                <a:latin typeface="Garamond" panose="02020404030301010803" pitchFamily="18" charset="0"/>
              </a:rPr>
              <a:t>Woodford, 2020; Khaw et al., 2021; Frydman and Jin, 2021; Enke and Graber, 2023; Vieider, 2021;</a:t>
            </a:r>
            <a:r>
              <a:rPr lang="en-US" sz="2200" dirty="0">
                <a:latin typeface="Garamond" panose="02020404030301010803" pitchFamily="18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Garamond" panose="02020404030301010803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accent2"/>
                </a:solidFill>
                <a:latin typeface="Garamond" panose="02020404030301010803" pitchFamily="18" charset="0"/>
              </a:rPr>
              <a:t>Our contribution</a:t>
            </a:r>
            <a:r>
              <a:rPr lang="en-US" sz="2200" dirty="0">
                <a:latin typeface="Garamond" panose="02020404030301010803" pitchFamily="18" charset="0"/>
              </a:rPr>
              <a:t>: Highlight the importance of non–lottery-specific cognitive frictions (e.g. the complexity of price lists).</a:t>
            </a:r>
          </a:p>
        </p:txBody>
      </p:sp>
    </p:spTree>
    <p:extLst>
      <p:ext uri="{BB962C8B-B14F-4D97-AF65-F5344CB8AC3E}">
        <p14:creationId xmlns:p14="http://schemas.microsoft.com/office/powerpoint/2010/main" val="17508640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2C0BA-3D5E-BDEB-AC4F-6FF1AC484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E8D23D-39F3-0D6D-D6BF-207B636BF42A}"/>
              </a:ext>
            </a:extLst>
          </p:cNvPr>
          <p:cNvSpPr/>
          <p:nvPr/>
        </p:nvSpPr>
        <p:spPr>
          <a:xfrm>
            <a:off x="0" y="-1"/>
            <a:ext cx="12192000" cy="687977"/>
          </a:xfrm>
          <a:prstGeom prst="rect">
            <a:avLst/>
          </a:prstGeom>
          <a:solidFill>
            <a:srgbClr val="2236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   Discussion 2 / 3: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66F7AA-749F-F48D-08A6-EAFF82D40376}"/>
              </a:ext>
            </a:extLst>
          </p:cNvPr>
          <p:cNvSpPr txBox="1"/>
          <p:nvPr/>
        </p:nvSpPr>
        <p:spPr>
          <a:xfrm>
            <a:off x="1664689" y="1672460"/>
            <a:ext cx="8862621" cy="4107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Empirical regularities are key inputs for developing preference-based models.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But not all observed behaviors are equally informative.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Garamond" panose="02020404030301010803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accent2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Our contribution: </a:t>
            </a:r>
            <a:r>
              <a:rPr 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Our test helps clarify the scope of preference-based models.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For example, most leading models respect</a:t>
            </a:r>
            <a:r>
              <a:rPr lang="zh-CN" alt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stochastic</a:t>
            </a:r>
            <a:r>
              <a:rPr 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 dominance.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When participants repeatedly fail </a:t>
            </a:r>
            <a:r>
              <a:rPr lang="en-US" altLang="zh-CN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simple</a:t>
            </a:r>
            <a:r>
              <a:rPr lang="zh-CN" alt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tests, caution is needed to use their behavior to motivate such models.</a:t>
            </a:r>
          </a:p>
        </p:txBody>
      </p:sp>
    </p:spTree>
    <p:extLst>
      <p:ext uri="{BB962C8B-B14F-4D97-AF65-F5344CB8AC3E}">
        <p14:creationId xmlns:p14="http://schemas.microsoft.com/office/powerpoint/2010/main" val="26431648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FF2A9-53A2-BDDF-B9B8-AFB2D3404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C0F32F-172F-1FF3-EEB6-3F333B8F677C}"/>
              </a:ext>
            </a:extLst>
          </p:cNvPr>
          <p:cNvSpPr/>
          <p:nvPr/>
        </p:nvSpPr>
        <p:spPr>
          <a:xfrm>
            <a:off x="0" y="-1"/>
            <a:ext cx="12192000" cy="687977"/>
          </a:xfrm>
          <a:prstGeom prst="rect">
            <a:avLst/>
          </a:prstGeom>
          <a:solidFill>
            <a:srgbClr val="2236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   Discussion 3 / 3: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F37936-9B12-A298-D1CA-B85100F88C69}"/>
              </a:ext>
            </a:extLst>
          </p:cNvPr>
          <p:cNvSpPr txBox="1"/>
          <p:nvPr/>
        </p:nvSpPr>
        <p:spPr>
          <a:xfrm>
            <a:off x="1664689" y="1191197"/>
            <a:ext cx="8862621" cy="4615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Experimental studies often include: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clearer mechanism</a:t>
            </a:r>
            <a:r>
              <a:rPr lang="zh-CN" alt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descriptions (Gonczarowski et al., 2023),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trainings to reduce misconceptions (Plott and Zeiler, 2005, 2007),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improving instructions (Freeman et al., 2018),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adopting characterization assessment method (Bernheim et al., 2025).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Garamond" panose="02020404030301010803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While these design features are helpful, their effects can be difficult to assess.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Garamond" panose="02020404030301010803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accent2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Our contribution: </a:t>
            </a:r>
            <a:r>
              <a:rPr 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A convenient, and more direct and stringent assessment.</a:t>
            </a:r>
          </a:p>
        </p:txBody>
      </p:sp>
    </p:spTree>
    <p:extLst>
      <p:ext uri="{BB962C8B-B14F-4D97-AF65-F5344CB8AC3E}">
        <p14:creationId xmlns:p14="http://schemas.microsoft.com/office/powerpoint/2010/main" val="27468160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6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E0724D-04C4-88E5-2645-459C3CDF0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175C980-1B17-0EE2-B190-3D213DC2282C}"/>
              </a:ext>
            </a:extLst>
          </p:cNvPr>
          <p:cNvSpPr txBox="1"/>
          <p:nvPr/>
        </p:nvSpPr>
        <p:spPr>
          <a:xfrm>
            <a:off x="5039333" y="3152001"/>
            <a:ext cx="2113335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FAFAFA"/>
                </a:solidFill>
                <a:effectLst/>
                <a:latin typeface="Garamond" panose="02020404030301010803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485825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66E0C-B9CC-4306-4FD4-A60EDA152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0F4A78F-4E4D-057E-481C-9434158C04F1}"/>
              </a:ext>
            </a:extLst>
          </p:cNvPr>
          <p:cNvSpPr/>
          <p:nvPr/>
        </p:nvSpPr>
        <p:spPr>
          <a:xfrm>
            <a:off x="0" y="-1"/>
            <a:ext cx="12192000" cy="687977"/>
          </a:xfrm>
          <a:prstGeom prst="rect">
            <a:avLst/>
          </a:prstGeom>
          <a:solidFill>
            <a:srgbClr val="2236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   </a:t>
            </a:r>
            <a:r>
              <a:rPr lang="en-US" altLang="zh-CN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Other</a:t>
            </a:r>
            <a:r>
              <a:rPr lang="zh-CN" alt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 </a:t>
            </a:r>
            <a:r>
              <a:rPr lang="en-US" altLang="zh-CN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F</a:t>
            </a:r>
            <a:r>
              <a:rPr lang="zh-CN" alt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 </a:t>
            </a:r>
            <a:r>
              <a:rPr lang="en-US" altLang="zh-CN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&amp;</a:t>
            </a:r>
            <a:r>
              <a:rPr lang="zh-CN" alt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 </a:t>
            </a:r>
            <a:r>
              <a:rPr lang="en-US" altLang="zh-CN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T</a:t>
            </a:r>
            <a:r>
              <a:rPr lang="en-US" sz="2800" b="1" dirty="0">
                <a:solidFill>
                  <a:srgbClr val="FAFAFA"/>
                </a:solidFill>
                <a:latin typeface="Garamond" panose="02020404030301010803" pitchFamily="18" charset="0"/>
              </a:rPr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9A93B7-F61C-DAF0-514A-74C33DFB6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457" y="903768"/>
            <a:ext cx="7191085" cy="581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550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7011</TotalTime>
  <Words>2974</Words>
  <Application>Microsoft Macintosh PowerPoint</Application>
  <PresentationFormat>Widescreen</PresentationFormat>
  <Paragraphs>288</Paragraphs>
  <Slides>34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Aptos</vt:lpstr>
      <vt:lpstr>Aptos Display</vt:lpstr>
      <vt:lpstr>Arial</vt:lpstr>
      <vt:lpstr>Cambria Math</vt:lpstr>
      <vt:lpstr>Garamond</vt:lpstr>
      <vt:lpstr>Latin Modern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Jilong Wu</dc:creator>
  <cp:lastModifiedBy>Jilong Wu</cp:lastModifiedBy>
  <cp:revision>241</cp:revision>
  <cp:lastPrinted>2026-06-06T09:55:49Z</cp:lastPrinted>
  <dcterms:created xsi:type="dcterms:W3CDTF">2026-05-22T20:14:08Z</dcterms:created>
  <dcterms:modified xsi:type="dcterms:W3CDTF">2026-06-09T20:36:22Z</dcterms:modified>
</cp:coreProperties>
</file>