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3" r:id="rId4"/>
    <p:sldId id="262" r:id="rId5"/>
    <p:sldId id="263" r:id="rId6"/>
    <p:sldId id="264" r:id="rId7"/>
    <p:sldId id="266" r:id="rId8"/>
    <p:sldId id="268" r:id="rId9"/>
    <p:sldId id="269" r:id="rId10"/>
    <p:sldId id="270" r:id="rId11"/>
    <p:sldId id="267" r:id="rId12"/>
    <p:sldId id="297" r:id="rId13"/>
    <p:sldId id="272" r:id="rId14"/>
    <p:sldId id="274" r:id="rId15"/>
    <p:sldId id="275" r:id="rId16"/>
    <p:sldId id="277" r:id="rId17"/>
    <p:sldId id="294" r:id="rId18"/>
    <p:sldId id="276" r:id="rId19"/>
    <p:sldId id="295" r:id="rId20"/>
    <p:sldId id="278" r:id="rId21"/>
    <p:sldId id="279" r:id="rId22"/>
    <p:sldId id="283" r:id="rId23"/>
    <p:sldId id="280" r:id="rId24"/>
    <p:sldId id="282" r:id="rId25"/>
    <p:sldId id="281" r:id="rId26"/>
    <p:sldId id="284" r:id="rId27"/>
    <p:sldId id="285" r:id="rId28"/>
    <p:sldId id="290" r:id="rId29"/>
    <p:sldId id="289" r:id="rId30"/>
    <p:sldId id="293" r:id="rId31"/>
    <p:sldId id="296" r:id="rId32"/>
    <p:sldId id="292" r:id="rId33"/>
    <p:sldId id="291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136"/>
    <a:srgbClr val="1F5C4B"/>
    <a:srgbClr val="742F42"/>
    <a:srgbClr val="F8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06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0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95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EFA5-38E6-39D2-D41B-A5C8E2E5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408B4-CBC1-F254-E688-B8AFD7F32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D9C2F-30BF-FB9B-3326-AEE321BA4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EC84-E43D-6A6C-381F-EDE38ADEA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34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C521-7C77-D021-31DC-D1ECD50A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DB85B-421E-BF25-C099-E6C40E397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287C7-648B-DA98-54B3-E7C967ABC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05105-95A6-12DF-6338-F669719838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8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B6E6-6DDF-C0DB-3567-7466D3C4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D00FBE-2444-E772-7006-BA71913E0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B3202-96FF-05AB-E130-BA38D2AD0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42312-880E-B5F0-0FD3-03A1E6BBD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97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DF99-2FE6-5DE4-867B-64EF4C45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7AC0F-77A6-6BD0-4DDD-E1752DF2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48C13-55FB-3C56-44A3-8E69FD594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E9E5-E092-4EB1-6D97-BF1363BAA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75A3-8F9B-6C10-E4A4-5B09F25A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D0309-176F-65AD-8D42-1898E00D7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B21AE-F52B-F705-2062-910701C7B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925B5-1EFA-03C0-2DF5-E7EF250BED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13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57CC-E09D-CD26-31CB-A12277FA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4E128-E17C-18AF-3D02-65A50D933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AC03E-2D32-F5F0-388C-4D44027DC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52C21-2EDB-72B1-9FA3-82DDADDB3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11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6C80-300D-E5A6-7632-8F7E3E35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C9849-2596-DCFC-B7E4-B74A3C707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76E98-8F4D-85E8-169A-A12F25DA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0FCDD-83FD-59EC-09B8-FFC245BDE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05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60B2-D228-936F-D4D9-52965B3E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EB55D-BF34-3A44-73B4-0A64C7ECA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3F333-9690-0152-7E17-F8BF12010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51A5B-CE22-4235-D9E4-361DF96B37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9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14C5-6AC4-83B2-64A8-BC789D91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1CCB8-B84E-7221-95D1-6FE4FAE49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1C20C-6501-82F0-9D54-D9F15613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9FFA7-94CE-EE92-BF9F-E33362BDAD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35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C41C4-C084-3586-F35E-BBA3FCDD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5A784-7EAA-91C1-F7A5-8929FCDC3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DBF19-2D53-380F-C228-532C370B6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F6A1-A52E-0395-D320-4F5CFAE61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90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FD91-117B-174B-6854-5D64A768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56B86-3C5B-B8F3-FB30-6E4394303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97B44-0611-BF80-7478-5AED0C9EE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C2A89-8C85-8285-0A66-03D0D154F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4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1E1E-F520-1A3D-B850-E0EEB68B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2FFAE-C4EF-8E42-4B5E-9862F48F7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412D4-4669-3D03-5620-531EA8ABB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34DB-0E4F-A0AA-2644-5B03843A1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34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34AD-7486-0D5F-56C0-A674E9D0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0F85C-40CC-8342-1AE4-E8B7DFDE2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63DCA-F850-BD4F-48F1-C2FA97CC2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A364D-9D52-A9CF-DB08-79F142089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02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4E3E-C000-F610-9278-03234173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0930B-5ADD-AB13-6267-F761C33A7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492CA-1C72-9688-1181-55037BF98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6AE48-1AE1-775D-9808-CED1162B9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47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84C8-7205-D7E1-6B95-9EE057BE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CCC6A-5B17-9F9C-27E7-B35BA2100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8BB5C-C6BA-72AF-68AC-0EB0F4233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7DEEC-7515-CF52-C550-AD94464C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56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D8F1-CCC4-41B4-11D6-7E57BEF3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82C52-A86E-176D-2444-0CC4A8C04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9FD84-3D63-C7E9-731A-95F492F5C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42E0-C01B-AB76-F8C3-8449EF761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97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0875-43F7-4BE9-A32A-4CCA40A5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38EC3-EB6F-69D8-CE1B-40D96F21B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32355-9764-70AA-BB51-5EC6382B7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3E2C2-EC0D-112A-56B1-56C478ECE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18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854F-206C-1ADD-F7F6-88B93B6F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4D71D-70A6-1F5D-AC68-8AA0626C9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D460F-C489-E575-7FBA-DFDA1CAE9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66FAA-FCB2-000A-B4AF-FE3248222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15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3EDDC-320D-7845-059D-080A0293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293DA-7057-7D6F-000C-AC1759CC1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DD7ED-17AB-56D0-731D-305A5EE64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41AF5-7680-40D8-7B07-520CC08EA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710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8B248-9E60-5B4D-77D1-EA2E1090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9E46C-1330-D3C5-1EC3-A9FBC4D42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929CD-1B3E-1C40-4915-09C6C52D6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6B062-9599-93B3-2F9F-B1FE3338F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24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D8A19-98E4-617F-7E01-3E3CBBFB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F0E15-49A1-C8F2-5DF0-C590773E8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F4091-16B5-86E5-46B7-71E847F20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2B39C-FC52-2D7E-EEC0-16126731D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29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0C2C-3B3C-7964-EA9C-1A11B302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7A9C8-246E-C01D-7907-8B3AE836B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72D32-8E75-6BE8-A791-5B8164FEF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984C0-9D72-82E7-B732-6BA5C9D8B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942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16AF-C72E-4533-30BE-9A05047E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845C2-DF2A-66CC-9DB5-9D548DDB1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068AB-ED9B-F81E-2DEF-FAF625FE9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19D0-036D-833F-C231-F95715019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279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1ADE-32D2-77FA-2D81-0A078E84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9B8E4-C594-C500-95DC-C13C85544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39D7B-45B8-BDBB-F8C4-D7386E2F8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9E50F-F686-6311-A5AF-8FD90AEBF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514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A5B8-6BDC-396D-55A4-6FA64D1B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5390C-A466-E2B5-D219-E4A8A7B69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DBEB0-3DAF-2415-A418-814F81880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52A6A-BADF-4E42-1732-A71FBBBD6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131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41EB-1214-AD10-23C8-0D7F7136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1AEF3-22EF-775D-9BED-F1E681E7C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7D89E-35B4-DCC1-5251-25BEAE022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4DD05-9589-62AF-D2C8-F0E31EF7A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718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7037-3A43-2CA3-D324-40397ACF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52006-CDDA-5829-ECD5-604EB1622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37701-FCC9-4126-B4E8-A83657D5E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77B9E-F80F-D698-F234-BAEC90811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852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AE64-60C1-F943-E9DE-DBB2F1C1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35B23-3961-E0FB-8BB3-7FC8CF4EB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ECACD-597D-F219-BF6A-3C936AF40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21672-FE88-0300-8D1E-8A9E3D297B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112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ADDC-81E2-2865-ED0B-E5FC626F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5E4C8-FC24-4404-1B7D-B7655D705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8B960-9DC5-3C7F-1C72-FD9C2A71A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C338-4FFD-5DC4-C2CA-678F990C7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3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D543-5559-6D53-0D9D-1B684CBC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061B4-BE97-5C3D-B5E1-6CC946E31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65156-C60E-387B-CC84-AD211FE6C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D5F08-BD02-5865-52EE-94CE59D75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107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89AC8-2414-E406-EB4B-A9F8C9EB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32B0A-6D21-2B8A-695F-6A5B02588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934A8-F6A3-3F10-DB1B-09F4BD1D5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86D5B-0DB4-DCF5-1EFA-1484B31E1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56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09600" y="1877638"/>
            <a:ext cx="10652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Cognitive Foundations of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43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Risk and Ambiguity Attitudes</a:t>
            </a:r>
          </a:p>
        </p:txBody>
      </p:sp>
      <p:sp>
        <p:nvSpPr>
          <p:cNvPr id="9" name="Shape 7"/>
          <p:cNvSpPr/>
          <p:nvPr/>
        </p:nvSpPr>
        <p:spPr>
          <a:xfrm>
            <a:off x="609600" y="3441262"/>
            <a:ext cx="5400000" cy="45719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627743" y="4492821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Jilong Wu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1705" y="496293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7777C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ptos" pitchFamily="34" charset="-120"/>
              </a:rPr>
              <a:t>D</a:t>
            </a:r>
            <a:r>
              <a:rPr lang="en-US" altLang="zh-CN" sz="1300" dirty="0">
                <a:solidFill>
                  <a:srgbClr val="77777C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ptos" pitchFamily="34" charset="-120"/>
              </a:rPr>
              <a:t>octoral</a:t>
            </a:r>
            <a:r>
              <a:rPr lang="zh-CN" altLang="en-US" sz="1300" dirty="0">
                <a:solidFill>
                  <a:srgbClr val="77777C"/>
                </a:solidFill>
                <a:latin typeface="Source Sans Pro" panose="020B0503030403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300" dirty="0">
                <a:solidFill>
                  <a:srgbClr val="77777C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ptos" pitchFamily="34" charset="-120"/>
              </a:rPr>
              <a:t>Public</a:t>
            </a:r>
            <a:r>
              <a:rPr lang="zh-CN" altLang="en-US" sz="1300" dirty="0">
                <a:solidFill>
                  <a:srgbClr val="77777C"/>
                </a:solidFill>
                <a:latin typeface="Source Sans Pro" panose="020B0503030403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300" dirty="0">
                <a:solidFill>
                  <a:srgbClr val="77777C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ptos" pitchFamily="34" charset="-120"/>
              </a:rPr>
              <a:t>Defense</a:t>
            </a:r>
            <a:r>
              <a:rPr lang="en-US" sz="1300" dirty="0">
                <a:solidFill>
                  <a:srgbClr val="77777C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ptos" pitchFamily="34" charset="-120"/>
              </a:rPr>
              <a:t> </a:t>
            </a:r>
            <a:r>
              <a:rPr lang="zh-CN" altLang="en-US" sz="1300" dirty="0">
                <a:solidFill>
                  <a:srgbClr val="77777C"/>
                </a:solidFill>
                <a:latin typeface="Source Sans Pro" panose="020B0503030403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>
                <a:solidFill>
                  <a:srgbClr val="77777C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ptos" pitchFamily="34" charset="-120"/>
              </a:rPr>
              <a:t>·  2026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Background – Risk Behavior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D7B57B-44BE-C937-4307-BA88DEDD328B}"/>
              </a:ext>
            </a:extLst>
          </p:cNvPr>
          <p:cNvGrpSpPr/>
          <p:nvPr/>
        </p:nvGrpSpPr>
        <p:grpSpPr>
          <a:xfrm>
            <a:off x="993642" y="698980"/>
            <a:ext cx="10204716" cy="5796291"/>
            <a:chOff x="555945" y="650228"/>
            <a:chExt cx="10204716" cy="57962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 7">
                  <a:extLst>
                    <a:ext uri="{FF2B5EF4-FFF2-40B4-BE49-F238E27FC236}">
                      <a16:creationId xmlns:a16="http://schemas.microsoft.com/office/drawing/2014/main" id="{8743B720-424C-0D4C-23E1-5D4DDF5F6FC0}"/>
                    </a:ext>
                  </a:extLst>
                </p:cNvPr>
                <p:cNvSpPr/>
                <p:nvPr/>
              </p:nvSpPr>
              <p:spPr>
                <a:xfrm>
                  <a:off x="555945" y="1323858"/>
                  <a:ext cx="5765028" cy="227626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sz="2800" dirty="0">
                      <a:latin typeface="+mj-lt"/>
                      <a:ea typeface="Source Sans Pro" panose="020B0503030403020204" pitchFamily="34" charset="0"/>
                    </a:rPr>
                    <a:t>Say</a:t>
                  </a:r>
                  <a:r>
                    <a:rPr lang="en-US" sz="2800" dirty="0">
                      <a:ea typeface="Latin Modern Math" panose="02000503000000000000" pitchFamily="2" charset="77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(100, 0.1;0)∼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C</m:t>
                      </m:r>
                    </m:oMath>
                  </a14:m>
                  <a:r>
                    <a:rPr lang="en-US" sz="2800" dirty="0">
                      <a:latin typeface="Latin Modern Math" panose="02000503000000000000" pitchFamily="2" charset="77"/>
                      <a:ea typeface="Latin Modern Math" panose="02000503000000000000" pitchFamily="2" charset="77"/>
                    </a:rPr>
                    <a:t>:</a:t>
                  </a:r>
                </a:p>
                <a:p>
                  <a:pPr marL="457200" indent="-45720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latin typeface="Palatino Linotype" panose="02040502050505030304" pitchFamily="18" charset="0"/>
                      <a:ea typeface="Palatino" pitchFamily="2" charset="77"/>
                    </a:rPr>
                    <a:t>Risk seeking if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C</m:t>
                      </m:r>
                      <m:r>
                        <a:rPr lang="en-US" sz="2400" b="0" i="0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&gt;10</m:t>
                      </m:r>
                    </m:oMath>
                  </a14:m>
                  <a:endParaRPr lang="en-US" sz="2400" b="0" dirty="0">
                    <a:latin typeface="Palatino Linotype" panose="02040502050505030304" pitchFamily="18" charset="0"/>
                    <a:ea typeface="Latin Modern Math" panose="02000503000000000000" pitchFamily="2" charset="77"/>
                  </a:endParaRPr>
                </a:p>
                <a:p>
                  <a:pPr marL="457200" indent="-45720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latin typeface="Palatino Linotype" panose="02040502050505030304" pitchFamily="18" charset="0"/>
                      <a:ea typeface="Palatino" pitchFamily="2" charset="77"/>
                    </a:rPr>
                    <a:t>Risk neutral if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C</m:t>
                      </m:r>
                      <m:r>
                        <a:rPr lang="en-US" sz="2400" b="0" i="0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=</m:t>
                      </m:r>
                      <m:r>
                        <a:rPr lang="en-US" sz="240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10</m:t>
                      </m:r>
                    </m:oMath>
                  </a14:m>
                  <a:endParaRPr lang="en-US" sz="2400" dirty="0">
                    <a:latin typeface="Palatino Linotype" panose="02040502050505030304" pitchFamily="18" charset="0"/>
                    <a:ea typeface="Latin Modern Math" panose="02000503000000000000" pitchFamily="2" charset="77"/>
                  </a:endParaRPr>
                </a:p>
                <a:p>
                  <a:pPr marL="457200" indent="-45720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latin typeface="Palatino Linotype" panose="02040502050505030304" pitchFamily="18" charset="0"/>
                      <a:ea typeface="Palatino" pitchFamily="2" charset="77"/>
                    </a:rPr>
                    <a:t>Risk averse if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C</m:t>
                      </m:r>
                      <m:r>
                        <a:rPr lang="en-US" sz="2400" b="0" i="0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&lt;</m:t>
                      </m:r>
                      <m:r>
                        <a:rPr lang="en-US" sz="240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10</m:t>
                      </m:r>
                    </m:oMath>
                  </a14:m>
                  <a:endParaRPr lang="en-US" sz="2400" dirty="0">
                    <a:latin typeface="Palatino Linotype" panose="02040502050505030304" pitchFamily="18" charset="0"/>
                    <a:ea typeface="Latin Modern Math" panose="02000503000000000000" pitchFamily="2" charset="77"/>
                  </a:endParaRPr>
                </a:p>
              </p:txBody>
            </p:sp>
          </mc:Choice>
          <mc:Fallback>
            <p:sp>
              <p:nvSpPr>
                <p:cNvPr id="18" name="Text 7">
                  <a:extLst>
                    <a:ext uri="{FF2B5EF4-FFF2-40B4-BE49-F238E27FC236}">
                      <a16:creationId xmlns:a16="http://schemas.microsoft.com/office/drawing/2014/main" id="{8743B720-424C-0D4C-23E1-5D4DDF5F6F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945" y="1323858"/>
                  <a:ext cx="5765028" cy="2276264"/>
                </a:xfrm>
                <a:prstGeom prst="rect">
                  <a:avLst/>
                </a:prstGeom>
                <a:blipFill>
                  <a:blip r:embed="rId3"/>
                  <a:stretch>
                    <a:fillRect l="-3956" b="-6667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 7">
                  <a:extLst>
                    <a:ext uri="{FF2B5EF4-FFF2-40B4-BE49-F238E27FC236}">
                      <a16:creationId xmlns:a16="http://schemas.microsoft.com/office/drawing/2014/main" id="{3817FC06-9B65-3EB0-DE83-35740576A576}"/>
                    </a:ext>
                  </a:extLst>
                </p:cNvPr>
                <p:cNvSpPr/>
                <p:nvPr/>
              </p:nvSpPr>
              <p:spPr>
                <a:xfrm>
                  <a:off x="555945" y="4189850"/>
                  <a:ext cx="5765028" cy="190173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indent="0">
                    <a:lnSpc>
                      <a:spcPct val="150000"/>
                    </a:lnSpc>
                    <a:buNone/>
                  </a:pPr>
                  <a:r>
                    <a:rPr lang="en-US" sz="2800" dirty="0">
                      <a:latin typeface="+mj-lt"/>
                      <a:ea typeface="Source Sans Pro" panose="020B0503030403020204" pitchFamily="34" charset="0"/>
                    </a:rPr>
                    <a:t>Pro</a:t>
                  </a:r>
                  <a:r>
                    <a:rPr lang="en-US" altLang="zh-CN" sz="2800" dirty="0">
                      <a:latin typeface="+mj-lt"/>
                      <a:ea typeface="Source Sans Pro" panose="020B0503030403020204" pitchFamily="34" charset="0"/>
                    </a:rPr>
                    <a:t>spect</a:t>
                  </a:r>
                  <a:r>
                    <a:rPr lang="zh-CN" altLang="en-US" sz="2800" dirty="0">
                      <a:latin typeface="+mj-lt"/>
                      <a:ea typeface="Source Sans Pro" panose="020B0503030403020204" pitchFamily="34" charset="0"/>
                    </a:rPr>
                    <a:t> </a:t>
                  </a:r>
                  <a:r>
                    <a:rPr lang="en-US" altLang="zh-CN" sz="2800" dirty="0">
                      <a:latin typeface="+mj-lt"/>
                      <a:ea typeface="Source Sans Pro" panose="020B0503030403020204" pitchFamily="34" charset="0"/>
                    </a:rPr>
                    <a:t>Theory</a:t>
                  </a:r>
                  <a:r>
                    <a:rPr lang="zh-CN" altLang="en-US" sz="2800" dirty="0">
                      <a:latin typeface="+mj-lt"/>
                      <a:ea typeface="Source Sans Pro" panose="020B0503030403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(the</a:t>
                  </a:r>
                  <a:r>
                    <a:rPr lang="zh-CN" altLang="en-US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most</a:t>
                  </a:r>
                  <a:r>
                    <a:rPr lang="zh-CN" altLang="en-US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popular</a:t>
                  </a:r>
                  <a:r>
                    <a:rPr lang="zh-CN" altLang="en-US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 </a:t>
                  </a:r>
                  <a:r>
                    <a:rPr lang="en-US" altLang="zh-CN" sz="2000" dirty="0">
                      <a:solidFill>
                        <a:srgbClr val="1F5C4B"/>
                      </a:solidFill>
                      <a:latin typeface="+mj-lt"/>
                      <a:ea typeface="Source Sans Pro" panose="020B0503030403020204" pitchFamily="34" charset="0"/>
                    </a:rPr>
                    <a:t>model)</a:t>
                  </a:r>
                </a:p>
                <a:p>
                  <a:pPr marL="0" indent="0">
                    <a:lnSpc>
                      <a:spcPct val="15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𝑢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(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𝐶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)=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𝑢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(100)⋅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𝑤</m:t>
                        </m:r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(0.1)</m:t>
                        </m:r>
                      </m:oMath>
                    </m:oMathPara>
                  </a14:m>
                  <a:endParaRPr lang="en-US" altLang="zh-CN" sz="2600" dirty="0">
                    <a:solidFill>
                      <a:srgbClr val="303136"/>
                    </a:solidFill>
                    <a:latin typeface="Latin Modern Math" panose="02000503000000000000" pitchFamily="2" charset="77"/>
                    <a:ea typeface="Latin Modern Math" panose="02000503000000000000" pitchFamily="2" charset="77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600" i="1" dirty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𝐶</m:t>
                        </m:r>
                        <m:r>
                          <a:rPr lang="en-US" altLang="zh-CN" sz="2600" i="1" dirty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600" b="0" i="1" dirty="0" smtClean="0">
                                <a:solidFill>
                                  <a:srgbClr val="303136"/>
                                </a:solidFill>
                                <a:latin typeface="Cambria Math" panose="02040503050406030204" pitchFamily="18" charset="0"/>
                                <a:ea typeface="Latin Modern Math" panose="02000503000000000000" pitchFamily="2" charset="77"/>
                              </a:rPr>
                            </m:ctrlPr>
                          </m:sSupPr>
                          <m:e>
                            <m:r>
                              <a:rPr lang="en-US" altLang="zh-CN" sz="2600" b="0" i="1" dirty="0" smtClean="0">
                                <a:solidFill>
                                  <a:srgbClr val="303136"/>
                                </a:solidFill>
                                <a:latin typeface="Latin Modern Math" panose="02000503000000000000" pitchFamily="2" charset="77"/>
                                <a:ea typeface="Latin Modern Math" panose="02000503000000000000" pitchFamily="2" charset="77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600" b="0" i="1" dirty="0" smtClean="0">
                                <a:solidFill>
                                  <a:srgbClr val="303136"/>
                                </a:solidFill>
                                <a:latin typeface="Latin Modern Math" panose="02000503000000000000" pitchFamily="2" charset="77"/>
                                <a:ea typeface="Latin Modern Math" panose="02000503000000000000" pitchFamily="2" charset="77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600" b="0" i="1" dirty="0" smtClean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{</m:t>
                        </m:r>
                        <m:r>
                          <a:rPr lang="en-US" altLang="zh-CN" sz="2600" i="1" dirty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𝑢</m:t>
                        </m:r>
                        <m:r>
                          <a:rPr lang="en-US" altLang="zh-CN" sz="2600" i="1" dirty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(100)⋅</m:t>
                        </m:r>
                        <m:r>
                          <a:rPr lang="en-US" altLang="zh-CN" sz="2600" i="1" dirty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𝑤</m:t>
                        </m:r>
                        <m:r>
                          <a:rPr lang="en-US" altLang="zh-CN" sz="2600" i="1" dirty="0">
                            <a:solidFill>
                              <a:srgbClr val="303136"/>
                            </a:solidFill>
                            <a:latin typeface="Latin Modern Math" panose="02000503000000000000" pitchFamily="2" charset="77"/>
                            <a:ea typeface="Latin Modern Math" panose="02000503000000000000" pitchFamily="2" charset="77"/>
                          </a:rPr>
                          <m:t>(0.1)}</m:t>
                        </m:r>
                      </m:oMath>
                    </m:oMathPara>
                  </a14:m>
                  <a:endParaRPr lang="en-US" altLang="zh-CN" sz="2600" dirty="0">
                    <a:solidFill>
                      <a:srgbClr val="303136"/>
                    </a:solidFill>
                    <a:latin typeface="Latin Modern Math" panose="02000503000000000000" pitchFamily="2" charset="77"/>
                    <a:ea typeface="Latin Modern Math" panose="02000503000000000000" pitchFamily="2" charset="77"/>
                  </a:endParaRPr>
                </a:p>
              </p:txBody>
            </p:sp>
          </mc:Choice>
          <mc:Fallback>
            <p:sp>
              <p:nvSpPr>
                <p:cNvPr id="19" name="Text 7">
                  <a:extLst>
                    <a:ext uri="{FF2B5EF4-FFF2-40B4-BE49-F238E27FC236}">
                      <a16:creationId xmlns:a16="http://schemas.microsoft.com/office/drawing/2014/main" id="{3817FC06-9B65-3EB0-DE83-35740576A5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945" y="4189850"/>
                  <a:ext cx="5765028" cy="1901739"/>
                </a:xfrm>
                <a:prstGeom prst="rect">
                  <a:avLst/>
                </a:prstGeom>
                <a:blipFill>
                  <a:blip r:embed="rId4"/>
                  <a:stretch>
                    <a:fillRect l="-3956" b="-2649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64003D1-7B6A-0AEA-AC01-EB01E5365778}"/>
                </a:ext>
              </a:extLst>
            </p:cNvPr>
            <p:cNvPicPr>
              <a:picLocks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243382" y="3600122"/>
              <a:ext cx="3517279" cy="284639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8AF9EC5-F597-DCDD-A1B3-78EEEDAC9F4D}"/>
                </a:ext>
              </a:extLst>
            </p:cNvPr>
            <p:cNvPicPr>
              <a:picLocks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388522" y="650228"/>
              <a:ext cx="3240000" cy="2700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6D51A-9CD3-3422-A275-6103001B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BD32F92D-160D-2F83-9B68-C138699325F9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Background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Theory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CD6B5C-2DC7-CD22-4101-2EBF68803A26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4CA62B1-947A-3588-92B7-1BB1F03A5327}"/>
              </a:ext>
            </a:extLst>
          </p:cNvPr>
          <p:cNvSpPr/>
          <p:nvPr/>
        </p:nvSpPr>
        <p:spPr>
          <a:xfrm>
            <a:off x="851089" y="1251183"/>
            <a:ext cx="10772704" cy="5123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sz="24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cognitive-noise</a:t>
            </a:r>
            <a:r>
              <a:rPr lang="zh-CN" altLang="en-US" sz="24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model</a:t>
            </a:r>
            <a:r>
              <a:rPr lang="en-BE" sz="24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sz="2400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Human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process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numerical information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in a fuzzy way </a:t>
            </a:r>
            <a:r>
              <a:rPr lang="en-US" altLang="zh-CN" sz="2000" dirty="0">
                <a:solidFill>
                  <a:srgbClr val="1F5C4B"/>
                </a:solidFill>
                <a:latin typeface="Palatino Linotype" panose="02040502050505030304" pitchFamily="18" charset="0"/>
                <a:ea typeface="Palatino" pitchFamily="2" charset="77"/>
              </a:rPr>
              <a:t>(unlike traditional models)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No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utility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and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probability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weighting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function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is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assumed</a:t>
            </a:r>
            <a:r>
              <a:rPr lang="en-BE" sz="2000">
                <a:latin typeface="Palatino Linotype" panose="02040502050505030304" pitchFamily="18" charset="0"/>
                <a:ea typeface="Palatino" pitchFamily="2" charset="77"/>
              </a:rPr>
              <a:t>.</a:t>
            </a:r>
            <a:endParaRPr lang="en-US" sz="2000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alatino Linotype" panose="02040502050505030304" pitchFamily="18" charset="0"/>
                <a:ea typeface="Palatino" pitchFamily="2" charset="77"/>
              </a:rPr>
              <a:t>It implies: PT parameters, fitted from choice data, should be intercorrelated and unstable.</a:t>
            </a:r>
            <a:endParaRPr lang="en-BE" sz="2000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E28F126-2551-1832-1301-16FB42828F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6F2"/>
              </a:clrFrom>
              <a:clrTo>
                <a:srgbClr val="F8F6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207" y="2429662"/>
            <a:ext cx="5691600" cy="320152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3E19857-E8FD-1371-DD39-EF871449271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6F2"/>
              </a:clrFrom>
              <a:clrTo>
                <a:srgbClr val="F8F6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69406" y="2427984"/>
            <a:ext cx="5690286" cy="320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87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903D7-7629-F34F-C1C5-8EB0857A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88DF02C1-9140-B898-F49C-D947F31B60A7}"/>
              </a:ext>
            </a:extLst>
          </p:cNvPr>
          <p:cNvSpPr/>
          <p:nvPr/>
        </p:nvSpPr>
        <p:spPr>
          <a:xfrm>
            <a:off x="609600" y="1848610"/>
            <a:ext cx="911497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BE" sz="4300" dirty="0">
                <a:latin typeface="Palatino Linotype" panose="02040502050505030304" pitchFamily="18" charset="0"/>
              </a:rPr>
              <a:t>Chapter 1</a:t>
            </a:r>
          </a:p>
          <a:p>
            <a:pPr>
              <a:lnSpc>
                <a:spcPct val="150000"/>
              </a:lnSpc>
            </a:pPr>
            <a:r>
              <a:rPr lang="en-BE" sz="3000" dirty="0">
                <a:latin typeface="Palatino Linotype" panose="02040502050505030304" pitchFamily="18" charset="0"/>
              </a:rPr>
              <a:t>Meta-Analysis of Prospect Theory Parameters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854ADA-D08D-666F-E017-7E7C6F1D59E0}"/>
              </a:ext>
            </a:extLst>
          </p:cNvPr>
          <p:cNvSpPr/>
          <p:nvPr/>
        </p:nvSpPr>
        <p:spPr>
          <a:xfrm>
            <a:off x="609600" y="3441262"/>
            <a:ext cx="5400000" cy="45719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C68DFA-7BF1-DA63-EB61-6F36EA2F944D}"/>
              </a:ext>
            </a:extLst>
          </p:cNvPr>
          <p:cNvSpPr/>
          <p:nvPr/>
        </p:nvSpPr>
        <p:spPr>
          <a:xfrm>
            <a:off x="627742" y="4543620"/>
            <a:ext cx="997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BE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Joint work with </a:t>
            </a:r>
            <a:r>
              <a:rPr lang="en-GB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Taisuke Imai, </a:t>
            </a:r>
            <a:r>
              <a:rPr lang="en-BE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Salvatore Nunnari, and Ferdinand Vieider</a:t>
            </a:r>
          </a:p>
        </p:txBody>
      </p:sp>
    </p:spTree>
    <p:extLst>
      <p:ext uri="{BB962C8B-B14F-4D97-AF65-F5344CB8AC3E}">
        <p14:creationId xmlns:p14="http://schemas.microsoft.com/office/powerpoint/2010/main" val="2653031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9C359-3E55-B65A-79AB-66F4184E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AAC5EE84-81A5-24FA-E077-F671CF4A9DA5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1 – A Meta Analysis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6CEF31-FBA1-55E0-6430-315C08CA43C0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D32988-9554-0BD5-95B0-6E59B6BAC44C}"/>
              </a:ext>
            </a:extLst>
          </p:cNvPr>
          <p:cNvGrpSpPr/>
          <p:nvPr/>
        </p:nvGrpSpPr>
        <p:grpSpPr>
          <a:xfrm>
            <a:off x="2579200" y="1330046"/>
            <a:ext cx="7033600" cy="4976753"/>
            <a:chOff x="2241029" y="1400384"/>
            <a:chExt cx="8570997" cy="497675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A0B4E21-61DD-2832-C1A7-8DEE07DDD525}"/>
                </a:ext>
              </a:extLst>
            </p:cNvPr>
            <p:cNvGrpSpPr/>
            <p:nvPr/>
          </p:nvGrpSpPr>
          <p:grpSpPr>
            <a:xfrm>
              <a:off x="2241029" y="2459923"/>
              <a:ext cx="8570997" cy="3917214"/>
              <a:chOff x="2241029" y="1370873"/>
              <a:chExt cx="7709941" cy="3917214"/>
            </a:xfrm>
          </p:grpSpPr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0BF4D719-CE48-A852-EB27-67C8EF68E23E}"/>
                  </a:ext>
                </a:extLst>
              </p:cNvPr>
              <p:cNvSpPr/>
              <p:nvPr/>
            </p:nvSpPr>
            <p:spPr>
              <a:xfrm>
                <a:off x="2241029" y="1370873"/>
                <a:ext cx="7709941" cy="208121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BE" sz="2000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Basic Findings:</a:t>
                </a:r>
                <a:endParaRPr lang="en-BE" sz="2000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People have a concave (convex) utility for gains (losses).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Utility is more linear for gains than for losses.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People have an inverse S-shaped probability weighting function.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No big difference between positive and negative outcomes.</a:t>
                </a:r>
              </a:p>
            </p:txBody>
          </p:sp>
          <p:sp>
            <p:nvSpPr>
              <p:cNvPr id="4" name="Text 7">
                <a:extLst>
                  <a:ext uri="{FF2B5EF4-FFF2-40B4-BE49-F238E27FC236}">
                    <a16:creationId xmlns:a16="http://schemas.microsoft.com/office/drawing/2014/main" id="{63CE5DE9-0F3D-AE4F-A27A-CEA600120FD2}"/>
                  </a:ext>
                </a:extLst>
              </p:cNvPr>
              <p:cNvSpPr/>
              <p:nvPr/>
            </p:nvSpPr>
            <p:spPr>
              <a:xfrm>
                <a:off x="2241029" y="3622375"/>
                <a:ext cx="7296286" cy="16657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BE" sz="2000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Additional Findings:</a:t>
                </a:r>
                <a:endParaRPr lang="en-BE" sz="2000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S</a:t>
                </a:r>
                <a:r>
                  <a:rPr lang="en-GB" dirty="0" err="1">
                    <a:latin typeface="Palatino Linotype" panose="02040502050505030304" pitchFamily="18" charset="0"/>
                    <a:ea typeface="Palatino" pitchFamily="2" charset="77"/>
                  </a:rPr>
                  <a:t>ubstantial</a:t>
                </a:r>
                <a:r>
                  <a:rPr lang="en-GB" dirty="0">
                    <a:latin typeface="Palatino Linotype" panose="02040502050505030304" pitchFamily="18" charset="0"/>
                    <a:ea typeface="Palatino" pitchFamily="2" charset="77"/>
                  </a:rPr>
                  <a:t> heterogeneity across papers.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Much unexplained after controlling for study characteristics.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BE" dirty="0">
                    <a:latin typeface="Palatino Linotype" panose="02040502050505030304" pitchFamily="18" charset="0"/>
                    <a:ea typeface="Palatino" pitchFamily="2" charset="77"/>
                  </a:rPr>
                  <a:t>The strongest predictor: the elicitation method used.</a:t>
                </a:r>
              </a:p>
            </p:txBody>
          </p:sp>
        </p:grpSp>
        <p:sp>
          <p:nvSpPr>
            <p:cNvPr id="3" name="Text 7">
              <a:extLst>
                <a:ext uri="{FF2B5EF4-FFF2-40B4-BE49-F238E27FC236}">
                  <a16:creationId xmlns:a16="http://schemas.microsoft.com/office/drawing/2014/main" id="{EBABA2FC-523B-89CE-4E89-997A23B0A4B9}"/>
                </a:ext>
              </a:extLst>
            </p:cNvPr>
            <p:cNvSpPr/>
            <p:nvPr/>
          </p:nvSpPr>
          <p:spPr>
            <a:xfrm>
              <a:off x="2241029" y="1400384"/>
              <a:ext cx="8111144" cy="834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BE" sz="2000" b="1" dirty="0">
                  <a:solidFill>
                    <a:srgbClr val="742F42"/>
                  </a:solidFill>
                  <a:latin typeface="Palatino Linotype" panose="02040502050505030304" pitchFamily="18" charset="0"/>
                  <a:ea typeface="Palatino" pitchFamily="2" charset="77"/>
                </a:rPr>
                <a:t>Implementation:</a:t>
              </a:r>
              <a:endParaRPr lang="en-BE" sz="2000" b="1" dirty="0">
                <a:latin typeface="Palatino Linotype" panose="02040502050505030304" pitchFamily="18" charset="0"/>
                <a:ea typeface="Palatino" pitchFamily="2" charset="7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Palatino Linotype" panose="02040502050505030304" pitchFamily="18" charset="0"/>
                  <a:ea typeface="Palatino" pitchFamily="2" charset="77"/>
                </a:rPr>
                <a:t>812 estimates from 166 papers + </a:t>
              </a:r>
              <a:r>
                <a:rPr lang="en-BE">
                  <a:latin typeface="Palatino Linotype" panose="02040502050505030304" pitchFamily="18" charset="0"/>
                  <a:ea typeface="Palatino" pitchFamily="2" charset="77"/>
                </a:rPr>
                <a:t>Bayesian estimation.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293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D375C-127F-CF95-5214-8AEC8612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04A4C694-34A3-A17C-7285-261D53F1D207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1 – A Meta Analysis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B3D3C2-F03F-BD37-97B5-6D1728290D14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D0FB8-6E27-5474-E7A3-2D7E60255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28" y="1653623"/>
            <a:ext cx="54864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6985C5-4F25-E299-31D1-D45AD9BAB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72" y="1653623"/>
            <a:ext cx="54864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9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C0207-5E86-2ACC-3B4F-6391A829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3CB4C730-6AC7-9E05-62A4-4D917FD0CFF6}"/>
              </a:ext>
            </a:extLst>
          </p:cNvPr>
          <p:cNvSpPr/>
          <p:nvPr/>
        </p:nvSpPr>
        <p:spPr>
          <a:xfrm>
            <a:off x="609600" y="1848610"/>
            <a:ext cx="1005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BE" sz="4300" dirty="0">
                <a:latin typeface="Palatino Linotype" panose="02040502050505030304" pitchFamily="18" charset="0"/>
              </a:rPr>
              <a:t>Chapter 2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Palatino Linotype" panose="02040502050505030304" pitchFamily="18" charset="0"/>
              </a:rPr>
              <a:t>Cognitive Frictions and Canonical Patterns in Risk-Taking</a:t>
            </a:r>
            <a:endParaRPr lang="en-BE" sz="3000" dirty="0">
              <a:latin typeface="Palatino Linotype" panose="0204050205050503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947A1BD-6A99-847E-3ED5-6F76DB490614}"/>
              </a:ext>
            </a:extLst>
          </p:cNvPr>
          <p:cNvSpPr/>
          <p:nvPr/>
        </p:nvSpPr>
        <p:spPr>
          <a:xfrm>
            <a:off x="609600" y="3441262"/>
            <a:ext cx="5400000" cy="45719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580A36-132F-921C-69EE-D6A6716074E6}"/>
              </a:ext>
            </a:extLst>
          </p:cNvPr>
          <p:cNvSpPr/>
          <p:nvPr/>
        </p:nvSpPr>
        <p:spPr>
          <a:xfrm>
            <a:off x="627742" y="4543620"/>
            <a:ext cx="997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BE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Joint work with </a:t>
            </a:r>
            <a:r>
              <a:rPr lang="en-GB" sz="2000" dirty="0" err="1">
                <a:solidFill>
                  <a:srgbClr val="646469"/>
                </a:solidFill>
                <a:latin typeface="Palatino Linotype" panose="02040502050505030304" pitchFamily="18" charset="0"/>
              </a:rPr>
              <a:t>Ranoua</a:t>
            </a:r>
            <a:r>
              <a:rPr lang="en-GB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 </a:t>
            </a:r>
            <a:r>
              <a:rPr lang="en-GB" sz="2000" dirty="0" err="1">
                <a:solidFill>
                  <a:srgbClr val="646469"/>
                </a:solidFill>
                <a:latin typeface="Palatino Linotype" panose="02040502050505030304" pitchFamily="18" charset="0"/>
              </a:rPr>
              <a:t>Bouchouicha</a:t>
            </a:r>
            <a:r>
              <a:rPr lang="en-GB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, Ryan Oprea</a:t>
            </a:r>
            <a:r>
              <a:rPr lang="en-BE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, and Ferdinand Vieider</a:t>
            </a:r>
          </a:p>
        </p:txBody>
      </p:sp>
    </p:spTree>
    <p:extLst>
      <p:ext uri="{BB962C8B-B14F-4D97-AF65-F5344CB8AC3E}">
        <p14:creationId xmlns:p14="http://schemas.microsoft.com/office/powerpoint/2010/main" val="31318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D42EC-0F4C-6A8F-4F21-CF2CECB9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6AB8F051-2FB5-4E4F-5BA9-1C87C9A58002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Empirical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2242BD-7CAB-16BD-FF87-B7FE4928E30E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F8F3E-EC9E-201F-A84D-66F9AB2DAE53}"/>
              </a:ext>
            </a:extLst>
          </p:cNvPr>
          <p:cNvSpPr txBox="1"/>
          <p:nvPr/>
        </p:nvSpPr>
        <p:spPr>
          <a:xfrm>
            <a:off x="1861457" y="2132972"/>
            <a:ext cx="8469086" cy="2592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To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have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a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deeper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understanding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what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difference</a:t>
            </a:r>
            <a:r>
              <a:rPr lang="zh-CN" altLang="en-US" sz="24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400" dirty="0">
                <a:latin typeface="Palatino Linotype" panose="02040502050505030304" pitchFamily="18" charset="0"/>
                <a:ea typeface="Palatino" pitchFamily="2" charset="77"/>
              </a:rPr>
              <a:t>implies: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Filter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those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studies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of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Binary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Choice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and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Choice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List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Calculate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predictive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CE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of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(100,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0.1)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and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(–100,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0.1).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Do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meta-analysis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on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this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predictive</a:t>
            </a:r>
            <a:r>
              <a:rPr lang="zh-CN" altLang="en-US" sz="2000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CE.</a:t>
            </a:r>
            <a:endParaRPr lang="en-GB" sz="2000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711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FB94C-4D24-8C7A-2CC6-828B6E4A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4F52C9C0-F9CB-7B85-3B68-1018F8C75CA2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Empirical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EF1B23-0891-661A-B331-6AF93B20701A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BD0708B-43A1-BC33-7338-C424F06EE06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9700" y="1377818"/>
            <a:ext cx="93726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1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9CC52-4E75-12C0-83E4-9E4DEB8A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F08E6C8E-7A94-B43C-EB61-09E27E810CFA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Empirical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EC6FA5-BACB-62A3-C3D6-C3D2C3152B63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72A80-5333-D742-7474-05038DF95B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9700" y="1377818"/>
            <a:ext cx="9528312" cy="476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7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BC859-58E2-DE68-A470-E9748A74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787F0118-CEC5-4D57-4BCD-20F9EA5C85B1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Empirical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8DDA53-5EC2-E87B-5589-770FF79F36EA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C08B8A86-5D6D-7154-2003-D6C8A09B24FD}"/>
              </a:ext>
            </a:extLst>
          </p:cNvPr>
          <p:cNvSpPr/>
          <p:nvPr/>
        </p:nvSpPr>
        <p:spPr>
          <a:xfrm>
            <a:off x="699164" y="2787332"/>
            <a:ext cx="4399256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limitation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difference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found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meta-analysis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not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causal!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535E2272-EAD0-53DE-40EC-28D88F7B73B4}"/>
              </a:ext>
            </a:extLst>
          </p:cNvPr>
          <p:cNvSpPr/>
          <p:nvPr/>
        </p:nvSpPr>
        <p:spPr>
          <a:xfrm>
            <a:off x="699165" y="1401431"/>
            <a:ext cx="4399256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Finding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fourfold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pattern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exists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Choice-list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studies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but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not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Binary-choice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studies.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2118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69DF0-93D9-5B53-939B-A5FE4D9C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432746-1925-351D-B7A0-1C337687965C}"/>
              </a:ext>
            </a:extLst>
          </p:cNvPr>
          <p:cNvSpPr/>
          <p:nvPr/>
        </p:nvSpPr>
        <p:spPr>
          <a:xfrm>
            <a:off x="5827486" y="1227389"/>
            <a:ext cx="6364513" cy="4874751"/>
          </a:xfrm>
          <a:prstGeom prst="roundRect">
            <a:avLst>
              <a:gd name="adj" fmla="val 5013"/>
            </a:avLst>
          </a:prstGeom>
          <a:solidFill>
            <a:srgbClr val="F8F7F2"/>
          </a:solidFill>
          <a:ln>
            <a:noFill/>
          </a:ln>
          <a:effectLst>
            <a:outerShdw blurRad="50800" dist="50800" dir="13680000" sx="99000" sy="99000" algn="ctr" rotWithShape="0">
              <a:srgbClr val="000000">
                <a:alpha val="88093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899232-9DD2-7D44-3333-B60CFC7968D0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Empirical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8DA8FA4-C132-5AF1-957D-617F2594E957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C74F3A38-6156-BD41-B809-8C370CC1D62F}"/>
              </a:ext>
            </a:extLst>
          </p:cNvPr>
          <p:cNvSpPr/>
          <p:nvPr/>
        </p:nvSpPr>
        <p:spPr>
          <a:xfrm>
            <a:off x="699164" y="2787332"/>
            <a:ext cx="4399256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limitation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difference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found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meta-analysis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not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causal!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4FA5706-4FB2-3FB4-6A75-FABCAC94983E}"/>
              </a:ext>
            </a:extLst>
          </p:cNvPr>
          <p:cNvSpPr/>
          <p:nvPr/>
        </p:nvSpPr>
        <p:spPr>
          <a:xfrm>
            <a:off x="699164" y="4173233"/>
            <a:ext cx="4399256" cy="203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Solution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Run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experiment,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remain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all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other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factors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same,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except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for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elicitation!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Experimental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results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echo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with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meta-analysis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9CA17613-382A-25E2-7A6F-A9CE50F2EB5C}"/>
              </a:ext>
            </a:extLst>
          </p:cNvPr>
          <p:cNvSpPr/>
          <p:nvPr/>
        </p:nvSpPr>
        <p:spPr>
          <a:xfrm>
            <a:off x="699165" y="1401431"/>
            <a:ext cx="4399256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Finding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fourfold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pattern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exists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Choice-list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studies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but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not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Binary-choice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studies.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D49A18-869E-A754-00F1-04BE0789D8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9544" y="1498214"/>
            <a:ext cx="5711372" cy="21789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79E9E-3002-051D-6778-0C7FB029AE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39543" y="4078355"/>
            <a:ext cx="5711372" cy="183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1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06987-EC23-2C44-6877-22E93806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E39F8B6-1830-BFB2-40AE-1FAE14A9D6D5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Theoretical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3DF712-B099-D354-E42F-5DF91667F10A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93036950-2178-E900-FFED-45315528E9A9}"/>
                  </a:ext>
                </a:extLst>
              </p:cNvPr>
              <p:cNvSpPr/>
              <p:nvPr/>
            </p:nvSpPr>
            <p:spPr>
              <a:xfrm>
                <a:off x="2363835" y="1852701"/>
                <a:ext cx="7464329" cy="36077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2000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Theoretical</a:t>
                </a:r>
                <a:r>
                  <a:rPr lang="zh-CN" altLang="en-US" sz="2000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conflict</a:t>
                </a:r>
                <a:r>
                  <a:rPr lang="en-BE" sz="2000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sz="2000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Traditional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behavioral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models (including but not limited to prospect theory)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cannot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explain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such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dependency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on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elicitation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methods</a:t>
                </a:r>
                <a:r>
                  <a:rPr lang="en-BE" sz="2000" dirty="0">
                    <a:latin typeface="Palatino Linotype" panose="02040502050505030304" pitchFamily="18" charset="0"/>
                    <a:ea typeface="Palatino" pitchFamily="2" charset="77"/>
                  </a:rPr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Middle-bias</a:t>
                </a:r>
                <a:r>
                  <a:rPr lang="zh-CN" alt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sz="2000" dirty="0">
                    <a:latin typeface="Palatino Linotype" panose="02040502050505030304" pitchFamily="18" charset="0"/>
                    <a:ea typeface="Palatino" pitchFamily="2" charset="77"/>
                  </a:rPr>
                  <a:t>heuristic?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→</m:t>
                    </m:r>
                  </m:oMath>
                </a14:m>
                <a:r>
                  <a:rPr lang="en-BE" sz="2000" dirty="0">
                    <a:latin typeface="Palatino Linotype" panose="02040502050505030304" pitchFamily="18" charset="0"/>
                    <a:ea typeface="Palatino" pitchFamily="2" charset="77"/>
                  </a:rPr>
                  <a:t> Rejected by additional experimental results</a:t>
                </a:r>
              </a:p>
            </p:txBody>
          </p:sp>
        </mc:Choice>
        <mc:Fallback xmlns=""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93036950-2178-E900-FFED-45315528E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835" y="1852701"/>
                <a:ext cx="7464329" cy="3607719"/>
              </a:xfrm>
              <a:prstGeom prst="rect">
                <a:avLst/>
              </a:prstGeom>
              <a:blipFill>
                <a:blip r:embed="rId3"/>
                <a:stretch>
                  <a:fillRect l="-2211" r="-1190" b="-3497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551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12EFA-595C-1F42-F7C5-EEC91689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6FE39F1F-209B-1018-7EEC-BEEEDA9911F3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Theoretical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2528EB-62D9-E505-FB4F-167105A87AA2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B286A7B2-4EE0-6451-8B05-B1C06F7874EE}"/>
              </a:ext>
            </a:extLst>
          </p:cNvPr>
          <p:cNvSpPr/>
          <p:nvPr/>
        </p:nvSpPr>
        <p:spPr>
          <a:xfrm>
            <a:off x="1637012" y="2060990"/>
            <a:ext cx="8692694" cy="179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Under two different elicitations</a:t>
            </a:r>
            <a:r>
              <a:rPr lang="en-BE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sz="2000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Binary choice: DMs compare two options at the same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Choice list: DMs firstly evaluate the fixed option and then find the indifferent sure amount</a:t>
            </a:r>
            <a:r>
              <a:rPr lang="en-BE" sz="2000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9AC36CB3-69F4-B665-1D39-CBD456B92597}"/>
              </a:ext>
            </a:extLst>
          </p:cNvPr>
          <p:cNvSpPr/>
          <p:nvPr/>
        </p:nvSpPr>
        <p:spPr>
          <a:xfrm>
            <a:off x="1637012" y="4152527"/>
            <a:ext cx="8984096" cy="8762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Unique Prediction</a:t>
            </a:r>
            <a:r>
              <a:rPr lang="en-BE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sz="2000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The presence of list does not matter, as long as the separate evaluation exists</a:t>
            </a:r>
            <a:r>
              <a:rPr lang="en-BE" sz="2000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110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9CB96-A616-22A1-346E-1A17A28B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FBA69E28-409B-AF4A-669D-E068418F670B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Experiment 2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0ED6143-624B-6235-0EB0-972BB7D01A53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1CA036F9-9411-21CE-44F7-5E0A31A56F02}"/>
              </a:ext>
            </a:extLst>
          </p:cNvPr>
          <p:cNvSpPr/>
          <p:nvPr/>
        </p:nvSpPr>
        <p:spPr>
          <a:xfrm>
            <a:off x="609600" y="1556325"/>
            <a:ext cx="6097428" cy="125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Unique Prediction</a:t>
            </a:r>
            <a:r>
              <a:rPr lang="en-BE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sz="2000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 presence of list does not matter, as long as the separate evaluation exists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70F5CE5B-DEB7-0AD6-F16C-2459FAA86FEA}"/>
              </a:ext>
            </a:extLst>
          </p:cNvPr>
          <p:cNvSpPr/>
          <p:nvPr/>
        </p:nvSpPr>
        <p:spPr>
          <a:xfrm>
            <a:off x="599452" y="3104267"/>
            <a:ext cx="6097428" cy="83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A new condition</a:t>
            </a:r>
            <a:r>
              <a:rPr lang="en-BE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sz="2000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ea typeface="Palatino" pitchFamily="2" charset="77"/>
              </a:rPr>
              <a:t>Binary choice + Initial lottery evaluation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0F2A05-ACAC-D0B8-C6E0-0F25B4EC9FC5}"/>
              </a:ext>
            </a:extLst>
          </p:cNvPr>
          <p:cNvGrpSpPr/>
          <p:nvPr/>
        </p:nvGrpSpPr>
        <p:grpSpPr>
          <a:xfrm>
            <a:off x="6804564" y="2039640"/>
            <a:ext cx="5154534" cy="3281135"/>
            <a:chOff x="5974128" y="2518229"/>
            <a:chExt cx="5869529" cy="373626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BB597A4-68AE-67F4-A4F8-38CA821387F7}"/>
                </a:ext>
              </a:extLst>
            </p:cNvPr>
            <p:cNvSpPr/>
            <p:nvPr/>
          </p:nvSpPr>
          <p:spPr>
            <a:xfrm>
              <a:off x="6219371" y="2518229"/>
              <a:ext cx="5624286" cy="3736267"/>
            </a:xfrm>
            <a:prstGeom prst="roundRect">
              <a:avLst>
                <a:gd name="adj" fmla="val 5013"/>
              </a:avLst>
            </a:prstGeom>
            <a:solidFill>
              <a:srgbClr val="F8F7F2"/>
            </a:solidFill>
            <a:ln>
              <a:noFill/>
            </a:ln>
            <a:effectLst>
              <a:outerShdw blurRad="50800" dist="50800" dir="13680000" sx="99000" sy="99000" algn="ctr" rotWithShape="0">
                <a:srgbClr val="000000">
                  <a:alpha val="8809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8DAEE5A-C655-74F7-45D8-D9E378DE5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18292" b="20891"/>
            <a:stretch>
              <a:fillRect/>
            </a:stretch>
          </p:blipFill>
          <p:spPr>
            <a:xfrm>
              <a:off x="5974128" y="2580843"/>
              <a:ext cx="5624286" cy="3673653"/>
            </a:xfrm>
            <a:prstGeom prst="rect">
              <a:avLst/>
            </a:prstGeom>
          </p:spPr>
        </p:pic>
      </p:grpSp>
      <p:sp>
        <p:nvSpPr>
          <p:cNvPr id="11" name="Text 7">
            <a:extLst>
              <a:ext uri="{FF2B5EF4-FFF2-40B4-BE49-F238E27FC236}">
                <a16:creationId xmlns:a16="http://schemas.microsoft.com/office/drawing/2014/main" id="{DA05FA72-DAAC-4F8C-4931-3C9865BFDD8E}"/>
              </a:ext>
            </a:extLst>
          </p:cNvPr>
          <p:cNvSpPr/>
          <p:nvPr/>
        </p:nvSpPr>
        <p:spPr>
          <a:xfrm>
            <a:off x="599452" y="4236711"/>
            <a:ext cx="6097428" cy="166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 finding</a:t>
            </a:r>
            <a:r>
              <a:rPr lang="en-BE" sz="2000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sz="2000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ea typeface="Palatino" pitchFamily="2" charset="77"/>
              </a:rPr>
              <a:t>Responses in this new condition is almost same to the choice-list condition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A simple middle-bias heuristic is ruled out.</a:t>
            </a:r>
          </a:p>
        </p:txBody>
      </p:sp>
    </p:spTree>
    <p:extLst>
      <p:ext uri="{BB962C8B-B14F-4D97-AF65-F5344CB8AC3E}">
        <p14:creationId xmlns:p14="http://schemas.microsoft.com/office/powerpoint/2010/main" val="4075079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377D2-D417-30E1-D700-0AA4E32E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>
            <a:extLst>
              <a:ext uri="{FF2B5EF4-FFF2-40B4-BE49-F238E27FC236}">
                <a16:creationId xmlns:a16="http://schemas.microsoft.com/office/drawing/2014/main" id="{30DC4BD9-40C4-EA28-75BA-8C98965B90FE}"/>
              </a:ext>
            </a:extLst>
          </p:cNvPr>
          <p:cNvSpPr/>
          <p:nvPr/>
        </p:nvSpPr>
        <p:spPr>
          <a:xfrm>
            <a:off x="627742" y="4543620"/>
            <a:ext cx="997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BE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Joint work with </a:t>
            </a:r>
            <a:r>
              <a:rPr lang="en-US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Yuchi Li</a:t>
            </a:r>
            <a:endParaRPr lang="en-BE" sz="2000" dirty="0">
              <a:solidFill>
                <a:srgbClr val="64646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01804D2-426A-2F80-9AC9-DF574A83A5E3}"/>
              </a:ext>
            </a:extLst>
          </p:cNvPr>
          <p:cNvSpPr/>
          <p:nvPr/>
        </p:nvSpPr>
        <p:spPr>
          <a:xfrm>
            <a:off x="609600" y="1848610"/>
            <a:ext cx="1005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BE" sz="4300" dirty="0">
                <a:latin typeface="Palatino Linotype" panose="02040502050505030304" pitchFamily="18" charset="0"/>
              </a:rPr>
              <a:t>Chapter 3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Palatino Linotype" panose="02040502050505030304" pitchFamily="18" charset="0"/>
              </a:rPr>
              <a:t>Ambiguity Attitudes under Matching and Choice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C9298A1-521D-4FFC-B16D-5471DBC800C9}"/>
              </a:ext>
            </a:extLst>
          </p:cNvPr>
          <p:cNvSpPr/>
          <p:nvPr/>
        </p:nvSpPr>
        <p:spPr>
          <a:xfrm>
            <a:off x="609600" y="3441262"/>
            <a:ext cx="5400000" cy="45719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30647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E0557-678C-9C8D-E411-BAC4D9C22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02E3583D-2464-0CA5-462F-42E265D2C849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B481B07-EC04-0E90-F245-29BEEC1AE49C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6BA6A-1C16-C81F-603E-6F418B0C4C6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1545"/>
          <a:stretch>
            <a:fillRect/>
          </a:stretch>
        </p:blipFill>
        <p:spPr>
          <a:xfrm>
            <a:off x="760974" y="2140298"/>
            <a:ext cx="10670051" cy="320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90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228DD-1BD3-8F9D-C134-3AD440EA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3FA6EE-F978-297C-33C5-9642E5D473B4}"/>
              </a:ext>
            </a:extLst>
          </p:cNvPr>
          <p:cNvSpPr/>
          <p:nvPr/>
        </p:nvSpPr>
        <p:spPr>
          <a:xfrm>
            <a:off x="5124659" y="1396719"/>
            <a:ext cx="6842371" cy="4735565"/>
          </a:xfrm>
          <a:prstGeom prst="roundRect">
            <a:avLst>
              <a:gd name="adj" fmla="val 5013"/>
            </a:avLst>
          </a:prstGeom>
          <a:solidFill>
            <a:srgbClr val="F8F7F2"/>
          </a:solidFill>
          <a:ln>
            <a:noFill/>
          </a:ln>
          <a:effectLst>
            <a:outerShdw blurRad="50800" dist="50800" dir="13680000" sx="99000" sy="99000" algn="ctr" rotWithShape="0">
              <a:srgbClr val="000000">
                <a:alpha val="88093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A3409F-C54C-AFBD-9F86-A1E7D033D4B4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ACFEAC-841C-6099-A524-25BA461D123F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7">
                <a:extLst>
                  <a:ext uri="{FF2B5EF4-FFF2-40B4-BE49-F238E27FC236}">
                    <a16:creationId xmlns:a16="http://schemas.microsoft.com/office/drawing/2014/main" id="{327D3F2E-2505-092A-941C-55B70B9BC72F}"/>
                  </a:ext>
                </a:extLst>
              </p:cNvPr>
              <p:cNvSpPr/>
              <p:nvPr/>
            </p:nvSpPr>
            <p:spPr>
              <a:xfrm>
                <a:off x="604593" y="1884821"/>
                <a:ext cx="4330482" cy="351038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Palatino Linotype" panose="02040502050505030304" pitchFamily="18" charset="0"/>
                    <a:ea typeface="Latin Modern Math" panose="02000503000000000000" pitchFamily="2" charset="77"/>
                  </a:rPr>
                  <a:t>Matching probability reveals </a:t>
                </a:r>
                <a:r>
                  <a:rPr lang="en-US" sz="2000" dirty="0">
                    <a:latin typeface="+mj-lt"/>
                    <a:ea typeface="Source Sans Pro" panose="020B0503030403020204" pitchFamily="34" charset="0"/>
                  </a:rPr>
                  <a:t>ambiguity attitude: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(20, </m:t>
                      </m:r>
                      <m:r>
                        <a:rPr lang="en-US" sz="20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𝐸</m:t>
                      </m:r>
                      <m:r>
                        <a:rPr lang="en-US" sz="20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)∼(20, </m:t>
                      </m:r>
                      <m:r>
                        <a:rPr lang="en-US" sz="20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𝑚𝑝</m:t>
                      </m:r>
                      <m:r>
                        <a:rPr lang="en-US" sz="2000" i="1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)</m:t>
                      </m:r>
                    </m:oMath>
                  </m:oMathPara>
                </a14:m>
                <a:endParaRPr lang="en-US" sz="2200" dirty="0">
                  <a:latin typeface="Palatino Linotype" panose="02040502050505030304" pitchFamily="18" charset="0"/>
                  <a:ea typeface="Latin Modern Math" panose="02000503000000000000" pitchFamily="2" charset="77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ea typeface="Palatino" pitchFamily="2" charset="77"/>
                  </a:rPr>
                  <a:t>Ambiguity seeking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𝑚𝑝</m:t>
                    </m:r>
                    <m: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&gt;</m:t>
                    </m:r>
                    <m:r>
                      <m:rPr>
                        <m:sty m:val="p"/>
                      </m:rPr>
                      <a:rPr lang="en-US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P</m:t>
                    </m:r>
                    <m:r>
                      <a:rPr lang="en-US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E</m:t>
                    </m:r>
                    <m:r>
                      <a:rPr lang="en-US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)</m:t>
                    </m:r>
                  </m:oMath>
                </a14:m>
                <a:endParaRPr lang="en-US" dirty="0">
                  <a:latin typeface="Palatino Linotype" panose="02040502050505030304" pitchFamily="18" charset="0"/>
                  <a:ea typeface="Latin Modern Math" panose="02000503000000000000" pitchFamily="2" charset="77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ea typeface="Palatino" pitchFamily="2" charset="77"/>
                  </a:rPr>
                  <a:t>Ambiguity neutral if </a:t>
                </a:r>
                <a14:m>
                  <m:oMath xmlns:m="http://schemas.openxmlformats.org/officeDocument/2006/math">
                    <m:r>
                      <a:rPr lang="en-US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𝑚𝑝</m:t>
                    </m:r>
                    <m:r>
                      <a:rPr lang="en-US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P</m:t>
                    </m:r>
                    <m: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E</m:t>
                    </m:r>
                    <m: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)</m:t>
                    </m:r>
                  </m:oMath>
                </a14:m>
                <a:endParaRPr lang="en-US" dirty="0">
                  <a:latin typeface="Palatino Linotype" panose="02040502050505030304" pitchFamily="18" charset="0"/>
                  <a:ea typeface="Latin Modern Math" panose="02000503000000000000" pitchFamily="2" charset="77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ea typeface="Palatino" pitchFamily="2" charset="77"/>
                  </a:rPr>
                  <a:t>Ambiguity averse if </a:t>
                </a:r>
                <a14:m>
                  <m:oMath xmlns:m="http://schemas.openxmlformats.org/officeDocument/2006/math">
                    <m:r>
                      <a:rPr lang="en-US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𝑚𝑝</m:t>
                    </m:r>
                    <m:r>
                      <a:rPr lang="en-US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</m:t>
                    </m:r>
                    <m:r>
                      <m:rPr>
                        <m:sty m:val="p"/>
                      </m:rP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P</m:t>
                    </m:r>
                    <m: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E</m:t>
                    </m:r>
                    <m:r>
                      <a:rPr lang="en-US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)</m:t>
                    </m:r>
                  </m:oMath>
                </a14:m>
                <a:endParaRPr lang="en-US" dirty="0">
                  <a:latin typeface="Palatino Linotype" panose="02040502050505030304" pitchFamily="18" charset="0"/>
                  <a:ea typeface="Latin Modern Math" panose="02000503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Palatino Linotype" panose="02040502050505030304" pitchFamily="18" charset="0"/>
                  <a:ea typeface="Latin Modern Math" panose="02000503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Palatino Linotype" panose="02040502050505030304" pitchFamily="18" charset="0"/>
                    <a:ea typeface="Latin Modern Math" panose="02000503000000000000" pitchFamily="2" charset="77"/>
                  </a:rPr>
                  <a:t>Note: in this example,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P</m:t>
                    </m:r>
                    <m:r>
                      <a:rPr lang="en-US" i="0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E</m:t>
                    </m:r>
                    <m:r>
                      <a:rPr lang="en-US" i="0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)=0.5</m:t>
                    </m:r>
                  </m:oMath>
                </a14:m>
                <a:endParaRPr lang="en-US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>
          <p:sp>
            <p:nvSpPr>
              <p:cNvPr id="2" name="Text 7">
                <a:extLst>
                  <a:ext uri="{FF2B5EF4-FFF2-40B4-BE49-F238E27FC236}">
                    <a16:creationId xmlns:a16="http://schemas.microsoft.com/office/drawing/2014/main" id="{327D3F2E-2505-092A-941C-55B70B9BC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3" y="1884821"/>
                <a:ext cx="4330482" cy="3510385"/>
              </a:xfrm>
              <a:prstGeom prst="rect">
                <a:avLst/>
              </a:prstGeom>
              <a:blipFill>
                <a:blip r:embed="rId3"/>
                <a:stretch>
                  <a:fillRect l="-3509" b="-252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1C614D68-4E7F-8486-8AD7-2905E9172A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60048" y="1567356"/>
            <a:ext cx="6586329" cy="42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4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E3E33-2823-ECB3-A766-99850F1D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C30F7E1B-1F22-C495-F526-CEF88F5838A5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9D7CA14-7994-CA1A-7829-91F2F867417E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275720-2219-3921-1196-47D914331AC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7585" y="1994019"/>
            <a:ext cx="7276830" cy="45817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BF3AADCC-AC7D-5D80-C7DC-BA40D26CA10E}"/>
                  </a:ext>
                </a:extLst>
              </p:cNvPr>
              <p:cNvSpPr/>
              <p:nvPr/>
            </p:nvSpPr>
            <p:spPr>
              <a:xfrm>
                <a:off x="330972" y="1127138"/>
                <a:ext cx="8451287" cy="412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Palatino Linotype" panose="02040502050505030304" pitchFamily="18" charset="0"/>
                    <a:ea typeface="Latin Modern Math" panose="02000503000000000000" pitchFamily="2" charset="77"/>
                  </a:rPr>
                  <a:t>This example</a:t>
                </a:r>
                <a:r>
                  <a:rPr lang="en-US" sz="2000" dirty="0">
                    <a:latin typeface="+mj-lt"/>
                    <a:ea typeface="Source Sans Pro" panose="020B0503030403020204" pitchFamily="34" charset="0"/>
                  </a:rPr>
                  <a:t> indicates</a:t>
                </a:r>
                <a:r>
                  <a:rPr lang="en-US" sz="2000" i="1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sz="2000" dirty="0">
                    <a:latin typeface="Palatino Linotype" panose="02040502050505030304" pitchFamily="18" charset="0"/>
                    <a:ea typeface="Palatino" pitchFamily="2" charset="77"/>
                  </a:rPr>
                  <a:t>Ambiguity averse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𝑚𝑝</m:t>
                    </m:r>
                    <m:r>
                      <a:rPr lang="en-US" sz="20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=0.25</m:t>
                    </m:r>
                    <m:r>
                      <a:rPr lang="en-US" sz="2000" b="0" i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&lt;</m:t>
                    </m:r>
                    <m:r>
                      <m:rPr>
                        <m:sty m:val="p"/>
                      </m:rPr>
                      <a:rPr lang="en-US" sz="200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P</m:t>
                    </m:r>
                    <m:r>
                      <a:rPr lang="en-US" sz="200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E</m:t>
                    </m:r>
                    <m:r>
                      <a:rPr lang="en-US" sz="200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)=0.5</m:t>
                    </m:r>
                  </m:oMath>
                </a14:m>
                <a:endParaRPr lang="en-US" sz="20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BF3AADCC-AC7D-5D80-C7DC-BA40D26CA1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72" y="1127138"/>
                <a:ext cx="8451287" cy="412677"/>
              </a:xfrm>
              <a:prstGeom prst="rect">
                <a:avLst/>
              </a:prstGeom>
              <a:blipFill>
                <a:blip r:embed="rId4"/>
                <a:stretch>
                  <a:fillRect l="-1799" b="-3235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768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EEC67-CC38-4347-BA18-E1C046A3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5F648202-8FAB-D897-1550-4CA888468140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5D909F2-1C96-B3EA-017B-FF3B6139EDDC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BD06A65A-CDEC-AAD9-D828-69B60ADFB71B}"/>
              </a:ext>
            </a:extLst>
          </p:cNvPr>
          <p:cNvSpPr/>
          <p:nvPr/>
        </p:nvSpPr>
        <p:spPr>
          <a:xfrm>
            <a:off x="1050858" y="1350000"/>
            <a:ext cx="4399256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Finding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Using choice lists, we got similar behavior pattern as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 the literature.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9528D5-77E1-8732-790D-CB7E84E43C9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1267" y="1792800"/>
            <a:ext cx="556467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3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4C658-BE83-6A7B-C2B7-8FB2758D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BB333A16-EDA0-1D6C-1F37-FC46159909BF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368543E-D3A0-C46A-724F-80EE05112B09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961981EF-234B-4C19-C82B-7576775036F9}"/>
              </a:ext>
            </a:extLst>
          </p:cNvPr>
          <p:cNvSpPr/>
          <p:nvPr/>
        </p:nvSpPr>
        <p:spPr>
          <a:xfrm>
            <a:off x="1050857" y="4210789"/>
            <a:ext cx="4399256" cy="161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Echoing last chapter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ea typeface="Palatino" pitchFamily="2" charset="77"/>
              </a:rPr>
              <a:t>Choice-list elicitation results in heavier cognitive noise, thereby stronger deviation from ambiguity neutrality.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0EFBDCBB-97C3-1766-7A84-66F38CEA12C0}"/>
              </a:ext>
            </a:extLst>
          </p:cNvPr>
          <p:cNvSpPr/>
          <p:nvPr/>
        </p:nvSpPr>
        <p:spPr>
          <a:xfrm>
            <a:off x="1050858" y="1350000"/>
            <a:ext cx="4399256" cy="245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Finding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Using choice lists, we got similar behavior pattern as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 the literature.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ea typeface="Palatino" pitchFamily="2" charset="77"/>
              </a:rPr>
              <a:t>Yet, when same choices are presented on separate pages, </a:t>
            </a:r>
            <a:r>
              <a:rPr lang="en-US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 pattern is much weaker</a:t>
            </a:r>
            <a:r>
              <a:rPr lang="en-US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AD8BCF-9E4A-E609-6EEB-0DE0C3B354E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1268" y="1793072"/>
            <a:ext cx="5572640" cy="32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83338C-FAD2-45A3-7A8B-4E23515B3FB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0400" y="1792800"/>
            <a:ext cx="5565600" cy="324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5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12DCB-2A99-5CDC-5390-966E284E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48CFF1AE-39D2-4631-4558-841BD7C7922D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237C739-2799-38A3-18FC-4D1FAAABF7A6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82B38832-1D8A-0543-F687-7781266CD839}"/>
              </a:ext>
            </a:extLst>
          </p:cNvPr>
          <p:cNvSpPr/>
          <p:nvPr/>
        </p:nvSpPr>
        <p:spPr>
          <a:xfrm>
            <a:off x="963772" y="1240278"/>
            <a:ext cx="10277542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cognitive-noise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model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This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cognitive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framework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provide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a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very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intuitive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account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for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ambiguity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behavior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Unknown probability is perceived more </a:t>
            </a:r>
            <a:r>
              <a:rPr lang="en-GB" dirty="0">
                <a:latin typeface="Palatino Linotype" panose="02040502050505030304" pitchFamily="18" charset="0"/>
                <a:ea typeface="Palatino" pitchFamily="2" charset="77"/>
              </a:rPr>
              <a:t>noisily, so its mental representation is closer to the prior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2FAED-4301-CE15-0D68-97DF9F66B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912400"/>
            <a:ext cx="5691600" cy="32015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5A0BE3-0386-F941-DE59-36B71FD4E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00" y="2912400"/>
            <a:ext cx="5691600" cy="320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69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C2BA0-C4E4-60AA-42F6-E91C6711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CA1640F-CC78-5515-4227-F2CDBDE2F21E}"/>
              </a:ext>
            </a:extLst>
          </p:cNvPr>
          <p:cNvSpPr/>
          <p:nvPr/>
        </p:nvSpPr>
        <p:spPr>
          <a:xfrm>
            <a:off x="5696860" y="1364079"/>
            <a:ext cx="6364513" cy="4506950"/>
          </a:xfrm>
          <a:prstGeom prst="roundRect">
            <a:avLst>
              <a:gd name="adj" fmla="val 5013"/>
            </a:avLst>
          </a:prstGeom>
          <a:solidFill>
            <a:srgbClr val="F8F7F2"/>
          </a:solidFill>
          <a:ln>
            <a:noFill/>
          </a:ln>
          <a:effectLst>
            <a:outerShdw blurRad="50800" dist="50800" dir="13680000" sx="99000" sy="99000" algn="ctr" rotWithShape="0">
              <a:srgbClr val="000000">
                <a:alpha val="88093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5F94B4-57DD-54F2-2E29-9C8A67225370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5672DF4-55A1-5D5F-919C-B3096990025B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7">
                <a:extLst>
                  <a:ext uri="{FF2B5EF4-FFF2-40B4-BE49-F238E27FC236}">
                    <a16:creationId xmlns:a16="http://schemas.microsoft.com/office/drawing/2014/main" id="{79E787EB-C209-1F80-D74F-11FC1D9DC4B8}"/>
                  </a:ext>
                </a:extLst>
              </p:cNvPr>
              <p:cNvSpPr/>
              <p:nvPr/>
            </p:nvSpPr>
            <p:spPr>
              <a:xfrm>
                <a:off x="765012" y="1364079"/>
                <a:ext cx="4531919" cy="24505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novelty</a:t>
                </a:r>
                <a:r>
                  <a:rPr lang="en-BE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stimuli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of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this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study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a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10</m:t>
                    </m:r>
                    <m:r>
                      <a:rPr lang="zh-CN" altLang="en-US" i="1" dirty="0" smtClean="0">
                        <a:latin typeface="Latin Modern Math" panose="02000503000000000000" pitchFamily="2" charset="77"/>
                        <a:ea typeface="Palatino" pitchFamily="2" charset="77"/>
                      </a:rPr>
                      <m:t>∗</m:t>
                    </m:r>
                    <m:r>
                      <a:rPr lang="en-US" altLang="zh-CN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10</m:t>
                    </m:r>
                  </m:oMath>
                </a14:m>
                <a:r>
                  <a:rPr lang="zh-CN" altLang="en-US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matrix.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ea typeface="Palatino" pitchFamily="2" charset="77"/>
                  </a:rPr>
                  <a:t>This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symmetry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allows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us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to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convert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matching-probability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lists (columns)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to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matching-event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lists (rows).</a:t>
                </a:r>
                <a:endParaRPr lang="en-BE" dirty="0">
                  <a:latin typeface="Palatino Linotype" panose="02040502050505030304" pitchFamily="18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5" name="Text 7">
                <a:extLst>
                  <a:ext uri="{FF2B5EF4-FFF2-40B4-BE49-F238E27FC236}">
                    <a16:creationId xmlns:a16="http://schemas.microsoft.com/office/drawing/2014/main" id="{79E787EB-C209-1F80-D74F-11FC1D9DC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2" y="1364079"/>
                <a:ext cx="4531919" cy="2450543"/>
              </a:xfrm>
              <a:prstGeom prst="rect">
                <a:avLst/>
              </a:prstGeom>
              <a:blipFill>
                <a:blip r:embed="rId3"/>
                <a:stretch>
                  <a:fillRect l="-3352" b="-5155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2CD003C-B872-9BC2-F5C4-F91BC2CFC03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47656" y="1538010"/>
            <a:ext cx="6123600" cy="39685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7">
                <a:extLst>
                  <a:ext uri="{FF2B5EF4-FFF2-40B4-BE49-F238E27FC236}">
                    <a16:creationId xmlns:a16="http://schemas.microsoft.com/office/drawing/2014/main" id="{30BA8D28-46B3-107B-8AAC-068276BCF5E3}"/>
                  </a:ext>
                </a:extLst>
              </p:cNvPr>
              <p:cNvSpPr/>
              <p:nvPr/>
            </p:nvSpPr>
            <p:spPr>
              <a:xfrm>
                <a:off x="765012" y="4031614"/>
                <a:ext cx="4531919" cy="16187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prediction</a:t>
                </a:r>
                <a:r>
                  <a:rPr lang="en-BE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Same questions and a same choice list format, but switching the position of two boxes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→</m:t>
                    </m:r>
                  </m:oMath>
                </a14:m>
                <a:r>
                  <a:rPr lang="en-US" altLang="zh-CN" b="0" dirty="0">
                    <a:latin typeface="Palatino Linotype" panose="02040502050505030304" pitchFamily="18" charset="0"/>
                    <a:ea typeface="Palatino" pitchFamily="2" charset="77"/>
                  </a:rPr>
                  <a:t> Reversed choice pattern.</a:t>
                </a:r>
              </a:p>
            </p:txBody>
          </p:sp>
        </mc:Choice>
        <mc:Fallback xmlns="">
          <p:sp>
            <p:nvSpPr>
              <p:cNvPr id="6" name="Text 7">
                <a:extLst>
                  <a:ext uri="{FF2B5EF4-FFF2-40B4-BE49-F238E27FC236}">
                    <a16:creationId xmlns:a16="http://schemas.microsoft.com/office/drawing/2014/main" id="{30BA8D28-46B3-107B-8AAC-068276BCF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2" y="4031614"/>
                <a:ext cx="4531919" cy="1618713"/>
              </a:xfrm>
              <a:prstGeom prst="rect">
                <a:avLst/>
              </a:prstGeom>
              <a:blipFill>
                <a:blip r:embed="rId5"/>
                <a:stretch>
                  <a:fillRect l="-3352" r="-1955" b="-9375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672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52C2A-326F-BA46-8ED7-81FB75823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8BE4D1A5-0B9A-8299-B116-60C558AF0CC1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E66EB6-74E3-D5D0-2E28-9DCCB1DBF7E2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7">
                <a:extLst>
                  <a:ext uri="{FF2B5EF4-FFF2-40B4-BE49-F238E27FC236}">
                    <a16:creationId xmlns:a16="http://schemas.microsoft.com/office/drawing/2014/main" id="{41D72B1E-10B0-FA06-B273-5CAEC20D7074}"/>
                  </a:ext>
                </a:extLst>
              </p:cNvPr>
              <p:cNvSpPr/>
              <p:nvPr/>
            </p:nvSpPr>
            <p:spPr>
              <a:xfrm>
                <a:off x="765012" y="1364079"/>
                <a:ext cx="4531919" cy="24505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novelty</a:t>
                </a:r>
                <a:r>
                  <a:rPr lang="en-BE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stimuli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of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this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study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a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10</m:t>
                    </m:r>
                    <m:r>
                      <a:rPr lang="zh-CN" altLang="en-US" i="1" dirty="0" smtClean="0">
                        <a:latin typeface="Latin Modern Math" panose="02000503000000000000" pitchFamily="2" charset="77"/>
                        <a:ea typeface="Palatino" pitchFamily="2" charset="77"/>
                      </a:rPr>
                      <m:t>∗</m:t>
                    </m:r>
                    <m:r>
                      <a:rPr lang="en-US" altLang="zh-CN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10</m:t>
                    </m:r>
                  </m:oMath>
                </a14:m>
                <a:r>
                  <a:rPr lang="zh-CN" altLang="en-US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matrix.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ea typeface="Palatino" pitchFamily="2" charset="77"/>
                  </a:rPr>
                  <a:t>This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symmetry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allows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us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to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convert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matching-probability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lists (columns)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to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matching-event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lists (rows).</a:t>
                </a:r>
                <a:endParaRPr lang="en-BE" dirty="0">
                  <a:latin typeface="Palatino Linotype" panose="02040502050505030304" pitchFamily="18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5" name="Text 7">
                <a:extLst>
                  <a:ext uri="{FF2B5EF4-FFF2-40B4-BE49-F238E27FC236}">
                    <a16:creationId xmlns:a16="http://schemas.microsoft.com/office/drawing/2014/main" id="{41D72B1E-10B0-FA06-B273-5CAEC20D7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2" y="1364079"/>
                <a:ext cx="4531919" cy="2450543"/>
              </a:xfrm>
              <a:prstGeom prst="rect">
                <a:avLst/>
              </a:prstGeom>
              <a:blipFill>
                <a:blip r:embed="rId3"/>
                <a:stretch>
                  <a:fillRect l="-3352" b="-5155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7">
                <a:extLst>
                  <a:ext uri="{FF2B5EF4-FFF2-40B4-BE49-F238E27FC236}">
                    <a16:creationId xmlns:a16="http://schemas.microsoft.com/office/drawing/2014/main" id="{DFAB3494-F38B-E8BD-C5DC-70DF2771E0A7}"/>
                  </a:ext>
                </a:extLst>
              </p:cNvPr>
              <p:cNvSpPr/>
              <p:nvPr/>
            </p:nvSpPr>
            <p:spPr>
              <a:xfrm>
                <a:off x="765012" y="4031614"/>
                <a:ext cx="4531919" cy="16187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prediction</a:t>
                </a:r>
                <a:r>
                  <a:rPr lang="en-BE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Same questions and a same choice list format, but switching the position of two boxes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→</m:t>
                    </m:r>
                  </m:oMath>
                </a14:m>
                <a:r>
                  <a:rPr lang="en-US" altLang="zh-CN" b="0" dirty="0">
                    <a:latin typeface="Palatino Linotype" panose="02040502050505030304" pitchFamily="18" charset="0"/>
                    <a:ea typeface="Palatino" pitchFamily="2" charset="77"/>
                  </a:rPr>
                  <a:t> Reversed choice pattern.</a:t>
                </a:r>
              </a:p>
            </p:txBody>
          </p:sp>
        </mc:Choice>
        <mc:Fallback xmlns="">
          <p:sp>
            <p:nvSpPr>
              <p:cNvPr id="6" name="Text 7">
                <a:extLst>
                  <a:ext uri="{FF2B5EF4-FFF2-40B4-BE49-F238E27FC236}">
                    <a16:creationId xmlns:a16="http://schemas.microsoft.com/office/drawing/2014/main" id="{DFAB3494-F38B-E8BD-C5DC-70DF2771E0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2" y="4031614"/>
                <a:ext cx="4531919" cy="1618713"/>
              </a:xfrm>
              <a:prstGeom prst="rect">
                <a:avLst/>
              </a:prstGeom>
              <a:blipFill>
                <a:blip r:embed="rId4"/>
                <a:stretch>
                  <a:fillRect l="-3352" r="-1955" b="-9375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28C776C-F1CC-619B-2318-8F53C005A33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37200" y="1747617"/>
            <a:ext cx="5997600" cy="33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24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3846F-1E28-100A-0612-906D806B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A593241-2F57-1ED5-EA9F-3E1BD48C2798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Ambiguity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4254863-646A-4863-083F-418564A6D5DB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7">
                <a:extLst>
                  <a:ext uri="{FF2B5EF4-FFF2-40B4-BE49-F238E27FC236}">
                    <a16:creationId xmlns:a16="http://schemas.microsoft.com/office/drawing/2014/main" id="{77D8560F-8852-B908-D1B3-891DB8EABAEA}"/>
                  </a:ext>
                </a:extLst>
              </p:cNvPr>
              <p:cNvSpPr/>
              <p:nvPr/>
            </p:nvSpPr>
            <p:spPr>
              <a:xfrm>
                <a:off x="765012" y="1364079"/>
                <a:ext cx="4531919" cy="24505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novelty</a:t>
                </a:r>
                <a:r>
                  <a:rPr lang="en-BE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stimuli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of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this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study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a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10</m:t>
                    </m:r>
                    <m:r>
                      <a:rPr lang="zh-CN" altLang="en-US" i="1" dirty="0" smtClean="0">
                        <a:latin typeface="Latin Modern Math" panose="02000503000000000000" pitchFamily="2" charset="77"/>
                        <a:ea typeface="Palatino" pitchFamily="2" charset="77"/>
                      </a:rPr>
                      <m:t>∗</m:t>
                    </m:r>
                    <m:r>
                      <a:rPr lang="en-US" altLang="zh-CN" i="1" dirty="0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10</m:t>
                    </m:r>
                  </m:oMath>
                </a14:m>
                <a:r>
                  <a:rPr lang="zh-CN" altLang="en-US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matrix.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ea typeface="Palatino" pitchFamily="2" charset="77"/>
                  </a:rPr>
                  <a:t>This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symmetry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allows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us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to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convert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matching-probability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lists (columns)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to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matching-event</a:t>
                </a:r>
                <a:r>
                  <a:rPr lang="zh-CN" altLang="en-US" dirty="0"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lists (rows).</a:t>
                </a:r>
                <a:endParaRPr lang="en-BE" dirty="0">
                  <a:latin typeface="Palatino Linotype" panose="02040502050505030304" pitchFamily="18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5" name="Text 7">
                <a:extLst>
                  <a:ext uri="{FF2B5EF4-FFF2-40B4-BE49-F238E27FC236}">
                    <a16:creationId xmlns:a16="http://schemas.microsoft.com/office/drawing/2014/main" id="{77D8560F-8852-B908-D1B3-891DB8EAB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2" y="1364079"/>
                <a:ext cx="4531919" cy="2450543"/>
              </a:xfrm>
              <a:prstGeom prst="rect">
                <a:avLst/>
              </a:prstGeom>
              <a:blipFill>
                <a:blip r:embed="rId3"/>
                <a:stretch>
                  <a:fillRect l="-3352" b="-5155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7">
                <a:extLst>
                  <a:ext uri="{FF2B5EF4-FFF2-40B4-BE49-F238E27FC236}">
                    <a16:creationId xmlns:a16="http://schemas.microsoft.com/office/drawing/2014/main" id="{F520D3EB-FAE1-0EF7-C5C8-04DD7B12385A}"/>
                  </a:ext>
                </a:extLst>
              </p:cNvPr>
              <p:cNvSpPr/>
              <p:nvPr/>
            </p:nvSpPr>
            <p:spPr>
              <a:xfrm>
                <a:off x="765012" y="4020586"/>
                <a:ext cx="4531919" cy="164077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The</a:t>
                </a:r>
                <a:r>
                  <a:rPr lang="zh-CN" altLang="en-US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 </a:t>
                </a:r>
                <a:r>
                  <a:rPr lang="en-US" altLang="zh-CN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prediction</a:t>
                </a:r>
                <a:r>
                  <a:rPr lang="en-BE" b="1" dirty="0">
                    <a:solidFill>
                      <a:srgbClr val="742F42"/>
                    </a:solidFill>
                    <a:latin typeface="Palatino Linotype" panose="02040502050505030304" pitchFamily="18" charset="0"/>
                    <a:ea typeface="Palatino" pitchFamily="2" charset="77"/>
                  </a:rPr>
                  <a:t>:</a:t>
                </a:r>
                <a:endParaRPr lang="en-BE" b="1" dirty="0">
                  <a:latin typeface="Palatino Linotype" panose="02040502050505030304" pitchFamily="18" charset="0"/>
                  <a:ea typeface="Palatino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Palatino Linotype" panose="02040502050505030304" pitchFamily="18" charset="0"/>
                    <a:ea typeface="Palatino" pitchFamily="2" charset="77"/>
                  </a:rPr>
                  <a:t>Same questions and a same choice list format, but switching the position of two boxes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→</m:t>
                    </m:r>
                  </m:oMath>
                </a14:m>
                <a:r>
                  <a:rPr lang="en-US" altLang="zh-CN" b="0" dirty="0">
                    <a:latin typeface="Palatino Linotype" panose="02040502050505030304" pitchFamily="18" charset="0"/>
                    <a:ea typeface="Palatino" pitchFamily="2" charset="77"/>
                  </a:rPr>
                  <a:t> Reversed choice pattern.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742F4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endParaRPr lang="en-US" altLang="zh-CN" b="1" i="1" dirty="0">
                  <a:latin typeface="Palatino Linotype" panose="02040502050505030304" pitchFamily="18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6" name="Text 7">
                <a:extLst>
                  <a:ext uri="{FF2B5EF4-FFF2-40B4-BE49-F238E27FC236}">
                    <a16:creationId xmlns:a16="http://schemas.microsoft.com/office/drawing/2014/main" id="{F520D3EB-FAE1-0EF7-C5C8-04DD7B1238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12" y="4020586"/>
                <a:ext cx="4531919" cy="1640770"/>
              </a:xfrm>
              <a:prstGeom prst="rect">
                <a:avLst/>
              </a:prstGeom>
              <a:blipFill>
                <a:blip r:embed="rId4"/>
                <a:stretch>
                  <a:fillRect l="-3352" r="-1955" b="-8462"/>
                </a:stretch>
              </a:blipFill>
              <a:ln/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4447AC1-8835-5B8A-A5C2-28F9ADE620F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37200" y="1746000"/>
            <a:ext cx="5997600" cy="336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58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A2421-8338-AF2C-74F1-3DE88BE85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>
            <a:extLst>
              <a:ext uri="{FF2B5EF4-FFF2-40B4-BE49-F238E27FC236}">
                <a16:creationId xmlns:a16="http://schemas.microsoft.com/office/drawing/2014/main" id="{0BE27208-FD7B-C822-7916-EC9B40A63CF9}"/>
              </a:ext>
            </a:extLst>
          </p:cNvPr>
          <p:cNvSpPr/>
          <p:nvPr/>
        </p:nvSpPr>
        <p:spPr>
          <a:xfrm>
            <a:off x="627742" y="4543620"/>
            <a:ext cx="997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BE" sz="2000" dirty="0">
                <a:solidFill>
                  <a:srgbClr val="646469"/>
                </a:solidFill>
                <a:latin typeface="Palatino Linotype" panose="02040502050505030304" pitchFamily="18" charset="0"/>
              </a:rPr>
              <a:t>Solo work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A401EE4-122E-7164-1E31-29F5EF0DD536}"/>
              </a:ext>
            </a:extLst>
          </p:cNvPr>
          <p:cNvSpPr/>
          <p:nvPr/>
        </p:nvSpPr>
        <p:spPr>
          <a:xfrm>
            <a:off x="609600" y="1557630"/>
            <a:ext cx="1005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BE" sz="4300" dirty="0">
                <a:latin typeface="Palatino Linotype" panose="02040502050505030304" pitchFamily="18" charset="0"/>
              </a:rPr>
              <a:t>Chapter 4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Palatino Linotype" panose="02040502050505030304" pitchFamily="18" charset="0"/>
              </a:rPr>
              <a:t>Training intensity and ambiguity attitude elicitation: </a:t>
            </a:r>
            <a:r>
              <a:rPr lang="en-GB" sz="2800" dirty="0">
                <a:latin typeface="Palatino Linotype" panose="02040502050505030304" pitchFamily="18" charset="0"/>
              </a:rPr>
              <a:t>Evidence from a matching-probability task</a:t>
            </a:r>
            <a:endParaRPr lang="en-GB" sz="3000" dirty="0">
              <a:latin typeface="Palatino Linotype" panose="0204050205050503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4C85536-C039-6614-94BD-D79507EA2C9C}"/>
              </a:ext>
            </a:extLst>
          </p:cNvPr>
          <p:cNvSpPr/>
          <p:nvPr/>
        </p:nvSpPr>
        <p:spPr>
          <a:xfrm>
            <a:off x="609600" y="3441262"/>
            <a:ext cx="5400000" cy="45719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47764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D5776-B579-41A9-68D2-26A9DC85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8790FD88-16E5-20FB-6400-294F7F222380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Training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7D1F8E-F665-3ED0-C9BD-40D3F27DB1E1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E03AA-10F4-3A99-BE02-1F82B7FE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9" t="9561" r="3735" b="30177"/>
          <a:stretch>
            <a:fillRect/>
          </a:stretch>
        </p:blipFill>
        <p:spPr>
          <a:xfrm>
            <a:off x="330972" y="1576701"/>
            <a:ext cx="5062812" cy="1852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950173-D6CC-30F8-B06E-C20941F9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49" t="18046" r="3081" b="18151"/>
          <a:stretch>
            <a:fillRect/>
          </a:stretch>
        </p:blipFill>
        <p:spPr>
          <a:xfrm>
            <a:off x="330972" y="3625826"/>
            <a:ext cx="5062812" cy="19922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6D291-82CD-C336-CD6A-F71674EDF9F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6F1EB"/>
              </a:clrFrom>
              <a:clrTo>
                <a:srgbClr val="F6F1E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2344" y="1887147"/>
            <a:ext cx="6178684" cy="347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73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7804A-DA52-C013-DAD5-EA70FB82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A7AAAFF-E9BC-8C7C-4111-59B15A7570E0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Training</a:t>
            </a:r>
            <a:endParaRPr lang="en-US" sz="3500" dirty="0">
              <a:solidFill>
                <a:srgbClr val="303136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ED3F90-2DCE-9694-35D8-5959E337F1FD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C32100-8ABA-9399-AEB7-D808B0621F46}"/>
              </a:ext>
            </a:extLst>
          </p:cNvPr>
          <p:cNvGrpSpPr/>
          <p:nvPr/>
        </p:nvGrpSpPr>
        <p:grpSpPr>
          <a:xfrm>
            <a:off x="1885562" y="2047207"/>
            <a:ext cx="8420875" cy="2763585"/>
            <a:chOff x="1042172" y="1176371"/>
            <a:chExt cx="7709941" cy="2763585"/>
          </a:xfrm>
        </p:grpSpPr>
        <p:sp>
          <p:nvSpPr>
            <p:cNvPr id="5" name="Text 7">
              <a:extLst>
                <a:ext uri="{FF2B5EF4-FFF2-40B4-BE49-F238E27FC236}">
                  <a16:creationId xmlns:a16="http://schemas.microsoft.com/office/drawing/2014/main" id="{563CB7AB-998B-719E-C701-EBAAE62B5274}"/>
                </a:ext>
              </a:extLst>
            </p:cNvPr>
            <p:cNvSpPr/>
            <p:nvPr/>
          </p:nvSpPr>
          <p:spPr>
            <a:xfrm>
              <a:off x="1042172" y="1176371"/>
              <a:ext cx="7709941" cy="120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BE" b="1" dirty="0">
                  <a:solidFill>
                    <a:srgbClr val="742F42"/>
                  </a:solidFill>
                  <a:latin typeface="Palatino Linotype" panose="02040502050505030304" pitchFamily="18" charset="0"/>
                  <a:ea typeface="Palatino" pitchFamily="2" charset="77"/>
                </a:rPr>
                <a:t>Research Questions:</a:t>
              </a:r>
              <a:endParaRPr lang="en-BE" b="1" dirty="0">
                <a:latin typeface="Palatino Linotype" panose="02040502050505030304" pitchFamily="18" charset="0"/>
                <a:ea typeface="Palatino" pitchFamily="2" charset="7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If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DMs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are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trained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to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more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familiar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with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the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basic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choices,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does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the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choice-list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method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still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leads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to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different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responses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than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the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binary-choice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method?</a:t>
              </a:r>
              <a:endParaRPr lang="en-BE" dirty="0">
                <a:latin typeface="Palatino Linotype" panose="02040502050505030304" pitchFamily="18" charset="0"/>
                <a:ea typeface="Palatino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523CDC65-CA5D-2F6C-A30B-372F71B8475C}"/>
                </a:ext>
              </a:extLst>
            </p:cNvPr>
            <p:cNvSpPr/>
            <p:nvPr/>
          </p:nvSpPr>
          <p:spPr>
            <a:xfrm>
              <a:off x="1042173" y="2735908"/>
              <a:ext cx="7423166" cy="120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solidFill>
                    <a:srgbClr val="742F42"/>
                  </a:solidFill>
                  <a:latin typeface="Palatino Linotype" panose="02040502050505030304" pitchFamily="18" charset="0"/>
                  <a:ea typeface="Palatino" pitchFamily="2" charset="77"/>
                </a:rPr>
                <a:t>Experimental</a:t>
              </a:r>
              <a:r>
                <a:rPr lang="zh-CN" altLang="en-US" b="1" dirty="0">
                  <a:solidFill>
                    <a:srgbClr val="742F42"/>
                  </a:solidFill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b="1" dirty="0">
                  <a:solidFill>
                    <a:srgbClr val="742F42"/>
                  </a:solidFill>
                  <a:latin typeface="Palatino Linotype" panose="02040502050505030304" pitchFamily="18" charset="0"/>
                  <a:ea typeface="Palatino" pitchFamily="2" charset="77"/>
                </a:rPr>
                <a:t>treatment</a:t>
              </a:r>
              <a:r>
                <a:rPr lang="en-BE" b="1" dirty="0">
                  <a:solidFill>
                    <a:srgbClr val="742F42"/>
                  </a:solidFill>
                  <a:latin typeface="Palatino Linotype" panose="02040502050505030304" pitchFamily="18" charset="0"/>
                  <a:ea typeface="Palatino" pitchFamily="2" charset="77"/>
                </a:rPr>
                <a:t>:</a:t>
              </a:r>
              <a:endParaRPr lang="en-BE" b="1" dirty="0">
                <a:latin typeface="Palatino Linotype" panose="02040502050505030304" pitchFamily="18" charset="0"/>
                <a:ea typeface="Palatino" pitchFamily="2" charset="7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Sparse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training: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subjects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only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answer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5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binary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choices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before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the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MP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task</a:t>
              </a:r>
              <a:r>
                <a:rPr lang="en-BE" dirty="0">
                  <a:latin typeface="Palatino Linotype" panose="02040502050505030304" pitchFamily="18" charset="0"/>
                  <a:ea typeface="Palatino" pitchFamily="2" charset="77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Extensive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training: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subjects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answer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all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100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binary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choices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before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the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MP</a:t>
              </a:r>
              <a:r>
                <a:rPr lang="zh-CN" altLang="en-US" dirty="0">
                  <a:latin typeface="Palatino Linotype" panose="02040502050505030304" pitchFamily="18" charset="0"/>
                  <a:ea typeface="Palatino" pitchFamily="2" charset="77"/>
                </a:rPr>
                <a:t> </a:t>
              </a:r>
              <a:r>
                <a:rPr lang="en-US" altLang="zh-CN" dirty="0">
                  <a:latin typeface="Palatino Linotype" panose="02040502050505030304" pitchFamily="18" charset="0"/>
                  <a:ea typeface="Palatino" pitchFamily="2" charset="77"/>
                </a:rPr>
                <a:t>task</a:t>
              </a:r>
              <a:r>
                <a:rPr lang="en-BE" dirty="0">
                  <a:latin typeface="Palatino Linotype" panose="02040502050505030304" pitchFamily="18" charset="0"/>
                  <a:ea typeface="Palatino" pitchFamily="2" charset="7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4892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9D9CE-6D48-EE3B-45FA-DFA0DD92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>
            <a:extLst>
              <a:ext uri="{FF2B5EF4-FFF2-40B4-BE49-F238E27FC236}">
                <a16:creationId xmlns:a16="http://schemas.microsoft.com/office/drawing/2014/main" id="{7E904C46-CEE9-D93B-94BE-B8E07C7FCB21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1C5C759E-5EE2-0943-4532-C5077C49A02F}"/>
              </a:ext>
            </a:extLst>
          </p:cNvPr>
          <p:cNvSpPr/>
          <p:nvPr/>
        </p:nvSpPr>
        <p:spPr>
          <a:xfrm>
            <a:off x="1050858" y="1855814"/>
            <a:ext cx="4399256" cy="120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Finding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Training extensity does not affect DMs’ responses in the main MP task.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AA2E8165-0256-7249-7328-D5A8517EF726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Chapter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– </a:t>
            </a:r>
            <a:r>
              <a:rPr lang="en-US" altLang="zh-CN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Training</a:t>
            </a:r>
            <a:endParaRPr lang="en-US" sz="3500" dirty="0">
              <a:solidFill>
                <a:srgbClr val="30313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6EF6D-FD4A-56AC-92BF-C97B1C038EA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0400" y="1792800"/>
            <a:ext cx="5565600" cy="313065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D6D32240-DDD2-FDB5-76A9-DDCC229ED096}"/>
              </a:ext>
            </a:extLst>
          </p:cNvPr>
          <p:cNvSpPr/>
          <p:nvPr/>
        </p:nvSpPr>
        <p:spPr>
          <a:xfrm>
            <a:off x="1050858" y="3429000"/>
            <a:ext cx="4399256" cy="161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The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Implication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b="1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 cognitive friction arising from the choice-list elicitation mechanism is very persistent.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3947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BB906-7484-BF2B-5BB6-31BA4419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>
            <a:extLst>
              <a:ext uri="{FF2B5EF4-FFF2-40B4-BE49-F238E27FC236}">
                <a16:creationId xmlns:a16="http://schemas.microsoft.com/office/drawing/2014/main" id="{690975CF-5CFF-F051-5CCC-BEAABE12ADB1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5398E8D8-F98A-FE64-0E96-218BB15C8006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9F3DD1-68CA-3AD3-698D-346F102088C6}"/>
              </a:ext>
            </a:extLst>
          </p:cNvPr>
          <p:cNvSpPr/>
          <p:nvPr/>
        </p:nvSpPr>
        <p:spPr>
          <a:xfrm>
            <a:off x="549583" y="2844011"/>
            <a:ext cx="11146698" cy="24150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C1</a:t>
            </a:r>
            <a:r>
              <a:rPr lang="en-US" altLang="zh-CN" sz="2000" b="1" dirty="0">
                <a:latin typeface="Palatino Linotype" panose="02040502050505030304" pitchFamily="18" charset="0"/>
                <a:ea typeface="Palatino" pitchFamily="2" charset="77"/>
              </a:rPr>
              <a:t>: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 The estimated parameter of prospect theory is unstable and depends on how we measure.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C2: </a:t>
            </a:r>
            <a:r>
              <a:rPr lang="en-US" altLang="zh-CN" sz="2000" dirty="0">
                <a:latin typeface="Palatino Linotype" panose="02040502050505030304" pitchFamily="18" charset="0"/>
                <a:ea typeface="Palatino" pitchFamily="2" charset="77"/>
              </a:rPr>
              <a:t>The classic fourfold pattern only exists as the elicitation involves separate evaluation.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C3: </a:t>
            </a:r>
            <a:r>
              <a:rPr lang="en-US" altLang="zh-CN" sz="20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The elicitation impact also holds in the domain of ambiguity, and it dominates.</a:t>
            </a:r>
            <a:endParaRPr lang="en-US" altLang="zh-CN" sz="2000" b="1" dirty="0">
              <a:solidFill>
                <a:srgbClr val="303136"/>
              </a:solidFill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C4: </a:t>
            </a:r>
            <a:r>
              <a:rPr lang="en-US" altLang="zh-CN" sz="20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The elicitation impact remains, even after intensive training.</a:t>
            </a:r>
            <a:endParaRPr lang="en-US" altLang="zh-CN" sz="2000" b="1" dirty="0">
              <a:solidFill>
                <a:srgbClr val="303136"/>
              </a:solidFill>
              <a:latin typeface="Palatino Linotype" panose="02040502050505030304" pitchFamily="18" charset="0"/>
              <a:ea typeface="Palatino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AD27B-8B62-5092-06C8-2F4000790356}"/>
              </a:ext>
            </a:extLst>
          </p:cNvPr>
          <p:cNvSpPr txBox="1"/>
          <p:nvPr/>
        </p:nvSpPr>
        <p:spPr>
          <a:xfrm>
            <a:off x="472272" y="1380203"/>
            <a:ext cx="10691447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42F42"/>
                </a:solidFill>
                <a:latin typeface="Palatino" pitchFamily="2" charset="77"/>
                <a:ea typeface="Palatino" pitchFamily="2" charset="77"/>
              </a:rPr>
              <a:t>Key message</a:t>
            </a:r>
            <a:r>
              <a:rPr lang="en-US" sz="2200" dirty="0">
                <a:latin typeface="Palatino" pitchFamily="2" charset="77"/>
                <a:ea typeface="Palatino" pitchFamily="2" charset="77"/>
              </a:rPr>
              <a:t>: </a:t>
            </a:r>
            <a:r>
              <a:rPr lang="en-US" sz="2000" dirty="0">
                <a:latin typeface="Palatino" pitchFamily="2" charset="77"/>
                <a:ea typeface="Palatino" pitchFamily="2" charset="77"/>
              </a:rPr>
              <a:t>the cognitive noise model provides a cognitive foundation of individual decision-making. </a:t>
            </a:r>
            <a:endParaRPr lang="en-US" sz="22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5884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3C40E-1A0D-484D-598A-A6B925CB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>
            <a:extLst>
              <a:ext uri="{FF2B5EF4-FFF2-40B4-BE49-F238E27FC236}">
                <a16:creationId xmlns:a16="http://schemas.microsoft.com/office/drawing/2014/main" id="{CDAA06B1-247B-20B8-6D6E-4BAE804A6819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ECF37811-BB3B-A51F-CB67-68714E6B7DD4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Discussion</a:t>
            </a:r>
            <a:endParaRPr lang="en-US" sz="3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C053CA3-9C6A-23D7-FAE4-4A40903574FE}"/>
              </a:ext>
            </a:extLst>
          </p:cNvPr>
          <p:cNvSpPr/>
          <p:nvPr/>
        </p:nvSpPr>
        <p:spPr>
          <a:xfrm>
            <a:off x="549583" y="1909910"/>
            <a:ext cx="4962778" cy="3440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Daily experience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with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cognitive</a:t>
            </a:r>
            <a:r>
              <a:rPr lang="zh-CN" alt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noise.</a:t>
            </a:r>
            <a:endParaRPr lang="en-BE" b="1" dirty="0">
              <a:solidFill>
                <a:srgbClr val="742F42"/>
              </a:solidFill>
              <a:latin typeface="Palatino Linotype" panose="02040502050505030304" pitchFamily="18" charset="0"/>
              <a:ea typeface="Palatino" pitchFamily="2" charset="7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Its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consequences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are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prevalent.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Some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irrelevant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behavior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may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share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same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cognitive</a:t>
            </a:r>
            <a:r>
              <a:rPr lang="zh-CN" altLang="en-US" dirty="0">
                <a:latin typeface="Palatino Linotype" panose="02040502050505030304" pitchFamily="18" charset="0"/>
                <a:ea typeface="Palatino" pitchFamily="2" charset="77"/>
              </a:rPr>
              <a:t> </a:t>
            </a: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foundation.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Palatino Linotype" panose="02040502050505030304" pitchFamily="18" charset="0"/>
                <a:ea typeface="Palatino" pitchFamily="2" charset="77"/>
              </a:rPr>
              <a:t>Qiu, J., Wu, J., &amp; Zhong, S. (2026). Cognitive frictions in decisions under risk: Evidence from (almost) degenerate lottery evaluation.</a:t>
            </a:r>
            <a:endParaRPr lang="en-US" altLang="zh-CN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715A6-E635-43E1-1C54-DFF6157F4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7885"/>
          <a:stretch>
            <a:fillRect/>
          </a:stretch>
        </p:blipFill>
        <p:spPr>
          <a:xfrm>
            <a:off x="5634492" y="939754"/>
            <a:ext cx="6297867" cy="512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64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6C286-78E5-5DF2-C642-49470DC1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>
            <a:extLst>
              <a:ext uri="{FF2B5EF4-FFF2-40B4-BE49-F238E27FC236}">
                <a16:creationId xmlns:a16="http://schemas.microsoft.com/office/drawing/2014/main" id="{C3CA5706-9C1A-BC75-37D8-E0DCDEAE48DF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CF85C9E7-F96D-5DF7-F005-BF98CCB24617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Discussion</a:t>
            </a:r>
            <a:endParaRPr lang="en-US" sz="3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4DBAAA5-F890-8028-84AD-E621E1B6A93E}"/>
              </a:ext>
            </a:extLst>
          </p:cNvPr>
          <p:cNvSpPr/>
          <p:nvPr/>
        </p:nvSpPr>
        <p:spPr>
          <a:xfrm>
            <a:off x="1133221" y="1180637"/>
            <a:ext cx="10351643" cy="21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Does “preference” exist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Yes, but it would play the major role when the decision is at bigger stakes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e.g., when decide whether continue or not in the last round of Who Wants to Be A Millionaire.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ea typeface="Palatino" pitchFamily="2" charset="77"/>
              </a:rPr>
              <a:t>For risky decisions of small stakes (e.g., those in lab), cognitive noise plays a bigger role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71186D8A-7DED-ACC9-7969-46303EEB5202}"/>
              </a:ext>
            </a:extLst>
          </p:cNvPr>
          <p:cNvSpPr/>
          <p:nvPr/>
        </p:nvSpPr>
        <p:spPr>
          <a:xfrm>
            <a:off x="1133221" y="3374422"/>
            <a:ext cx="10351643" cy="2547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Does cognitive noise matter beyond lab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? Or, how to model cognitive noise in applied settings.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Though this literature currently focus on a lab setup, but some existing works</a:t>
            </a:r>
            <a:r>
              <a:rPr lang="en-BE" altLang="zh-CN" dirty="0">
                <a:latin typeface="Palatino Linotype" panose="02040502050505030304" pitchFamily="18" charset="0"/>
                <a:ea typeface="Palatino" pitchFamily="2" charset="77"/>
              </a:rPr>
              <a:t>:</a:t>
            </a:r>
            <a:endParaRPr lang="en-BE" dirty="0">
              <a:latin typeface="Palatino Linotype" panose="02040502050505030304" pitchFamily="18" charset="0"/>
              <a:ea typeface="Palatino" pitchFamily="2" charset="7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Palatino Linotype" panose="02040502050505030304" pitchFamily="18" charset="0"/>
                <a:ea typeface="Palatino" pitchFamily="2" charset="77"/>
              </a:rPr>
              <a:t>Azeredo da Silveira, R., Sung, Y., &amp; </a:t>
            </a:r>
            <a:r>
              <a:rPr lang="en-GB" sz="1600" b="1" dirty="0">
                <a:solidFill>
                  <a:srgbClr val="1F5C4B"/>
                </a:solidFill>
                <a:latin typeface="Palatino Linotype" panose="02040502050505030304" pitchFamily="18" charset="0"/>
                <a:ea typeface="Palatino" pitchFamily="2" charset="77"/>
              </a:rPr>
              <a:t>Woodford, M.</a:t>
            </a:r>
            <a:r>
              <a:rPr lang="en-GB" sz="1600" dirty="0">
                <a:latin typeface="Palatino Linotype" panose="02040502050505030304" pitchFamily="18" charset="0"/>
                <a:ea typeface="Palatino" pitchFamily="2" charset="77"/>
              </a:rPr>
              <a:t> (2024). Optimally imprecise memory and biased forecasts. </a:t>
            </a:r>
            <a:r>
              <a:rPr lang="en-GB" sz="1600" i="1" dirty="0">
                <a:latin typeface="Palatino Linotype" panose="02040502050505030304" pitchFamily="18" charset="0"/>
                <a:ea typeface="Palatino" pitchFamily="2" charset="77"/>
              </a:rPr>
              <a:t>American Economic Review</a:t>
            </a:r>
            <a:r>
              <a:rPr lang="en-GB" sz="1600" dirty="0">
                <a:latin typeface="Palatino Linotype" panose="02040502050505030304" pitchFamily="18" charset="0"/>
                <a:ea typeface="Palatino" pitchFamily="2" charset="77"/>
              </a:rPr>
              <a:t>, 114(10), 3075-3118.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Palatino Linotype" panose="02040502050505030304" pitchFamily="18" charset="0"/>
                <a:ea typeface="Palatino" pitchFamily="2" charset="77"/>
              </a:rPr>
              <a:t>Sung, Y. (2026). Macroeconomic expectations and cognitive noise. Conditionally accepted, American Economic Review.</a:t>
            </a:r>
            <a:endParaRPr lang="en-GB" dirty="0">
              <a:latin typeface="Palatino Linotype" panose="02040502050505030304" pitchFamily="18" charset="0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35497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CD187-3B24-8092-046D-85A24B44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DF5B94B8-1C5A-4F6C-6C98-BF33A4B00BB3}"/>
              </a:ext>
            </a:extLst>
          </p:cNvPr>
          <p:cNvSpPr txBox="1"/>
          <p:nvPr/>
        </p:nvSpPr>
        <p:spPr>
          <a:xfrm>
            <a:off x="1213049" y="1300485"/>
            <a:ext cx="9448855" cy="1123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BE" sz="18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For a comprehensive discussion: </a:t>
            </a:r>
            <a:r>
              <a:rPr lang="en-GB" sz="18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Oprea, R. and </a:t>
            </a:r>
            <a:r>
              <a:rPr lang="en-GB" sz="1800" b="1" dirty="0">
                <a:solidFill>
                  <a:srgbClr val="1F5C4B"/>
                </a:solidFill>
                <a:latin typeface="Palatino Linotype" panose="02040502050505030304" pitchFamily="18" charset="0"/>
                <a:ea typeface="Palatino" pitchFamily="2" charset="77"/>
              </a:rPr>
              <a:t>Woodford, M.</a:t>
            </a:r>
            <a:r>
              <a:rPr lang="en-GB" sz="18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 (2026) </a:t>
            </a:r>
            <a:r>
              <a:rPr lang="en-GB" sz="1800" dirty="0" err="1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Behavioral</a:t>
            </a:r>
            <a:r>
              <a:rPr lang="en-GB" sz="18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 Signatures of Cognitive Noise</a:t>
            </a:r>
            <a:r>
              <a:rPr lang="en-BE" sz="1800" dirty="0">
                <a:solidFill>
                  <a:srgbClr val="303136"/>
                </a:solidFill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4BFB7C-D535-DD03-98AB-2C914BCF4FC4}"/>
              </a:ext>
            </a:extLst>
          </p:cNvPr>
          <p:cNvSpPr/>
          <p:nvPr/>
        </p:nvSpPr>
        <p:spPr>
          <a:xfrm>
            <a:off x="330972" y="907750"/>
            <a:ext cx="2700000" cy="32004"/>
          </a:xfrm>
          <a:prstGeom prst="rect">
            <a:avLst/>
          </a:prstGeom>
          <a:solidFill>
            <a:srgbClr val="742F42"/>
          </a:solidFill>
          <a:ln w="12700">
            <a:solidFill>
              <a:srgbClr val="742F42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8E46EECC-2BBF-12EC-8FFA-B02A8D35BD06}"/>
              </a:ext>
            </a:extLst>
          </p:cNvPr>
          <p:cNvSpPr/>
          <p:nvPr/>
        </p:nvSpPr>
        <p:spPr>
          <a:xfrm>
            <a:off x="330972" y="282273"/>
            <a:ext cx="1060704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3500" dirty="0">
                <a:solidFill>
                  <a:srgbClr val="30313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Discussion</a:t>
            </a:r>
            <a:endParaRPr lang="en-US" sz="3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88DC92-AE4D-08C4-76A6-1F7052CF8669}"/>
              </a:ext>
            </a:extLst>
          </p:cNvPr>
          <p:cNvSpPr/>
          <p:nvPr/>
        </p:nvSpPr>
        <p:spPr>
          <a:xfrm>
            <a:off x="1300135" y="2784537"/>
            <a:ext cx="9925557" cy="269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My personal views on the cognitive noise (complexity)</a:t>
            </a:r>
            <a:r>
              <a:rPr lang="en-BE" b="1" dirty="0">
                <a:solidFill>
                  <a:srgbClr val="742F42"/>
                </a:solidFill>
                <a:latin typeface="Palatino Linotype" panose="02040502050505030304" pitchFamily="18" charset="0"/>
                <a:ea typeface="Palatino" pitchFamily="2" charset="77"/>
              </a:rPr>
              <a:t>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 cognitive friction from numerical information process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Palatino Linotype" panose="02040502050505030304" pitchFamily="18" charset="0"/>
                <a:ea typeface="Palatino" pitchFamily="2" charset="77"/>
              </a:rPr>
              <a:t>The cognitive friction from task mechanism</a:t>
            </a: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Two distinct sources, but may interact.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BE" dirty="0">
                <a:latin typeface="Palatino Linotype" panose="02040502050505030304" pitchFamily="18" charset="0"/>
                <a:ea typeface="Palatino" pitchFamily="2" charset="77"/>
              </a:rPr>
              <a:t>Some works not included in this thesis. My research agenda.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3AC7A1-54A1-0E0B-1B14-985D6D6FC9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8EC"/>
              </a:clrFrom>
              <a:clrTo>
                <a:srgbClr val="FCF8E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14074" y="2078728"/>
            <a:ext cx="1411618" cy="1411618"/>
          </a:xfrm>
          <a:prstGeom prst="rect">
            <a:avLst/>
          </a:prstGeom>
        </p:spPr>
      </p:pic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22DBEA01-5520-994D-EF64-5155204B18D9}"/>
              </a:ext>
            </a:extLst>
          </p:cNvPr>
          <p:cNvCxnSpPr>
            <a:cxnSpLocks/>
          </p:cNvCxnSpPr>
          <p:nvPr/>
        </p:nvCxnSpPr>
        <p:spPr>
          <a:xfrm>
            <a:off x="6988628" y="1857311"/>
            <a:ext cx="2815771" cy="834302"/>
          </a:xfrm>
          <a:prstGeom prst="curvedConnector3">
            <a:avLst>
              <a:gd name="adj1" fmla="val 50000"/>
            </a:avLst>
          </a:prstGeom>
          <a:ln w="19050">
            <a:solidFill>
              <a:srgbClr val="1F5C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463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alatino Linoty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1447</Words>
  <Application>Microsoft Macintosh PowerPoint</Application>
  <PresentationFormat>Widescreen</PresentationFormat>
  <Paragraphs>201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Cambria Math</vt:lpstr>
      <vt:lpstr>Latin Modern Math</vt:lpstr>
      <vt:lpstr>Palatino</vt:lpstr>
      <vt:lpstr>Palatino Linotype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 Academic Identity</dc:title>
  <dc:subject>JW Editorial Academic PowerPoint reference template</dc:subject>
  <dc:creator>Jilong Wu</dc:creator>
  <cp:lastModifiedBy>Jilong Wu</cp:lastModifiedBy>
  <cp:revision>206</cp:revision>
  <dcterms:created xsi:type="dcterms:W3CDTF">2026-10-15T09:38:57Z</dcterms:created>
  <dcterms:modified xsi:type="dcterms:W3CDTF">2026-10-27T21:34:04Z</dcterms:modified>
</cp:coreProperties>
</file>